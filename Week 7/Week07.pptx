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00" r:id="rId3"/>
    <p:sldId id="302" r:id="rId4"/>
    <p:sldId id="301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63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https://learn.microsoft.com/en-us/azure/devops/boards/queries/import-work-items-from-csv?view=azure-devops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8C0A3-43DB-4CD2-8C24-2AF18E3D50E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098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nit.org/" TargetMode="External"/><Relationship Id="rId2" Type="http://schemas.openxmlformats.org/officeDocument/2006/relationships/hyperlink" Target="https://learn.microsoft.com/en-us/visualstudio/debugg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xunit.net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7: Debugging and Testing Software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Master debugging techniques.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comprehensive testing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test-driven development.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B18BD-3576-D6AF-2750-68649571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Introduction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170CB-BCFA-C10F-77D6-450D285D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C3FF6-6806-BB86-19B5-8336A0272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77FA-615E-3BBA-12C3-9FF66B6F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3185E-C2B3-1FB5-4B2D-EF037F96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10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2322-EDC1-E4AD-5CA8-AB49F4EB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Debugging Techniques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AB2E-59A6-014D-A7F1-2BD7C3781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Software Testing is the process to identify the origin of errors.</a:t>
            </a:r>
          </a:p>
          <a:p>
            <a:r>
              <a:rPr lang="en-GB" dirty="0"/>
              <a:t>Advanced Debugging</a:t>
            </a:r>
          </a:p>
          <a:p>
            <a:pPr lvl="1"/>
            <a:r>
              <a:rPr lang="en-GB" dirty="0"/>
              <a:t>Memory Debugging</a:t>
            </a:r>
          </a:p>
          <a:p>
            <a:pPr lvl="2"/>
            <a:r>
              <a:rPr lang="en-GB" dirty="0"/>
              <a:t>Detect memory leaks and improper memory usage.</a:t>
            </a:r>
          </a:p>
          <a:p>
            <a:pPr lvl="2"/>
            <a:r>
              <a:rPr lang="en-GB" dirty="0"/>
              <a:t>Tools: Memory Usage tool in Visual Studio.</a:t>
            </a:r>
          </a:p>
          <a:p>
            <a:r>
              <a:rPr lang="en-GB" dirty="0"/>
              <a:t>Performance Profiling</a:t>
            </a:r>
          </a:p>
          <a:p>
            <a:pPr lvl="1"/>
            <a:r>
              <a:rPr lang="en-GB" dirty="0"/>
              <a:t>Analyse application performance.</a:t>
            </a:r>
          </a:p>
          <a:p>
            <a:pPr lvl="1"/>
            <a:r>
              <a:rPr lang="en-GB" dirty="0"/>
              <a:t>Tools: Performance Profiler in Visual Studio.</a:t>
            </a:r>
          </a:p>
          <a:p>
            <a:r>
              <a:rPr lang="en-GB" dirty="0"/>
              <a:t>Remote Debugging</a:t>
            </a:r>
          </a:p>
          <a:p>
            <a:pPr lvl="1"/>
            <a:r>
              <a:rPr lang="en-GB" dirty="0"/>
              <a:t>Debug applications running on a different machine.</a:t>
            </a:r>
          </a:p>
          <a:p>
            <a:pPr lvl="1"/>
            <a:r>
              <a:rPr lang="en-GB" dirty="0"/>
              <a:t>Set up Visual Studio Remote Debugger.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A00F-4BC4-BFB4-13BC-B2D18317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1E6DA-077A-DD26-7E60-844A35C3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EE494-7CEA-62F3-334B-36F92FA3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296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08F9-220D-369F-6B31-0FC1DE49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Testing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8712-2ECD-3B29-7DC2-B3EC9539D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Unit Testing</a:t>
            </a:r>
          </a:p>
          <a:p>
            <a:pPr lvl="1"/>
            <a:r>
              <a:rPr lang="en-US" dirty="0"/>
              <a:t>Test-Driven Development (TDD)</a:t>
            </a:r>
          </a:p>
          <a:p>
            <a:pPr lvl="2"/>
            <a:r>
              <a:rPr lang="en-US" dirty="0"/>
              <a:t>Write tests before writing the implementation.</a:t>
            </a:r>
          </a:p>
          <a:p>
            <a:pPr lvl="2"/>
            <a:r>
              <a:rPr lang="en-US" dirty="0"/>
              <a:t>Red-Green-Refactor cycle:</a:t>
            </a:r>
          </a:p>
          <a:p>
            <a:pPr lvl="3"/>
            <a:r>
              <a:rPr lang="en-US" dirty="0"/>
              <a:t>Write a failing test (Red).</a:t>
            </a:r>
          </a:p>
          <a:p>
            <a:pPr lvl="3"/>
            <a:r>
              <a:rPr lang="en-US" dirty="0"/>
              <a:t>Implement the code to pass the test (Green).</a:t>
            </a:r>
          </a:p>
          <a:p>
            <a:pPr lvl="3"/>
            <a:r>
              <a:rPr lang="en-US" dirty="0"/>
              <a:t>Refactor the code.</a:t>
            </a:r>
          </a:p>
          <a:p>
            <a:pPr lvl="1"/>
            <a:r>
              <a:rPr lang="en-US" dirty="0"/>
              <a:t>Mock Objects and Stubs</a:t>
            </a:r>
          </a:p>
          <a:p>
            <a:pPr lvl="2"/>
            <a:r>
              <a:rPr lang="en-US" dirty="0"/>
              <a:t>Simulate dependencies to isolate units of code.</a:t>
            </a:r>
          </a:p>
          <a:p>
            <a:pPr lvl="2"/>
            <a:r>
              <a:rPr lang="en-US" dirty="0"/>
              <a:t>Mocking frameworks: </a:t>
            </a:r>
            <a:r>
              <a:rPr lang="en-US" dirty="0" err="1"/>
              <a:t>Moq</a:t>
            </a:r>
            <a:r>
              <a:rPr lang="en-US" dirty="0"/>
              <a:t>, </a:t>
            </a:r>
            <a:r>
              <a:rPr lang="en-US" dirty="0" err="1"/>
              <a:t>NSubstitute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Code Coverage</a:t>
            </a:r>
          </a:p>
          <a:p>
            <a:pPr lvl="2"/>
            <a:r>
              <a:rPr lang="en-US" dirty="0"/>
              <a:t>Measure the percentage of code executed by tests.</a:t>
            </a:r>
          </a:p>
          <a:p>
            <a:pPr lvl="2"/>
            <a:r>
              <a:rPr lang="en-US" dirty="0"/>
              <a:t>Aim for high coverage but focus on meaningful tests.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71BD1-556A-83CB-5BE4-D7D146AF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22901-24F9-5CEA-3042-A0398D24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9202-C0C2-FDAD-8760-E67FF5AF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432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612BC-793B-B11B-3024-4BF8DB78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8A96-7AA3-F8C7-AF11-F516CBEC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Testing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F7DB-CF90-B6DE-60F2-C1092B624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Testing Tools</a:t>
            </a:r>
          </a:p>
          <a:p>
            <a:pPr lvl="1"/>
            <a:r>
              <a:rPr lang="en-GB" dirty="0" err="1"/>
              <a:t>NUnit</a:t>
            </a:r>
            <a:r>
              <a:rPr lang="en-GB" dirty="0"/>
              <a:t>: Popular testing framework for .NET.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 err="1"/>
              <a:t>MSTest</a:t>
            </a:r>
            <a:r>
              <a:rPr lang="en-GB" dirty="0"/>
              <a:t>: Microsoft's built-in testing framework.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 err="1"/>
              <a:t>xUnit</a:t>
            </a:r>
            <a:r>
              <a:rPr lang="en-GB" dirty="0"/>
              <a:t>: A flexible, extensible testing framework.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3D35F-B4E4-F401-31FB-4A2D7854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5F3EC-A102-F73F-4A39-1C1521A2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0928-3A5B-41D9-1351-C347C05C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209ABB-2661-E1AE-22C9-ADF7FC012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91" y="2685893"/>
            <a:ext cx="2819794" cy="1124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3308AE-ADC8-5FEB-2606-E53EEB8CA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591" y="4257675"/>
            <a:ext cx="3277057" cy="1181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CB4837-BB9D-EF3A-0235-2AB33D6F8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635" y="5033722"/>
            <a:ext cx="2724530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9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23BE-502E-C747-5C05-B07A2473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Integration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609E5-F008-D63E-8AE9-DB12F4E2D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End-to-End Testing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Validate the flow of an application from start to finish.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API Testing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Test APIs for correctness, performance, and security.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Tools: Postman, Swagger.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Automated Testing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tools to execute tests automatically.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Frameworks: Selenium, Playwright.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9A72A-151B-60F5-7DC1-C3969639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5A68-3D9E-8B51-C9C2-2BB370B45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021E2-5BB0-D834-D96E-14678E86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867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7A88-2432-FC0A-2EA0-02DEFB065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Test Software Before Release?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DE717-3591-D89C-4822-81EE37BA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Prevention of Costly Errors</a:t>
            </a:r>
            <a:endParaRPr lang="en-US" dirty="0"/>
          </a:p>
          <a:p>
            <a:pPr lvl="1"/>
            <a:r>
              <a:rPr lang="en-US" dirty="0"/>
              <a:t>Bugs found after release can be expensive to fix and may harm the </a:t>
            </a:r>
            <a:r>
              <a:rPr lang="en-US" dirty="0" err="1"/>
              <a:t>organisation's</a:t>
            </a:r>
            <a:r>
              <a:rPr lang="en-US" dirty="0"/>
              <a:t> reputation.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Improved Software Quality</a:t>
            </a:r>
            <a:endParaRPr lang="en-US" dirty="0"/>
          </a:p>
          <a:p>
            <a:pPr lvl="1"/>
            <a:r>
              <a:rPr lang="en-US" dirty="0"/>
              <a:t>Ensures functionality, performance, and security are up to standard.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Customer Satisfaction</a:t>
            </a:r>
            <a:endParaRPr lang="en-US" dirty="0"/>
          </a:p>
          <a:p>
            <a:pPr lvl="1"/>
            <a:r>
              <a:rPr lang="en-US" dirty="0"/>
              <a:t>A well-tested product provides a better user experience and reduces support requests.</a:t>
            </a:r>
          </a:p>
          <a:p>
            <a:endParaRPr lang="en-US" b="1" dirty="0"/>
          </a:p>
          <a:p>
            <a:r>
              <a:rPr lang="en-US" b="1" dirty="0"/>
              <a:t>Examples of Failed Releases Due to Lack of Testing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Knight Capital Group (2012)</a:t>
            </a:r>
            <a:endParaRPr lang="en-US" dirty="0"/>
          </a:p>
          <a:p>
            <a:pPr lvl="2"/>
            <a:r>
              <a:rPr lang="en-US" dirty="0"/>
              <a:t>A deployment error caused by untested code resulted in a $440 million loss within 45 minutes.</a:t>
            </a:r>
          </a:p>
          <a:p>
            <a:pPr lvl="2"/>
            <a:r>
              <a:rPr lang="en-US" dirty="0"/>
              <a:t>Highlights the critical need for rigorous testing, especially in financial software.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Windows 10 October Update (2018)</a:t>
            </a:r>
            <a:endParaRPr lang="en-US" dirty="0"/>
          </a:p>
          <a:p>
            <a:pPr lvl="2"/>
            <a:r>
              <a:rPr lang="en-US" dirty="0"/>
              <a:t>Released without sufficient testing, leading to data loss for users.</a:t>
            </a:r>
          </a:p>
          <a:p>
            <a:pPr lvl="2"/>
            <a:r>
              <a:rPr lang="en-US" dirty="0"/>
              <a:t>Demonstrates the importance of thorough end-to-end testing before public release.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5A45A-FA01-3447-535A-C23318E1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C41B6-09F4-B922-CAAB-75A5ADDE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64B4F-D9A9-3B85-C36C-5C22BF487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981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74D-6357-7084-3616-D4853009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0D467-3938-ED80-0D3D-09F83990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Debugging Workflow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Set breakpoints in Visual Studio.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Run the application in Debug mode.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Use Watch Windows and Call Stack to diagnose issues.</a:t>
            </a:r>
          </a:p>
          <a:p>
            <a:endParaRPr lang="en-US" b="1" dirty="0"/>
          </a:p>
          <a:p>
            <a:r>
              <a:rPr lang="en-US" b="1" dirty="0"/>
              <a:t>Unit Testing Example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Create a new test project in Visual Studio.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Write a simple test case using </a:t>
            </a:r>
            <a:r>
              <a:rPr lang="en-US" dirty="0" err="1"/>
              <a:t>NUnit</a:t>
            </a:r>
            <a:r>
              <a:rPr lang="en-US" dirty="0"/>
              <a:t>, </a:t>
            </a:r>
            <a:r>
              <a:rPr lang="en-US" dirty="0" err="1"/>
              <a:t>MSTest</a:t>
            </a:r>
            <a:r>
              <a:rPr lang="en-US" dirty="0"/>
              <a:t>, or </a:t>
            </a:r>
            <a:r>
              <a:rPr lang="en-US" dirty="0" err="1"/>
              <a:t>xUnit</a:t>
            </a:r>
            <a:r>
              <a:rPr lang="en-US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Run tests and review results in the Test Explorer.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01E0B-DD40-2DBF-39A7-4CE6AFD6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DA7C0-01B9-5D5B-4B1A-A0DD0E0F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07A15-A93F-114C-085C-DE8DA0C8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5690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08C18-5CFF-E7C1-AF96-59522A7A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Debugging and Logging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61933E-7E7A-2BC3-5CBD-BC7BF8781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344317"/>
            <a:ext cx="8153399" cy="483264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10882-43F1-9F62-69C8-8C998A05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93E6-23C5-8079-CB76-F3D836F8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9D7F-7D23-3759-23D2-D8398ED1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92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BC70-99E5-4142-38CC-83C32994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Unit Testing with </a:t>
            </a:r>
            <a:r>
              <a:rPr lang="en-US" dirty="0" err="1"/>
              <a:t>MSTest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CFF391-3604-FD67-633E-2359D2551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215349" cy="448627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84E74-70C0-5D3A-FFD0-076C3F93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EEE95-0DBE-AA8F-AD29-B8DAFC41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38A96-71DE-FB65-7F33-7C040805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54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2679-0630-4511-E5AE-225A1C12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B4E2-E9B5-EEBD-E640-F07F4B78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Unit Testing with </a:t>
            </a:r>
            <a:r>
              <a:rPr lang="en-US" dirty="0" err="1"/>
              <a:t>MSTest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DB115-5A7A-2E17-C46F-BCCF6C06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E2510-71CC-AB32-7E65-D6CF177A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797B4-A1B1-D156-EB7F-C048E7A3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638A62-9E7F-2928-D446-6B5A07048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105841" cy="4529137"/>
          </a:xfrm>
        </p:spPr>
      </p:pic>
    </p:spTree>
    <p:extLst>
      <p:ext uri="{BB962C8B-B14F-4D97-AF65-F5344CB8AC3E}">
        <p14:creationId xmlns:p14="http://schemas.microsoft.com/office/powerpoint/2010/main" val="191990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D39F-44E8-B952-1BFD-1269878D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and Q&amp;A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8D62-6AB6-92D8-EDC1-9EB48146A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Debugging Techniques</a:t>
            </a:r>
            <a:r>
              <a:rPr lang="en-GB" dirty="0"/>
              <a:t>: Visual Studio Debugger, memory debugging, performance profiling, and remote debugging.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Testing Strategies</a:t>
            </a:r>
            <a:r>
              <a:rPr lang="en-GB" dirty="0"/>
              <a:t>: Unit testing, integration testing, TDD, and testing tools (</a:t>
            </a:r>
            <a:r>
              <a:rPr lang="en-GB" dirty="0" err="1"/>
              <a:t>NUnit</a:t>
            </a:r>
            <a:r>
              <a:rPr lang="en-GB" dirty="0"/>
              <a:t>, </a:t>
            </a:r>
            <a:r>
              <a:rPr lang="en-GB" dirty="0" err="1"/>
              <a:t>MSTest</a:t>
            </a:r>
            <a:r>
              <a:rPr lang="en-GB" dirty="0"/>
              <a:t>, </a:t>
            </a:r>
            <a:r>
              <a:rPr lang="en-GB" dirty="0" err="1"/>
              <a:t>xUnit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Practical Demonstrations</a:t>
            </a:r>
            <a:r>
              <a:rPr lang="en-GB" dirty="0"/>
              <a:t>: Debugging and writing tests.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8D336-CBB4-7C9A-F1BA-020D0EEE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CE450-CE94-F59D-52E7-74ED2DF34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B2C8-FB73-00CA-D890-445D142A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558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F9D7-4D1F-7344-C1CF-D8457FD2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Discussion Questions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F376-AF36-8328-14D9-281ACAADA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How can debugging improve code quality?</a:t>
            </a:r>
          </a:p>
          <a:p>
            <a:pPr>
              <a:buFont typeface="+mj-lt"/>
              <a:buAutoNum type="arabicPeriod"/>
            </a:pPr>
            <a:r>
              <a:rPr lang="en-US" dirty="0"/>
              <a:t>What are the advantages of test-driven development?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1FDC-96BF-6CD5-1F20-83C912AC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D0CD0-B945-83BE-B09C-E034DAE1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D3699-6F8B-445E-14F9-9F3F1686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362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CC6D-ABA6-8BE3-4B56-ADA9E85D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45E52-4B02-0816-D06E-3D4CE1BD8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Books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"The Art of Debugging" by Norm </a:t>
            </a:r>
            <a:r>
              <a:rPr lang="en-GB" dirty="0" err="1"/>
              <a:t>Matloff</a:t>
            </a:r>
            <a:r>
              <a:rPr lang="en-GB" dirty="0"/>
              <a:t> and Peter Jay Salzman.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"Clean Code" by Robert C. Martin (Chapters on testing).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Online Resources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>
                <a:hlinkClick r:id="rId2"/>
              </a:rPr>
              <a:t>Microsoft Docs: Debugging in Visual Studio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>
                <a:hlinkClick r:id="rId3"/>
              </a:rPr>
              <a:t>NUnit</a:t>
            </a:r>
            <a:r>
              <a:rPr lang="en-GB" dirty="0">
                <a:hlinkClick r:id="rId3"/>
              </a:rPr>
              <a:t> Documentation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>
                <a:hlinkClick r:id="rId4"/>
              </a:rPr>
              <a:t>xUnit</a:t>
            </a:r>
            <a:r>
              <a:rPr lang="en-GB" dirty="0">
                <a:hlinkClick r:id="rId4"/>
              </a:rPr>
              <a:t> Documentation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Tools and References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Visual Studio Debugging Tools.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Testing Frameworks: </a:t>
            </a:r>
            <a:r>
              <a:rPr lang="en-GB" dirty="0" err="1"/>
              <a:t>NUnit</a:t>
            </a:r>
            <a:r>
              <a:rPr lang="en-GB" dirty="0"/>
              <a:t>, </a:t>
            </a:r>
            <a:r>
              <a:rPr lang="en-GB" dirty="0" err="1"/>
              <a:t>MSTest</a:t>
            </a:r>
            <a:r>
              <a:rPr lang="en-GB" dirty="0"/>
              <a:t>, </a:t>
            </a:r>
            <a:r>
              <a:rPr lang="en-GB" dirty="0" err="1"/>
              <a:t>xUnit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Automated Testing Tools: Selenium, Playwright.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6D80F-8316-BBD6-B5A4-5D7AC978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FA1E-EFEB-3516-CACE-FAAC9A28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846E8-3D20-A16A-E60F-6836233F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7439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3C4E-C690-F609-2D71-6DBD59479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0613D-F3BC-CBAE-4980-9B191C60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8: Analysis of Algorithms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84F00-48CD-C7EB-6D7C-91AB745D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CE17F-8A51-FB54-FA54-7413064A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FDD19-1D6A-7589-C0E8-599020C27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314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799</Words>
  <Application>Microsoft Office PowerPoint</Application>
  <PresentationFormat>Widescreen</PresentationFormat>
  <Paragraphs>156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CST2550 - 2025 Software Engineering and Management</vt:lpstr>
      <vt:lpstr>Learning Objectives</vt:lpstr>
      <vt:lpstr>1. Introduction </vt:lpstr>
      <vt:lpstr>Debugging Techniques</vt:lpstr>
      <vt:lpstr>Testing Strategies</vt:lpstr>
      <vt:lpstr>Testing Strategies</vt:lpstr>
      <vt:lpstr>Integration Testing</vt:lpstr>
      <vt:lpstr>Why Test Software Before Release?</vt:lpstr>
      <vt:lpstr>Practical Examples</vt:lpstr>
      <vt:lpstr>Example 1: Debugging and Logging</vt:lpstr>
      <vt:lpstr>Example 2: Unit Testing with MSTest</vt:lpstr>
      <vt:lpstr>Example 2: Unit Testing with MSTest</vt:lpstr>
      <vt:lpstr>Summary and Q&amp;A</vt:lpstr>
      <vt:lpstr>Discussion Questions:</vt:lpstr>
      <vt:lpstr>Further Reading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103</cp:revision>
  <dcterms:created xsi:type="dcterms:W3CDTF">2025-01-02T01:36:07Z</dcterms:created>
  <dcterms:modified xsi:type="dcterms:W3CDTF">2025-03-06T03:41:09Z</dcterms:modified>
</cp:coreProperties>
</file>