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300" r:id="rId3"/>
    <p:sldId id="302" r:id="rId4"/>
    <p:sldId id="301" r:id="rId5"/>
    <p:sldId id="303" r:id="rId6"/>
    <p:sldId id="304" r:id="rId7"/>
    <p:sldId id="306" r:id="rId8"/>
    <p:sldId id="305" r:id="rId9"/>
    <p:sldId id="307" r:id="rId10"/>
    <p:sldId id="308" r:id="rId11"/>
    <p:sldId id="309" r:id="rId12"/>
    <p:sldId id="310" r:id="rId13"/>
    <p:sldId id="311" r:id="rId14"/>
    <p:sldId id="312" r:id="rId15"/>
    <p:sldId id="314" r:id="rId16"/>
    <p:sldId id="313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2" r:id="rId34"/>
    <p:sldId id="331" r:id="rId35"/>
    <p:sldId id="33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9: The Principles of Parallel Processing and Multi-Threading in C#</a:t>
            </a:r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Understand the fundamentals of parallel processing and multi-threading.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Learn how to create and manage threads in C#.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Explore task-based parallelism and the async/await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Implement thread safety in concurrent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Analyse the performance benefits and challenges of parallel processing.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3713F-C445-7A2F-FF8A-A199E2FF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 to Parallel Processing and Multi-Threading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33E92-4240-BDAA-9768-0C32BF904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35FA0-F70A-8F1B-6FED-755B9B46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E8A9D-EFEB-3983-4C31-82764E91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0CB2E-77ED-2603-CDF8-968D9E9D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096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24E7-11D3-90AF-E63C-34768438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Parallel Processing?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2F5CD-AC81-56A2-EA98-E7E920887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Executing multiple tasks simultaneously to improve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Utilises</a:t>
            </a:r>
            <a:r>
              <a:rPr lang="en-US" dirty="0"/>
              <a:t> multiple CPU cores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use cases: data processing, image rendering, scientific simulations.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A8ABC-23EC-2916-D4AF-C03EB557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DF4F6-3A44-14C2-4EDD-44BD929B7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77998-2E3F-C56D-36D9-5A227169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5945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09FA-0C89-8307-9DA1-3F2EC9DB0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Multi-Threading?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583BC-C2A2-5AA9-8EDD-8163F1511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technique where a single process is divided into multiple threads.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Threads run concurrently, sharing the same memory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A web browser loading multiple tabs simultaneously.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93A31-EC58-752C-6319-1F153996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961E3-A0F1-FD02-9DE9-5C1E18D4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5C6E8-25F5-F8E8-32C4-018C7328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842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4EB35-91E5-39D0-C838-65DCD024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Benefits &amp; Challenges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1A166-01FE-2A6E-713B-96D6E8839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Benefits</a:t>
            </a:r>
          </a:p>
          <a:p>
            <a:pPr lvl="1"/>
            <a:r>
              <a:rPr lang="en-US" dirty="0"/>
              <a:t>Faster execution of tasks.</a:t>
            </a:r>
          </a:p>
          <a:p>
            <a:pPr lvl="1"/>
            <a:r>
              <a:rPr lang="en-US" dirty="0"/>
              <a:t>Efficient </a:t>
            </a:r>
            <a:r>
              <a:rPr lang="en-US" dirty="0" err="1"/>
              <a:t>utilisation</a:t>
            </a:r>
            <a:r>
              <a:rPr lang="en-US" dirty="0"/>
              <a:t> of system resources.</a:t>
            </a:r>
          </a:p>
          <a:p>
            <a:pPr lvl="1"/>
            <a:r>
              <a:rPr lang="en-US" dirty="0"/>
              <a:t>Improved responsiveness in UI applications.</a:t>
            </a:r>
          </a:p>
          <a:p>
            <a:r>
              <a:rPr lang="en-US" b="1" dirty="0"/>
              <a:t>Challenges</a:t>
            </a:r>
          </a:p>
          <a:p>
            <a:pPr lvl="1"/>
            <a:r>
              <a:rPr lang="en-US" dirty="0"/>
              <a:t>Complexity in debugging and testing.</a:t>
            </a:r>
          </a:p>
          <a:p>
            <a:pPr lvl="1"/>
            <a:r>
              <a:rPr lang="en-US" dirty="0"/>
              <a:t>Potential for race conditions and deadlocks.</a:t>
            </a:r>
          </a:p>
          <a:p>
            <a:pPr lvl="1"/>
            <a:r>
              <a:rPr lang="en-US" dirty="0"/>
              <a:t>Increased memory overhead for managing threads.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2EDB2-73EF-89D8-9726-C08705DA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6AFA2-59EC-34C1-3B5F-6DEC5F97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84D96-FD1E-2972-9ACF-9A465B55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5632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2F531-5487-0949-765C-A7894A99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4E41-8EEF-8BAD-9764-9441286D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Understanding Threads in C#</a:t>
            </a:r>
            <a:br>
              <a:rPr lang="en-US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B2FB9-F8DE-188E-C802-149F0F25A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6DCAD-9B0F-C9FD-CE28-10C23D7F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5C995-E9A9-496F-B172-A14634E1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D0377-2C2F-B7FF-F15A-B3AF2A0E2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11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C33D-B1E3-C844-E683-789B2621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Creating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2D4E-D7BD-B42A-79A4-F02E34CC4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Threads are created using the “</a:t>
            </a:r>
            <a:r>
              <a:rPr lang="en-US" dirty="0" err="1"/>
              <a:t>System.Threading</a:t>
            </a:r>
            <a:r>
              <a:rPr lang="en-US" dirty="0"/>
              <a:t>” namespace.</a:t>
            </a:r>
          </a:p>
          <a:p>
            <a:r>
              <a:rPr lang="en-US" dirty="0"/>
              <a:t>The Thread class is used to create and start threads.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EEE88-8DCA-7F7F-1EB1-1F3F8418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ECC26-1604-30F7-26BD-4428CA5A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A1F06-9566-8F77-F5BF-1EC46F0B8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8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8395D3-C7CD-3B57-2734-B2AAB314D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2362051"/>
            <a:ext cx="4906060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51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B146-0BC4-7948-D98B-2671DC67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Managing Threads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FF25A-DAAE-2BDC-C0EB-746C1B33F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thread.Start</a:t>
            </a:r>
            <a:r>
              <a:rPr lang="en-US" dirty="0"/>
              <a:t>(): Starts the thread execution.</a:t>
            </a:r>
          </a:p>
          <a:p>
            <a:r>
              <a:rPr lang="en-US" dirty="0" err="1"/>
              <a:t>thread.Join</a:t>
            </a:r>
            <a:r>
              <a:rPr lang="en-US" dirty="0"/>
              <a:t>(): Waits for the thread to complete.</a:t>
            </a:r>
          </a:p>
          <a:p>
            <a:r>
              <a:rPr lang="en-US" dirty="0" err="1"/>
              <a:t>thread.IsAlive</a:t>
            </a:r>
            <a:r>
              <a:rPr lang="en-US" dirty="0"/>
              <a:t>: Checks if the thread is still running.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F4D43-F968-5CE9-75F1-B7B529E39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2E337-D2D6-B006-B5BB-D80560884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C9165-A9E5-8526-D59B-A3577A60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8091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5256-9EF0-6542-CA37-0B2614C6D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Thread Priority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B0F79-6020-1C86-A7D8-46FA529E9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 err="1">
                <a:solidFill>
                  <a:schemeClr val="accent4"/>
                </a:solidFill>
              </a:rPr>
              <a:t>thread.Priority</a:t>
            </a:r>
            <a:r>
              <a:rPr lang="en-GB" dirty="0">
                <a:solidFill>
                  <a:schemeClr val="accent4"/>
                </a:solidFill>
              </a:rPr>
              <a:t> = </a:t>
            </a:r>
            <a:r>
              <a:rPr lang="en-GB" dirty="0" err="1">
                <a:solidFill>
                  <a:schemeClr val="accent4"/>
                </a:solidFill>
              </a:rPr>
              <a:t>ThreadPriority.Highest</a:t>
            </a:r>
            <a:r>
              <a:rPr lang="en-GB" dirty="0"/>
              <a:t>;</a:t>
            </a:r>
          </a:p>
          <a:p>
            <a:endParaRPr lang="en-US" dirty="0"/>
          </a:p>
          <a:p>
            <a:r>
              <a:rPr lang="en-US" dirty="0"/>
              <a:t>Threads can be assigned priorities to control execution order.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FB153-F7D4-D3A0-B0A6-C8B3606BE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53AEA-300D-C58D-1F89-3F44B255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71777-A1A7-0837-B790-58189D4D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3779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E434B-E6F6-CAD4-E21A-68428D2B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41B4-FD70-57C4-FBB4-1551BD6B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Task-Based Parallelism</a:t>
            </a:r>
            <a:br>
              <a:rPr lang="en-US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4CA24-4819-310B-F3F5-43D9C35A4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8FB08-A3A6-F807-55DF-6179EA55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3369C-E2CE-CCAD-AA28-B01DE683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F2E10-49A1-B784-292A-C70FF3288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192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8A06-FE20-2D45-39F6-4C4261C9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Task-Based Parallelism?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CCF6-A12E-DAE9-65A2-D460A30A3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Higher-level abstraction over threads.</a:t>
            </a:r>
          </a:p>
          <a:p>
            <a:r>
              <a:rPr lang="en-US" dirty="0"/>
              <a:t>Provided by the Task class in “</a:t>
            </a:r>
            <a:r>
              <a:rPr lang="en-US" dirty="0" err="1"/>
              <a:t>System.Threading.Tasks</a:t>
            </a:r>
            <a:r>
              <a:rPr lang="en-US" dirty="0"/>
              <a:t>”.</a:t>
            </a:r>
          </a:p>
          <a:p>
            <a:r>
              <a:rPr lang="en-US" dirty="0"/>
              <a:t>Simplifies creation and management of parallel tasks.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4A236-EF35-1733-79ED-88489EBE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A8144-8A98-0817-0C62-5855AE98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F9352-BD84-6BBF-A971-02C297DE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4714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55C74-692E-2480-F03F-FD8F5D23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Creating and Running Tasks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7C25D-1B81-DC68-248D-EC8AFC5DC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  <a:p>
            <a:r>
              <a:rPr lang="en-US" dirty="0"/>
              <a:t>The “</a:t>
            </a:r>
            <a:r>
              <a:rPr lang="en-US" dirty="0" err="1"/>
              <a:t>Task.Run</a:t>
            </a:r>
            <a:r>
              <a:rPr lang="en-US" dirty="0"/>
              <a:t>” method is used to execute code asynchronously.</a:t>
            </a:r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CE0A0-350B-BA3A-A5E7-2DFC36E46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80045-3440-E94C-4B14-BD3A50B7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9A7C-807E-D482-9F23-897CB5B84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9DF42B-2160-D2D9-6A3D-A20033DB0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68" y="2166861"/>
            <a:ext cx="7440063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16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F51F3-B160-43E0-E530-55CF2B40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Chaining Tasks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C3CED-8FB9-063F-5CD9-AA967A513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Tasks can be chained together using “</a:t>
            </a:r>
            <a:r>
              <a:rPr lang="en-US" dirty="0" err="1"/>
              <a:t>ContinueWith</a:t>
            </a:r>
            <a:r>
              <a:rPr lang="en-US" dirty="0"/>
              <a:t>”.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64C06-09B5-A79F-D155-C3D190F52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CB59C-8729-3798-841C-4ECC701E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3D413-A33D-6B39-3515-EC754DA31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14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958ADF-A8EE-2F0C-F221-CBF3BF534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2161998"/>
            <a:ext cx="7382905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9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FDA3A-1D46-3B6F-ECF3-1E9D692E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926A-2349-70B4-82F0-6D7FD62D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Parallel.For</a:t>
            </a:r>
            <a:r>
              <a:rPr lang="en-US" dirty="0"/>
              <a:t> and </a:t>
            </a:r>
            <a:r>
              <a:rPr lang="en-US" dirty="0" err="1"/>
              <a:t>Parallel.ForEach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AFC6A-8D96-C51A-69C8-21F4AB405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86CDA-2E2F-B8A2-984A-E48C7919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85D0-7966-CD77-A8E6-BD15EBF0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054DA-CA32-21EF-3F39-D689B3D6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004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7927-0A95-D2BC-C3CD-68C36AFE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Using </a:t>
            </a:r>
            <a:r>
              <a:rPr lang="en-GB" b="1" dirty="0" err="1"/>
              <a:t>Parallel.For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579E-C11C-C1DD-60FE-146340AEE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Iterates over a range of values in parallel.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1204A-BB1E-EB47-1329-55AF9669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4AB23-F6BD-8949-652B-2041351B7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31456-5EA7-1E62-9DDF-097E074C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16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6F6240-D82A-AA62-1D68-DA9DEB536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1990661"/>
            <a:ext cx="751627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11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46D1-DC9A-8526-4324-15A98E68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Using </a:t>
            </a:r>
            <a:r>
              <a:rPr lang="en-GB" b="1" dirty="0" err="1"/>
              <a:t>Parallel.ForEach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53077-BFFC-D349-4396-639D60BC4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Processes a collection of items in parallel.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3D193-66FA-2F0B-5E28-0EE52CBF3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8EC9B-D268-1E8C-C9F8-084CF6F5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18FC5-7E54-1267-DAEB-5F88B56A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17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9513D4-0058-0871-9ED4-55A60D9F6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205" y="1995409"/>
            <a:ext cx="744959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79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8DFC-20C0-C34D-013D-E3D8A7A79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Performance Considerations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7C5E0-3538-3B30-EABC-915B9E126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 suited for CPU-bound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using for I/O-bound operations to prevent blocking.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591D5-93C8-0B63-BAEC-54F90595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2C2DB-855A-6698-0012-66EED0415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76EAF-4FB2-C74C-3964-2FE502A72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322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EF72-DFC6-42A1-D743-3BA08D18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The Async/Await Model</a:t>
            </a:r>
            <a:br>
              <a:rPr lang="en-US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F0B4B-983B-7572-2098-69170B084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54A0C-F35E-A360-33BF-55D3EF82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1993-7B23-6BF0-F443-7F3A7FF4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91340-3F06-13C5-1B7C-7B9D803E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855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D6B71-E483-B63C-C037-96147174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Asynchronous Programming Basics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56C4-8FCB-17A6-4354-647A9E821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Non-blocking operations improve responsiveness.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I/O-bound operations like file reading or web requests.</a:t>
            </a:r>
          </a:p>
          <a:p>
            <a:pPr marL="0" indent="0">
              <a:buNone/>
            </a:pPr>
            <a:r>
              <a:rPr lang="en-GB" b="1" dirty="0"/>
              <a:t>Example of Async/Await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r>
              <a:rPr lang="en-US" dirty="0"/>
              <a:t>The async keyword marks a method as asynchronous.</a:t>
            </a:r>
          </a:p>
          <a:p>
            <a:r>
              <a:rPr lang="en-US" dirty="0"/>
              <a:t>The await keyword pauses execution until the task completes.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036A-BB4F-1893-737E-2593C35A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1072E-7952-7111-FB3F-2ECF248B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8F2BC-CDA4-49A6-0B36-51977692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20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B41EF4-CCA6-E474-D556-BB3472DC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53503"/>
            <a:ext cx="7421011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32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BD66-F3EF-1C90-C46E-FB6BFF15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sv-SE" b="1" dirty="0"/>
              <a:t>Error Handling in Async/Await</a:t>
            </a:r>
            <a:endParaRPr lang="en-GB" dirty="0"/>
          </a:p>
        </p:txBody>
      </p:sp>
      <p:pic>
        <p:nvPicPr>
          <p:cNvPr id="8" name="Content Placeholder 7" descr="A white background with red text&#10;&#10;Description automatically generated">
            <a:extLst>
              <a:ext uri="{FF2B5EF4-FFF2-40B4-BE49-F238E27FC236}">
                <a16:creationId xmlns:a16="http://schemas.microsoft.com/office/drawing/2014/main" id="{B2B3F185-C4A1-483F-19ED-7BB1095D1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41746"/>
            <a:ext cx="10515600" cy="1919096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6B0DB-182A-E46F-F714-C2CA3F2B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8CF9C-B700-72C3-6430-166D67BA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97356-7585-6F5C-5CA2-3303EABF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286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7D05-AB9A-0F0C-6BB6-BBB13A367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Thread Safety and </a:t>
            </a:r>
            <a:r>
              <a:rPr lang="en-US" dirty="0" err="1"/>
              <a:t>Synchronisation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F0A8D-C13B-192C-1CC0-B38D6D2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D0893-DA18-ED0C-9CDD-06E4B664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C3C27-30F9-4F43-89D4-293B04A5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4EA73-19D9-6301-79F2-76234942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362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2597-7FA0-21E7-A641-7565F6D3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Thread Safety?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18627-0429-758F-05AA-07C9BA1AE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Ensuring that shared resources are accessed correctly in multi-threaded environments.</a:t>
            </a:r>
          </a:p>
          <a:p>
            <a:r>
              <a:rPr lang="en-GB" b="1" dirty="0"/>
              <a:t>Using Locks</a:t>
            </a:r>
          </a:p>
          <a:p>
            <a:endParaRPr lang="en-GB" b="1" dirty="0"/>
          </a:p>
          <a:p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r>
              <a:rPr lang="en-US" dirty="0"/>
              <a:t>Prevents multiple threads from entering a critical section simultaneously.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2BD6F-1182-9C9C-1816-E551241D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B5B3-D70D-0169-D0B4-F00DC7FF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87099-EA7B-003C-456B-97FF0A61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23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36B03C-C838-34E0-3A92-82C9489A5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68" y="3429000"/>
            <a:ext cx="7440063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75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A5D4E-030B-535F-48BA-B303B507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7F61-A684-6D0F-EA41-F3ABDCA8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Thread Safety?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97152-CDDC-3E44-D411-6F766BAD6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Using Monitor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US" b="1" dirty="0"/>
              <a:t>Avoiding Deadlocks</a:t>
            </a:r>
          </a:p>
          <a:p>
            <a:pPr lvl="1"/>
            <a:r>
              <a:rPr lang="en-US" dirty="0"/>
              <a:t>Acquire locks in a consistent order.</a:t>
            </a:r>
          </a:p>
          <a:p>
            <a:pPr lvl="1"/>
            <a:r>
              <a:rPr lang="en-US" dirty="0"/>
              <a:t>Use timeout-based locking mechanisms.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C3CA-1E19-50BA-EBC3-8B1E0B549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DACC3-1109-03DE-6176-E0C676992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CF6CF-4CD7-3117-6651-CF0D53D9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24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03D1FB-EE03-CD4A-9417-1FE3455F6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2624025"/>
            <a:ext cx="7506748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93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1220B-6A64-BEFC-9C13-C2A1E6E5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99C1-6750-8052-D61B-149C5C76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Advanced Techniques</a:t>
            </a:r>
            <a:br>
              <a:rPr lang="en-US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9F33F-16CE-ECAC-9C74-84100B392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B0F37-FC50-C9AE-789D-F192D28A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58701-A0EA-CBFA-1BF2-D403E02ED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73F64-EBC2-5FC4-B5E9-21D1C8B7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819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1A76-CD27-829A-8105-97D1C980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Thread Pooling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53270-7E02-08D4-3F23-6866807A7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Reuses existing threads to reduce overhead.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Managed automatically by the CLR.</a:t>
            </a:r>
          </a:p>
          <a:p>
            <a:r>
              <a:rPr lang="en-GB" b="1" dirty="0"/>
              <a:t>Example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PLINQ (Parallel LINQ): </a:t>
            </a:r>
            <a:r>
              <a:rPr lang="en-GB" dirty="0"/>
              <a:t>Executes LINQ queries in parallel.</a:t>
            </a:r>
          </a:p>
          <a:p>
            <a:endParaRPr lang="en-GB" b="1" dirty="0"/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A365C-E5E0-3E25-2186-40CACB73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D3526-347E-0AF5-ACDA-1197C5FE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D6330-4608-6B4D-9E6D-DDA73DB6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26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B771E8-EF97-B48D-C650-B5180527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19" y="3252721"/>
            <a:ext cx="7421011" cy="943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D6BD6D-5C6B-83AC-E9BF-1A1A1665A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819" y="4871859"/>
            <a:ext cx="7325747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33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75A33-0C25-E689-4381-CFC2CD76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FE6A-88FF-9D2B-E3B5-0A9796BB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Practical Examples</a:t>
            </a:r>
            <a:br>
              <a:rPr lang="en-US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806F2-06BE-A8BC-7475-4BB706A05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9AB9F-0EC5-4CBB-9BC2-246A3575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83866-A825-7894-3287-EC1A00230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117DC-E64B-3BBD-D7E5-21B9264F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673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1725E-8C3E-08D7-5A90-19A50B89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Example 1: Parallel File Processing</a:t>
            </a:r>
            <a:endParaRPr lang="en-GB" dirty="0"/>
          </a:p>
        </p:txBody>
      </p:sp>
      <p:pic>
        <p:nvPicPr>
          <p:cNvPr id="8" name="Content Placeholder 7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4FC571F0-E988-2DAD-4130-847F5571B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02312"/>
            <a:ext cx="10515600" cy="1997963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4CEF0-F8D0-D6A9-895B-8B453BC7E0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8519-4779-7655-E5F9-970257A1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B90A8-C400-3DF8-84E3-0F7A1716D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789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5364-9B1F-F97E-F9C2-DC3AB586F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Example 2: Multithreaded Matrix Multiplication</a:t>
            </a:r>
            <a:endParaRPr lang="en-GB" dirty="0"/>
          </a:p>
        </p:txBody>
      </p:sp>
      <p:pic>
        <p:nvPicPr>
          <p:cNvPr id="8" name="Content Placeholder 7" descr="A white screen with text&#10;&#10;Description automatically generated with medium confidence">
            <a:extLst>
              <a:ext uri="{FF2B5EF4-FFF2-40B4-BE49-F238E27FC236}">
                <a16:creationId xmlns:a16="http://schemas.microsoft.com/office/drawing/2014/main" id="{7DB8B4A5-A6F3-E3CA-2F93-2487C9765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07977"/>
            <a:ext cx="10515600" cy="2786634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6125B-1819-C75C-99AA-CAF696BF32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8666B-AEC3-187A-4B51-C45D7C30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33354-D6B3-006C-366D-F883D411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523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ECD95-471E-5DC6-DB5C-566586D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A2480-83A2-E115-6B74-C4EBB9BB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Common Pitfalls</a:t>
            </a:r>
            <a:br>
              <a:rPr lang="en-US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760B0-5DD6-59A1-866C-C55F11DA7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ACEAA-37BB-8A27-3F6F-507579A43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BCBF3-2FFA-E775-AFE5-54190631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C2B96-2C0B-E2D4-6A60-6EC5E102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124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EB6E7-BF86-FB1D-AE55-0525C352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Common Pitfalls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2C69D-28A8-DA62-494C-A69EA4303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Race Conditions</a:t>
            </a:r>
          </a:p>
          <a:p>
            <a:pPr lvl="1"/>
            <a:r>
              <a:rPr lang="en-US" dirty="0"/>
              <a:t>Occur when multiple threads access shared data simultaneously.</a:t>
            </a:r>
          </a:p>
          <a:p>
            <a:pPr lvl="1"/>
            <a:r>
              <a:rPr lang="en-US" dirty="0"/>
              <a:t>Solution: Use locks or other </a:t>
            </a:r>
            <a:r>
              <a:rPr lang="en-US" dirty="0" err="1"/>
              <a:t>synchronisation</a:t>
            </a:r>
            <a:r>
              <a:rPr lang="en-US" dirty="0"/>
              <a:t> primitives.</a:t>
            </a:r>
          </a:p>
          <a:p>
            <a:r>
              <a:rPr lang="en-US" b="1" dirty="0"/>
              <a:t>Deadlocks</a:t>
            </a:r>
          </a:p>
          <a:p>
            <a:pPr lvl="1"/>
            <a:r>
              <a:rPr lang="en-US" dirty="0"/>
              <a:t>Occur when two or more threads wait indefinitely for resources held by each other.</a:t>
            </a:r>
          </a:p>
          <a:p>
            <a:pPr lvl="1"/>
            <a:r>
              <a:rPr lang="en-US" dirty="0"/>
              <a:t>Solution: Implement timeout mechanisms and consistent lock ordering.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00992-50A5-024E-CADD-E354088D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9341E-2160-0700-FDC4-F88784E9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5B07A-4A03-9F4A-550F-8DA2B897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6802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0F50-23EC-49CC-7C91-556277BCA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B0BD-66A6-E4C5-0A9D-742DA8F07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processing and multi-threading improve application performance.</a:t>
            </a:r>
          </a:p>
          <a:p>
            <a:r>
              <a:rPr lang="en-US" dirty="0"/>
              <a:t>Proper </a:t>
            </a:r>
            <a:r>
              <a:rPr lang="en-US" dirty="0" err="1"/>
              <a:t>synchronisation</a:t>
            </a:r>
            <a:r>
              <a:rPr lang="en-US" dirty="0"/>
              <a:t> is critical for thread safety.</a:t>
            </a:r>
          </a:p>
          <a:p>
            <a:r>
              <a:rPr lang="en-US" dirty="0"/>
              <a:t>Tools like Task, Parallel, and async/await simplify development.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DCAB4-DC43-D0C6-BF1D-A6B80533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4C5DC-E22F-2DDD-3092-632177F7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EF13-6EC8-AEF8-59D4-A6F02279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76103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0978-0E18-A0C9-FD57-3343692C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Discussion Questions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ED02-2925-A5BB-3E3C-FE3727581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What are the primary challenges of using multi-threading in applications?</a:t>
            </a:r>
          </a:p>
          <a:p>
            <a:pPr>
              <a:buFont typeface="+mj-lt"/>
              <a:buAutoNum type="arabicPeriod"/>
            </a:pPr>
            <a:r>
              <a:rPr lang="en-US" dirty="0"/>
              <a:t>Can you think of a scenario where parallel processing might not be beneficial?</a:t>
            </a:r>
          </a:p>
          <a:p>
            <a:pPr>
              <a:buFont typeface="+mj-lt"/>
              <a:buAutoNum type="arabicPeriod"/>
            </a:pPr>
            <a:r>
              <a:rPr lang="en-US" dirty="0"/>
              <a:t>How can you ensure thread safety in large-scale applications?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25F22-4A19-DFA4-86DD-1ADD103A3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6077D-3E9B-8228-D527-1939DE6C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093E0-BFDA-27E1-3A15-7E83BAD8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87684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D22FB-89E5-AC0C-2A0F-3279D918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2BD76-E9C9-5E5E-28F4-703D9DCA6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b="1" dirty="0"/>
              <a:t>Books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"Concurrency in C# Cookbook" by Stephen Cleary.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"C# 8.0 in a Nutshell" by Joseph </a:t>
            </a:r>
            <a:r>
              <a:rPr lang="en-GB" dirty="0" err="1"/>
              <a:t>Albahari</a:t>
            </a:r>
            <a:r>
              <a:rPr lang="en-GB" dirty="0"/>
              <a:t> and Ben </a:t>
            </a:r>
            <a:r>
              <a:rPr lang="en-GB" dirty="0" err="1"/>
              <a:t>Albahari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Online Resources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Microsoft Documentation: </a:t>
            </a:r>
            <a:r>
              <a:rPr lang="en-GB" dirty="0">
                <a:hlinkClick r:id="rId2"/>
              </a:rPr>
              <a:t>https://learn.microsoft.com/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Pluralsight: Courses on Multi-Threading and Parallel Programming.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Tools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Visual Studio Profiler for performance analysis.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Debugging tools like IntelliTrace for thread inspection.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BC505-44EB-FADA-84A5-FDC63EE96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4493A-CEEA-14E2-38F8-F6D2FF93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BC185-2A13-0645-ADA6-823D9A3D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7128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62A6-15E6-5695-BD8F-9BFE4667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598E-5791-09A4-41E1-38E201513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 10: Software Design Patterns and Principles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7CED1-817B-94D7-121E-83F87F2CA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C07A4-461D-53E8-C9E3-8349B840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9E483-D136-6FA6-B68C-BC2EEC15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6245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1083</Words>
  <Application>Microsoft Office PowerPoint</Application>
  <PresentationFormat>Widescreen</PresentationFormat>
  <Paragraphs>252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CST2550 - 2025 Software Engineering and Management</vt:lpstr>
      <vt:lpstr>Learning Objectives</vt:lpstr>
      <vt:lpstr>1. Introduction to Parallel Processing and Multi-Threading</vt:lpstr>
      <vt:lpstr>What is Parallel Processing?</vt:lpstr>
      <vt:lpstr>What is Multi-Threading?</vt:lpstr>
      <vt:lpstr>Key Benefits &amp; Challenges</vt:lpstr>
      <vt:lpstr>2. Understanding Threads in C# </vt:lpstr>
      <vt:lpstr>Creating Threads</vt:lpstr>
      <vt:lpstr>Managing Threads</vt:lpstr>
      <vt:lpstr>Thread Priority</vt:lpstr>
      <vt:lpstr>3. Task-Based Parallelism </vt:lpstr>
      <vt:lpstr>What is Task-Based Parallelism?</vt:lpstr>
      <vt:lpstr>Creating and Running Tasks</vt:lpstr>
      <vt:lpstr>Chaining Tasks</vt:lpstr>
      <vt:lpstr>4. Parallel.For and Parallel.ForEach</vt:lpstr>
      <vt:lpstr>Using Parallel.For</vt:lpstr>
      <vt:lpstr>Using Parallel.ForEach</vt:lpstr>
      <vt:lpstr>Performance Considerations</vt:lpstr>
      <vt:lpstr>5. The Async/Await Model </vt:lpstr>
      <vt:lpstr>Asynchronous Programming Basics</vt:lpstr>
      <vt:lpstr>Error Handling in Async/Await</vt:lpstr>
      <vt:lpstr>6. Thread Safety and Synchronisation</vt:lpstr>
      <vt:lpstr>What is Thread Safety?</vt:lpstr>
      <vt:lpstr>What is Thread Safety?</vt:lpstr>
      <vt:lpstr>7. Advanced Techniques </vt:lpstr>
      <vt:lpstr>Thread Pooling</vt:lpstr>
      <vt:lpstr>8. Practical Examples </vt:lpstr>
      <vt:lpstr>Example 1: Parallel File Processing</vt:lpstr>
      <vt:lpstr>Example 2: Multithreaded Matrix Multiplication</vt:lpstr>
      <vt:lpstr>9. Common Pitfalls </vt:lpstr>
      <vt:lpstr>Common Pitfalls</vt:lpstr>
      <vt:lpstr>Summary</vt:lpstr>
      <vt:lpstr>Discussion Questions</vt:lpstr>
      <vt:lpstr>Further Reading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142</cp:revision>
  <dcterms:created xsi:type="dcterms:W3CDTF">2025-01-02T01:36:07Z</dcterms:created>
  <dcterms:modified xsi:type="dcterms:W3CDTF">2026-01-29T21:09:40Z</dcterms:modified>
</cp:coreProperties>
</file>