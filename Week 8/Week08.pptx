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300" r:id="rId3"/>
    <p:sldId id="302" r:id="rId4"/>
    <p:sldId id="301" r:id="rId5"/>
    <p:sldId id="303" r:id="rId6"/>
    <p:sldId id="304" r:id="rId7"/>
    <p:sldId id="316" r:id="rId8"/>
    <p:sldId id="317" r:id="rId9"/>
    <p:sldId id="318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312" r:id="rId18"/>
    <p:sldId id="313" r:id="rId19"/>
    <p:sldId id="314" r:id="rId20"/>
    <p:sldId id="31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70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DD672D-DBE8-4B12-854D-E44585C44C58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8C0A3-43DB-4CD2-8C24-2AF18E3D50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6788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2C234-AC4D-C9CC-038D-569BC78D5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A687B4-5A97-FB1D-F350-738C41B37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ECBF2-560F-30FA-E516-F6034D45A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B6FA9-FF2A-143D-4D5E-47F021649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FE763-201B-CAAB-2287-8784D52B5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D8ACCC-5094-92D8-C580-39979927B7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397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970CB-773F-5BD9-B294-B3367CF32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AB1E6-0FE9-7CBB-9653-8AA11B5FE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E7ADF-777E-ED70-B894-5BFFCDF1F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AA102-468D-99F3-432C-7FF4D09D0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850CA-29A7-9D14-CF58-86BCCF152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14962D-15E5-6E85-6A47-E5EEF3DAED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878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205B-78E3-2F23-6ABF-0CE19FD6F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DB0E3-4075-39E1-B77D-5D20D3AB9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98C77-AB8B-A963-A7AE-583338FBF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6826A-4BDD-12B6-0F52-C0154F58E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1FE20-2E2B-76C9-2F45-0E9DD468D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B01278-13EA-8AAA-272C-9FCB6489C4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3187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24AFA-E7B3-BE67-20D7-091049F2B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C2F08-E56A-04F6-2592-E40C13FA33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A1096-7883-5AB0-2F7F-9318698CA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09268-D370-C09A-E5DF-974A779B5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F168A-D81A-1CB3-3D95-F5C6111DC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00216-208F-FF71-7C2C-2E340EBAB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05CCFD-731C-3F6E-F198-0C5FD341B5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6051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8C7A3-498E-DB5E-4EAB-000AED1E5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0391A-078B-1620-D37C-28FE74805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8AF0FA-4D10-05D4-C0E6-607926B35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73CF3A-2BFD-BC0C-86D1-84661F8C2F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60641A-D012-3000-BFE8-B95434781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12F0AB-3542-BEF6-8F1B-C282EAF38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D31962-01BB-CECE-37BE-5CA011D58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4EC866-492E-17D1-D8C6-E4471352D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B27C04-FA99-5D8F-2D3A-800238BE01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0461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03B10-FCCE-7F09-0DDE-E4BE15EB9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5E9E38-CE69-883A-4AAD-EE9D2C8D1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10B7DB-46C5-6D80-9441-E64C26CF8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51640-9498-D0B6-107F-50799601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3A71F3-51E3-F25F-4B2C-18F306B2C8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1045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416F58-1C5B-5E1A-10A1-6CD518E62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CE5C74-C6B9-E79B-142E-047C8632F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6EA75-9B59-23CC-D253-E87C49033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4EBFFA-0061-AAEE-AECD-306E68697D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0686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38A0E-55A6-BD95-F29A-A32063139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AEBF9-0281-3DBC-0CA0-1D9908B96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07112A-8CD6-BD77-EADA-1FC41F1ED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AC69C-37AD-3FC9-BFBE-76D3EAE56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79E6C-108C-CC60-669E-39F435159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16298-B593-4215-4605-F9573D143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F3076E-1B17-8011-5098-FF7E36EA8F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3456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8F05-3D4A-26B8-ED38-A13C1EC10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4D0A45-5FC8-BEED-00C3-227B944245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3B9D69-4DB4-303B-D632-B66F59B72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DC2B9-9F1A-CD0E-4033-C3B2E1DB3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FC915-58EA-15A0-6521-B8E442477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71ECA-55CD-1BA9-06EC-66608E071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098DD0-62B4-686B-E5DF-862CD79318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5013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68E61-5DD2-7F9F-5270-527A15E75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6882DD-994A-B002-95BE-48FD4F986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E1E85-23A2-4E56-EF4A-4714D630C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366D2-10D0-6485-1338-02EEE961F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63ED1-3CFD-4726-C844-306C271D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8C0C5F-F389-A40E-53AD-B88ACB5CA8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0993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730358-9638-B963-E90C-157B59C6FB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F4221B-8C63-1713-45F5-127F10453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18343-E739-1068-3356-C92E1B8E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956E9-F1DE-C8F0-733D-E3F9D331F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92A18-BA3D-497B-8849-CC73CAD42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F495A2-758F-1E69-DF35-6BA46C05D3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0748645" y="5331460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3775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E306F9-55ED-09E0-26A8-0FFF51581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C74E9-62CB-A0DA-D68A-4C0CAABCC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A8E49-2440-3CEA-A11A-A9797A6D0D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104E2-47F2-B7E0-20EA-4B768F4A75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3F8BC-E920-FEDE-9ED4-F6F5E885F4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04D04F-5161-A3E8-A3D6-9B218BCC3481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890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.eissa@mdx.ac.u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fundamentals-of-algorithms/" TargetMode="External"/><Relationship Id="rId2" Type="http://schemas.openxmlformats.org/officeDocument/2006/relationships/hyperlink" Target="https://www.bigocheatsheet.com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FEA0B-AE48-8664-72F5-BCFB15A49A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CST2550 - 2025</a:t>
            </a:r>
            <a:br>
              <a:rPr lang="en-GB" dirty="0"/>
            </a:br>
            <a:r>
              <a:rPr lang="en-GB" dirty="0"/>
              <a:t>Software Engineering and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675EF1-AEF1-C497-0E1A-BA096886A7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endParaRPr lang="en-GB" sz="1800" b="1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US" sz="2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Week 8: Analysis of Algorithms</a:t>
            </a:r>
          </a:p>
          <a:p>
            <a:endParaRPr lang="de-DE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de-DE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Ahmed Eissa</a:t>
            </a:r>
          </a:p>
          <a:p>
            <a:r>
              <a:rPr lang="de-DE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2"/>
              </a:rPr>
              <a:t>a.eissa@mdx.ac.uk</a:t>
            </a:r>
            <a:endParaRPr lang="de-DE" sz="26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GB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89192-F369-9539-6F17-D4851E7B1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E469B5-9CC3-A1E5-D797-527239D28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B6599-D4BA-2C9D-50AA-542D7EEAE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468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66E1C-594C-7A5F-6A89-27CF95C38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A1AF0-0B58-FE56-083D-4D6F22950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 algorithmic complexity.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Analyse</a:t>
            </a:r>
            <a:r>
              <a:rPr lang="en-US" dirty="0"/>
              <a:t> and </a:t>
            </a:r>
            <a:r>
              <a:rPr lang="en-US" dirty="0" err="1"/>
              <a:t>optimise</a:t>
            </a:r>
            <a:r>
              <a:rPr lang="en-US" dirty="0"/>
              <a:t> algorithms.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efficient solutions.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2F5D0-D8AD-9757-362F-EC5C28036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643D5-7BF0-7B58-2B53-4A7CB59E6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B9D0E-20FE-6EB6-81F2-6020B932F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5439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A271A-4633-8B6D-7A1E-876A9B323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1. Algorithm Analysis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55AB4-14DA-53C2-3173-F87AA733CD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CE018-781C-AF86-99FB-D198730A1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15DA4-33BA-2D22-64D1-5C931B08B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71315-544C-F797-95DC-6D93B64E9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7943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61421-E296-29B6-5893-5E7043118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Time Complexity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977DA0-B007-7AED-4FB5-CE886825EF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buFont typeface="+mj-lt"/>
                  <a:buAutoNum type="arabicPeriod"/>
                </a:pPr>
                <a:r>
                  <a:rPr lang="en-US" dirty="0"/>
                  <a:t>Big O Notation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dirty="0"/>
                  <a:t>Describes the upper bound of an algorithm's growth rate.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dirty="0"/>
                  <a:t>Focuses on the worst-case scenario.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dirty="0"/>
                  <a:t>Examples:</a:t>
                </a:r>
              </a:p>
              <a:p>
                <a:pPr marL="1143000" lvl="2" indent="-228600">
                  <a:buFont typeface="+mj-lt"/>
                  <a:buAutoNum type="arabicPeriod"/>
                </a:pPr>
                <a:r>
                  <a:rPr lang="en-US" dirty="0"/>
                  <a:t>Constant time: O(1)</a:t>
                </a:r>
              </a:p>
              <a:p>
                <a:pPr marL="1143000" lvl="2" indent="-228600">
                  <a:buFont typeface="+mj-lt"/>
                  <a:buAutoNum type="arabicPeriod"/>
                </a:pPr>
                <a:r>
                  <a:rPr lang="en-US" dirty="0"/>
                  <a:t>Linear time: O(n)</a:t>
                </a:r>
              </a:p>
              <a:p>
                <a:pPr marL="1143000" lvl="2" indent="-228600">
                  <a:buFont typeface="+mj-lt"/>
                  <a:buAutoNum type="arabicPeriod"/>
                </a:pPr>
                <a:r>
                  <a:rPr lang="en-US" dirty="0"/>
                  <a:t>Quadratic time: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Best, Average, Worst Cases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dirty="0"/>
                  <a:t>Best Case: Minimum time required for an input.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dirty="0"/>
                  <a:t>Average Case: Expected time for a random input.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dirty="0"/>
                  <a:t>Worst Case: Maximum time for any input.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Space-Time Trade-offs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dirty="0"/>
                  <a:t>Balancing between memory usage and execution time.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dirty="0"/>
                  <a:t>Example: Caching intermediate results in recursion.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977DA0-B007-7AED-4FB5-CE886825EF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2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CD639-B8C5-D0D5-328D-3B39DACF7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2ADDF-451F-4F41-311C-B64D0D1F7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B14D9-2AEC-44B5-D205-948D00E21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3797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1B9F4-8F02-366C-71CB-2C8F609C1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Formula for </a:t>
            </a:r>
            <a:br>
              <a:rPr lang="en-US" dirty="0"/>
            </a:br>
            <a:r>
              <a:rPr lang="en-US" dirty="0"/>
              <a:t>Time Complexity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6C2D8-1769-F1F9-F48F-A26AA8BAA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E9515-B70E-CA18-FD15-7C1AD5389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6E640-D7D4-3AA8-0D4C-BC6BD85FF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5</a:t>
            </a:fld>
            <a:endParaRPr lang="en-GB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403DDAC-F297-18B2-23F5-3CC12BE5EB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77694"/>
            <a:ext cx="9734550" cy="3847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Simple Loops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Formula: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Nested Loops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Formula: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E999A8-7BD2-6881-DEA4-A23735FF4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410" y="2295775"/>
            <a:ext cx="2676899" cy="8478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10B18F-3102-1A9F-62E7-2649E0A06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148" y="4209542"/>
            <a:ext cx="2867425" cy="1238423"/>
          </a:xfrm>
          <a:prstGeom prst="rect">
            <a:avLst/>
          </a:prstGeom>
        </p:spPr>
      </p:pic>
      <p:sp>
        <p:nvSpPr>
          <p:cNvPr id="12" name="AutoShape 3" descr="equation">
            <a:extLst>
              <a:ext uri="{FF2B5EF4-FFF2-40B4-BE49-F238E27FC236}">
                <a16:creationId xmlns:a16="http://schemas.microsoft.com/office/drawing/2014/main" id="{88D09A22-19ED-D33B-D4F5-E711152528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29" name="Picture 5">
            <a:extLst>
              <a:ext uri="{FF2B5EF4-FFF2-40B4-BE49-F238E27FC236}">
                <a16:creationId xmlns:a16="http://schemas.microsoft.com/office/drawing/2014/main" id="{322F27AB-B373-7978-A925-02AE5D4D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725" y="5625421"/>
            <a:ext cx="1590675" cy="20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>
            <a:extLst>
              <a:ext uri="{FF2B5EF4-FFF2-40B4-BE49-F238E27FC236}">
                <a16:creationId xmlns:a16="http://schemas.microsoft.com/office/drawing/2014/main" id="{6948051E-F8F4-A997-FE1A-CF5050A00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725" y="3495604"/>
            <a:ext cx="1495425" cy="18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0488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DD1AE-7116-D61D-8297-2671F0137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56AF3-8E12-C297-0A45-DC3B75F3E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Formula for </a:t>
            </a:r>
            <a:br>
              <a:rPr lang="en-US" dirty="0"/>
            </a:br>
            <a:r>
              <a:rPr lang="en-US" dirty="0"/>
              <a:t>Time Complexity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7AB30-9E09-3174-AD8A-C9F40B2E5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48D71-940B-F0DA-2781-326C0EB58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E7168-1F49-F834-E784-09AE24B0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6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71BFB212-708F-EDF3-54A7-3B945FF26A8B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838200" y="2794588"/>
                <a:ext cx="9734550" cy="24134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Recursive Algorithms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:</a:t>
                </a:r>
                <a:endPara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en-US" altLang="en-US" sz="1000" dirty="0">
                  <a:latin typeface="Arial Unicode M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en-US" altLang="en-US" sz="1000" dirty="0">
                  <a:latin typeface="Arial Unicode M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en-US" altLang="en-US" sz="1000" dirty="0">
                  <a:latin typeface="Arial Unicode M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en-US" altLang="en-US" sz="1000" dirty="0">
                  <a:latin typeface="Arial Unicode M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Formula: </a:t>
                </a:r>
                <a:r>
                  <a:rPr lang="en-GB" sz="2000" dirty="0"/>
                  <a:t>T(n) = T(n − 1) + T(n − 2) ⟹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</m:oMath>
                </a14:m>
                <a:r>
                  <a:rPr lang="en-GB" sz="2000" dirty="0"/>
                  <a:t>)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71BFB212-708F-EDF3-54A7-3B945FF26A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838200" y="2794588"/>
                <a:ext cx="9734550" cy="2413418"/>
              </a:xfrm>
              <a:prstGeom prst="rect">
                <a:avLst/>
              </a:prstGeom>
              <a:blipFill>
                <a:blip r:embed="rId2"/>
                <a:stretch>
                  <a:fillRect l="-564" b="-277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35096747-F2F6-9C91-B963-CCC958E0B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5818" y="3461465"/>
            <a:ext cx="4220164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062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E5FBB-93B6-5F84-CE7D-ABAD9C51E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4B317-1C86-1D89-1757-0320D8DBA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For Loops</a:t>
            </a:r>
            <a:r>
              <a:rPr lang="en-US" dirty="0"/>
              <a:t>: A single loop iterating n times has a time complexity of O(n).</a:t>
            </a:r>
          </a:p>
          <a:p>
            <a:r>
              <a:rPr lang="en-US" dirty="0"/>
              <a:t>Example: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GB" dirty="0"/>
              <a:t>Formula:</a:t>
            </a:r>
          </a:p>
          <a:p>
            <a:pPr lvl="1"/>
            <a:r>
              <a:rPr lang="en-GB" dirty="0"/>
              <a:t>T(n) = Work per iteration × Number of iterations</a:t>
            </a:r>
            <a:br>
              <a:rPr lang="en-GB" dirty="0"/>
            </a:br>
            <a:r>
              <a:rPr lang="en-GB" dirty="0"/>
              <a:t>         = C ⋅ n  ⟹  O(n)</a:t>
            </a:r>
            <a:endParaRPr lang="en-US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D1597-A81B-BA49-354C-058678BA6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0C8AA-60A4-E9E2-8E88-1EA9851C6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63D71-DF92-0B27-0BB9-158333579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7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7CBFE5-6BA4-9261-CCC8-0A136F849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155" y="3384517"/>
            <a:ext cx="8248610" cy="1233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126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F4A0F-648A-1CF0-9FDF-A4C6E4009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3F0F25-544D-435E-3DA0-E084C54A57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Nested Loops</a:t>
                </a:r>
                <a:r>
                  <a:rPr lang="en-US" dirty="0"/>
                  <a:t>: If one loop is nested inside another, time complexity multiplies.</a:t>
                </a:r>
              </a:p>
              <a:p>
                <a:r>
                  <a:rPr lang="en-US" dirty="0"/>
                  <a:t>Example: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pt-BR" dirty="0"/>
                  <a:t>Formula:</a:t>
                </a:r>
              </a:p>
              <a:p>
                <a:pPr lvl="1"/>
                <a:r>
                  <a:rPr lang="pt-BR" dirty="0"/>
                  <a:t>T(n) = n ⋅ n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dirty="0"/>
                  <a:t>  ⟹  O(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dirty="0"/>
                  <a:t>)</a:t>
                </a:r>
                <a:endParaRPr lang="en-US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3F0F25-544D-435E-3DA0-E084C54A57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D2805-1BFE-4DF3-8B3C-D3BFC096E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4A747-B583-E7C3-CBD8-BAB645377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584FC-31D8-797D-A688-D42BE1770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8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5702C4-3EF3-AA02-6163-94D3E365F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9489" y="3195549"/>
            <a:ext cx="5163271" cy="12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668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C709D-3B74-E381-F829-AD71DACC2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207CD-7800-E35C-E8FC-100BC6B34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DE1950-EB3B-3933-FDCD-317D50B0AF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Recursive Algorithms</a:t>
                </a:r>
                <a:r>
                  <a:rPr lang="en-US" dirty="0"/>
                  <a:t>: Recursive functions can often be expressed using recurrence relations.</a:t>
                </a:r>
              </a:p>
              <a:p>
                <a:r>
                  <a:rPr lang="en-US" dirty="0"/>
                  <a:t>Example: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fr-FR" dirty="0" err="1"/>
                  <a:t>Recurrence</a:t>
                </a:r>
                <a:r>
                  <a:rPr lang="fr-FR" dirty="0"/>
                  <a:t> Relation:</a:t>
                </a:r>
              </a:p>
              <a:p>
                <a:pPr lvl="1"/>
                <a:r>
                  <a:rPr lang="fr-FR" dirty="0"/>
                  <a:t>T(n) = T(n − 1) + T(n − 2) + O(1)</a:t>
                </a:r>
              </a:p>
              <a:p>
                <a:r>
                  <a:rPr lang="fr-FR" dirty="0"/>
                  <a:t>Solution:</a:t>
                </a:r>
              </a:p>
              <a:p>
                <a:pPr lvl="1"/>
                <a:r>
                  <a:rPr lang="en-GB" dirty="0"/>
                  <a:t>T(n) ≈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dirty="0"/>
                  <a:t>)</a:t>
                </a:r>
                <a:endParaRPr lang="en-US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DE1950-EB3B-3933-FDCD-317D50B0AF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05F6D-BA75-BEF0-43E7-42ED7D8C1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D1E00-EC98-ED55-A647-70C064E4A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65BF9-E12A-1AB7-5195-4D88E54A2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9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FD03E9-F760-6A78-842D-259969B7E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751" y="3186033"/>
            <a:ext cx="6258798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96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1BEE0-C7B6-D109-0363-5B7AD1E1A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Practical Examples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167F9-1E48-B09E-534A-9FC32AE3B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Linear Search: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lvl="1"/>
            <a:r>
              <a:rPr lang="en-GB" dirty="0"/>
              <a:t>Best Case: </a:t>
            </a:r>
            <a:r>
              <a:rPr lang="en-US" dirty="0"/>
              <a:t>Key is found in the first position </a:t>
            </a:r>
            <a:r>
              <a:rPr lang="en-GB" dirty="0"/>
              <a:t>𝑂(1)</a:t>
            </a:r>
          </a:p>
          <a:p>
            <a:pPr lvl="1"/>
            <a:r>
              <a:rPr lang="en-GB" dirty="0"/>
              <a:t>Worst Case: Key is not present 𝑂(𝑛)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E3DAC-FE04-71C4-A831-E96404621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C5504-FC43-5A10-1309-723A592A6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49172-384F-D8EA-396E-EAECD3FF6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10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E4C222-A2E9-4D42-A61E-4C33B4872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555" y="2600220"/>
            <a:ext cx="6201640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091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448FD-8CE6-AFF0-8176-148A2CA99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Practical Examples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79D78-66E4-5707-FA13-23D84AF09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Binary Search:</a:t>
            </a:r>
          </a:p>
          <a:p>
            <a:pPr lvl="1"/>
            <a:r>
              <a:rPr lang="pt-BR" dirty="0"/>
              <a:t>Time Complexity: </a:t>
            </a:r>
            <a:r>
              <a:rPr lang="en-US" dirty="0"/>
              <a:t>Reduces the search space by half each time: </a:t>
            </a:r>
            <a:r>
              <a:rPr lang="pt-BR" dirty="0"/>
              <a:t>O(log⁡ n)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23E8B-6E54-1E7F-C6C5-974757855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35E35-61A5-5CA6-373D-3EBC70261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F9FAF-2C8F-8B5D-FBCC-E08010116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11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1BA768-FBA7-2533-9415-081B15C82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151" y="3048783"/>
            <a:ext cx="6258798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143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706C5-5044-7CEC-8D57-1745655AC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FCF10-276A-2222-CF5D-BE37A2FA7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Practical Examples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AE0254-906D-C400-2BC6-FB5DC606F7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Bubble Sort:</a:t>
                </a:r>
              </a:p>
              <a:p>
                <a:pPr lvl="1"/>
                <a:r>
                  <a:rPr lang="en-GB" dirty="0"/>
                  <a:t>Best Case: 𝑂(𝑛) (Already sorted with no swaps).</a:t>
                </a:r>
              </a:p>
              <a:p>
                <a:pPr lvl="1"/>
                <a:r>
                  <a:rPr lang="en-GB" dirty="0"/>
                  <a:t>Worst Case: 𝑂(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) (Reverse sorted).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AE0254-906D-C400-2BC6-FB5DC606F7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A1D78-577D-5305-E25C-8DEB1CAA5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DB048-1DE4-0919-655C-4BF0FB7E4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8AB50-C092-00AE-30AD-70DF22B53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12</a:t>
            </a:fld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BBF8A5-08BA-89CA-5ED1-DFB9B6485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890" y="3149716"/>
            <a:ext cx="6230219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729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96063-007E-CCDF-50E3-3E0445D6E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Space Complexity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54B14-AEFC-1B80-3B54-AE78C92AB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Definition: </a:t>
            </a:r>
          </a:p>
          <a:p>
            <a:pPr lvl="1"/>
            <a:r>
              <a:rPr lang="en-GB" dirty="0"/>
              <a:t>Measures the memory required by an algorithm, including input size, temporary variables, and recursion stack.</a:t>
            </a:r>
          </a:p>
          <a:p>
            <a:pPr lvl="1"/>
            <a:r>
              <a:rPr lang="en-GB" dirty="0"/>
              <a:t>Example: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Complexity: 𝑂(𝑛).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D4D2C-6723-5FA4-36D7-756E07506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2908B-B239-A07F-00E9-1B015DC9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04733-AB36-B64B-C2E2-337835A91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13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C1E4AB-38D1-5B8E-9123-4B63CE182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074" y="3671784"/>
            <a:ext cx="6277851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687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6A7F9-FEE7-71CD-B9CE-94AAFCCB1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Common Complexity Classes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9B4944-5E52-F9DC-6FEA-DA55228079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Constant Time 𝑂(1): Accessing an array element.</a:t>
                </a:r>
              </a:p>
              <a:p>
                <a:r>
                  <a:rPr lang="en-GB" dirty="0"/>
                  <a:t>Logarithmic Time 𝑂(log ⁡𝑛): Binary Search.</a:t>
                </a:r>
              </a:p>
              <a:p>
                <a:r>
                  <a:rPr lang="en-GB" dirty="0"/>
                  <a:t>Linear Time 𝑂(𝑛): Linear Search.</a:t>
                </a:r>
              </a:p>
              <a:p>
                <a:r>
                  <a:rPr lang="en-GB" dirty="0"/>
                  <a:t>Quadratic Time 𝑂(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): Bubble Sort.</a:t>
                </a:r>
              </a:p>
              <a:p>
                <a:r>
                  <a:rPr lang="en-GB" dirty="0"/>
                  <a:t>Exponential Time 𝑂(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dirty="0"/>
                  <a:t>): Recursive Fibonacci.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9B4944-5E52-F9DC-6FEA-DA55228079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513F3-5B22-AA27-5F86-E93C2C7F2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F1C05-0FDC-B27E-A297-01982E0FC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1FEE5-B938-26E6-0040-166627B87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5769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32DD9-3000-249D-5293-FC0B791C1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30277-F388-CCF3-F4EA-E83316BEF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2. Practical Examples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F83D4-BDED-12D2-AC58-8F034BE82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39511-93A3-3F8A-5BD1-F2987C27D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754FF-8CFA-C43A-9F00-40A551617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43496-9076-741E-C700-22D1A2F8E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9384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0372F-CB4A-1AEC-1CDA-63A8CA528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Algorithm Analysis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6EA34E3-B69C-CF52-6E1F-D8D94DB5DC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33959"/>
            <a:ext cx="10515600" cy="393467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481EC-B245-CC0D-266D-8686C9DCE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C557A-60E5-AF2A-9437-DA6681746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4F9BD-F0D9-B20E-D6CF-2836ACF59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8315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9484D-5E0F-DF2C-4D85-38C8AC03A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88CA4-C8C4-703B-B9B3-213750748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Algorithm Analysis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DAFCA-BD42-EE36-F6CD-9EFAE9191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C35F4-4F0C-E58B-9078-64178BAF1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A2F17-B62D-51B2-11D5-22F5B8007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17</a:t>
            </a:fld>
            <a:endParaRPr lang="en-GB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6E67C72-7698-9736-EB40-DFA53442D9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7725" y="1690688"/>
            <a:ext cx="7968238" cy="4351338"/>
          </a:xfrm>
        </p:spPr>
      </p:pic>
    </p:spTree>
    <p:extLst>
      <p:ext uri="{BB962C8B-B14F-4D97-AF65-F5344CB8AC3E}">
        <p14:creationId xmlns:p14="http://schemas.microsoft.com/office/powerpoint/2010/main" val="1660800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C7217-340D-00BB-5866-AA1A1A76E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9F24A-867E-2BF4-B91B-27E23097E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Algorithm Analysis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7301E-7794-4941-58D6-0289FAE06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83615-EB0B-739C-4D06-445261AA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E9337-8C42-0557-F689-8542A8CB5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18</a:t>
            </a:fld>
            <a:endParaRPr lang="en-GB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C5225CC-D46A-1B0C-DCB2-5D1DBEB78B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1720" y="1492249"/>
            <a:ext cx="6713055" cy="4825229"/>
          </a:xfrm>
        </p:spPr>
      </p:pic>
    </p:spTree>
    <p:extLst>
      <p:ext uri="{BB962C8B-B14F-4D97-AF65-F5344CB8AC3E}">
        <p14:creationId xmlns:p14="http://schemas.microsoft.com/office/powerpoint/2010/main" val="39011709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F7532-B692-625F-66BC-565C04B27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Further Reading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E2837-CBAE-89F2-C908-61E6D7B67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A0819-DFBD-E521-C0CF-EB2BE0C6F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99225-D2D9-E239-04C0-70E8987BC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19</a:t>
            </a:fld>
            <a:endParaRPr lang="en-GB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9E3FCF0-5B43-4993-AC55-844E868ABC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14656"/>
            <a:ext cx="8358507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to Algorithms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Cormen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Leiserson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Rivest, and Stein.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Robert Sedgewick and Kevin Wayne.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Resources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Big O Cheat Sheet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GeeksforGeeks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: Algorithm Analysis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Studio Profiler.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Complexity Calculators.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07601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8B187-5B8D-5522-99BC-0204D9BAD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48BF9-710D-D908-818A-1FA2671BA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Week 9: The Principles of Parallel Processing and Multi-Threading in C#</a:t>
            </a:r>
            <a:endParaRPr lang="de-DE" sz="200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9089D-FAD2-BEB9-2138-BB7A7C6A8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DF9BB-1193-CD97-E180-654A1C01F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B7018-C4F2-C61F-1090-B62E2D7BB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8121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753</Words>
  <Application>Microsoft Office PowerPoint</Application>
  <PresentationFormat>Widescreen</PresentationFormat>
  <Paragraphs>191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Arial Unicode MS</vt:lpstr>
      <vt:lpstr>Cambria Math</vt:lpstr>
      <vt:lpstr>Office Theme</vt:lpstr>
      <vt:lpstr>CST2550 - 2025 Software Engineering and Management</vt:lpstr>
      <vt:lpstr>Learning Objectives</vt:lpstr>
      <vt:lpstr>1. Algorithm Analysis </vt:lpstr>
      <vt:lpstr>Time Complexity</vt:lpstr>
      <vt:lpstr>Mathematical Formula for  Time Complexity</vt:lpstr>
      <vt:lpstr>Mathematical Formula for  Time Complexity</vt:lpstr>
      <vt:lpstr>Examples</vt:lpstr>
      <vt:lpstr>Examples</vt:lpstr>
      <vt:lpstr>Examples</vt:lpstr>
      <vt:lpstr>Practical Examples</vt:lpstr>
      <vt:lpstr>Practical Examples</vt:lpstr>
      <vt:lpstr>Practical Examples</vt:lpstr>
      <vt:lpstr>Space Complexity</vt:lpstr>
      <vt:lpstr>Common Complexity Classes</vt:lpstr>
      <vt:lpstr>2. Practical Examples </vt:lpstr>
      <vt:lpstr>Example: Algorithm Analysis</vt:lpstr>
      <vt:lpstr>Example: Algorithm Analysis</vt:lpstr>
      <vt:lpstr>Example: Algorithm Analysis</vt:lpstr>
      <vt:lpstr>Further Reading</vt:lpstr>
      <vt:lpstr>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Eissa</dc:creator>
  <cp:lastModifiedBy>Ahmed Eissa</cp:lastModifiedBy>
  <cp:revision>117</cp:revision>
  <dcterms:created xsi:type="dcterms:W3CDTF">2025-01-02T01:36:07Z</dcterms:created>
  <dcterms:modified xsi:type="dcterms:W3CDTF">2026-01-29T21:08:54Z</dcterms:modified>
</cp:coreProperties>
</file>