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00" r:id="rId3"/>
    <p:sldId id="302" r:id="rId4"/>
    <p:sldId id="325" r:id="rId5"/>
    <p:sldId id="301" r:id="rId6"/>
    <p:sldId id="303" r:id="rId7"/>
    <p:sldId id="304" r:id="rId8"/>
    <p:sldId id="305" r:id="rId9"/>
    <p:sldId id="306" r:id="rId10"/>
    <p:sldId id="307" r:id="rId11"/>
    <p:sldId id="309" r:id="rId12"/>
    <p:sldId id="308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45" autoAdjust="0"/>
  </p:normalViewPr>
  <p:slideViewPr>
    <p:cSldViewPr snapToGrid="0">
      <p:cViewPr varScale="1">
        <p:scale>
          <a:sx n="78" d="100"/>
          <a:sy n="78" d="100"/>
        </p:scale>
        <p:origin x="114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8B67ED-4CC9-4E52-B8CE-B139C6377345}" type="doc">
      <dgm:prSet loTypeId="urn:microsoft.com/office/officeart/2008/layout/BendingPictureBlocks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C99DE13-E209-4DA8-9294-217585A4A1E1}">
      <dgm:prSet/>
      <dgm:spPr/>
      <dgm:t>
        <a:bodyPr/>
        <a:lstStyle/>
        <a:p>
          <a:r>
            <a:rPr lang="en-GB"/>
            <a:t>Single Responsibility Principle</a:t>
          </a:r>
        </a:p>
      </dgm:t>
    </dgm:pt>
    <dgm:pt modelId="{C4D98236-5A2B-4689-B6A3-75C1DD763C60}" type="parTrans" cxnId="{EDCA3468-313A-4743-AA0A-40C9951EC831}">
      <dgm:prSet/>
      <dgm:spPr/>
      <dgm:t>
        <a:bodyPr/>
        <a:lstStyle/>
        <a:p>
          <a:endParaRPr lang="en-GB"/>
        </a:p>
      </dgm:t>
    </dgm:pt>
    <dgm:pt modelId="{2F51824A-456B-4956-9FF3-B91235C5DD4F}" type="sibTrans" cxnId="{EDCA3468-313A-4743-AA0A-40C9951EC831}">
      <dgm:prSet/>
      <dgm:spPr/>
      <dgm:t>
        <a:bodyPr/>
        <a:lstStyle/>
        <a:p>
          <a:endParaRPr lang="en-GB"/>
        </a:p>
      </dgm:t>
    </dgm:pt>
    <dgm:pt modelId="{71B82575-EB7F-47F8-84D2-860C4AC7957F}">
      <dgm:prSet/>
      <dgm:spPr/>
      <dgm:t>
        <a:bodyPr/>
        <a:lstStyle/>
        <a:p>
          <a:r>
            <a:rPr lang="en-GB" dirty="0"/>
            <a:t>This principle advocates that each class should have only one reason to change, increasing maintainability and clarity in code.</a:t>
          </a:r>
        </a:p>
      </dgm:t>
    </dgm:pt>
    <dgm:pt modelId="{2A3FC559-35AE-40D4-9EA5-0371CC3C3176}" type="parTrans" cxnId="{197BF8DD-71D9-41B4-94A7-EDFD3494A0A0}">
      <dgm:prSet/>
      <dgm:spPr/>
      <dgm:t>
        <a:bodyPr/>
        <a:lstStyle/>
        <a:p>
          <a:endParaRPr lang="en-GB"/>
        </a:p>
      </dgm:t>
    </dgm:pt>
    <dgm:pt modelId="{C934FED4-EDA4-4BF0-B300-82D5F993D697}" type="sibTrans" cxnId="{197BF8DD-71D9-41B4-94A7-EDFD3494A0A0}">
      <dgm:prSet/>
      <dgm:spPr/>
      <dgm:t>
        <a:bodyPr/>
        <a:lstStyle/>
        <a:p>
          <a:endParaRPr lang="en-GB"/>
        </a:p>
      </dgm:t>
    </dgm:pt>
    <dgm:pt modelId="{18559554-A84E-4C14-BBD5-7487CF890712}">
      <dgm:prSet/>
      <dgm:spPr/>
      <dgm:t>
        <a:bodyPr/>
        <a:lstStyle/>
        <a:p>
          <a:r>
            <a:rPr lang="en-GB"/>
            <a:t>Open/Closed and Liskov Substitution</a:t>
          </a:r>
        </a:p>
      </dgm:t>
    </dgm:pt>
    <dgm:pt modelId="{FF5C3541-86D9-48F0-BA20-BF2C7A448021}" type="parTrans" cxnId="{322CD09A-54B1-4F8C-9185-9B232CB75824}">
      <dgm:prSet/>
      <dgm:spPr/>
      <dgm:t>
        <a:bodyPr/>
        <a:lstStyle/>
        <a:p>
          <a:endParaRPr lang="en-GB"/>
        </a:p>
      </dgm:t>
    </dgm:pt>
    <dgm:pt modelId="{D461DED8-19D9-4E39-AE48-BD74A0E9059D}" type="sibTrans" cxnId="{322CD09A-54B1-4F8C-9185-9B232CB75824}">
      <dgm:prSet/>
      <dgm:spPr/>
      <dgm:t>
        <a:bodyPr/>
        <a:lstStyle/>
        <a:p>
          <a:endParaRPr lang="en-GB"/>
        </a:p>
      </dgm:t>
    </dgm:pt>
    <dgm:pt modelId="{87E1C029-D628-4C1B-81C6-C85BF44F61F0}">
      <dgm:prSet/>
      <dgm:spPr/>
      <dgm:t>
        <a:bodyPr/>
        <a:lstStyle/>
        <a:p>
          <a:r>
            <a:rPr lang="en-GB"/>
            <a:t>Classes should be open for extension but closed for modification, and derived types must be substitutable for their base types.</a:t>
          </a:r>
        </a:p>
      </dgm:t>
    </dgm:pt>
    <dgm:pt modelId="{9079F7DF-74FE-46CE-9C40-D8508A543209}" type="parTrans" cxnId="{F125A292-3EBA-4390-8329-528ECD5934E5}">
      <dgm:prSet/>
      <dgm:spPr/>
      <dgm:t>
        <a:bodyPr/>
        <a:lstStyle/>
        <a:p>
          <a:endParaRPr lang="en-GB"/>
        </a:p>
      </dgm:t>
    </dgm:pt>
    <dgm:pt modelId="{FB9B352C-DEF9-43BB-BB86-998243A44BCF}" type="sibTrans" cxnId="{F125A292-3EBA-4390-8329-528ECD5934E5}">
      <dgm:prSet/>
      <dgm:spPr/>
      <dgm:t>
        <a:bodyPr/>
        <a:lstStyle/>
        <a:p>
          <a:endParaRPr lang="en-GB"/>
        </a:p>
      </dgm:t>
    </dgm:pt>
    <dgm:pt modelId="{7CDEDEA4-815B-4FEB-A975-59468E25E495}">
      <dgm:prSet/>
      <dgm:spPr/>
      <dgm:t>
        <a:bodyPr/>
        <a:lstStyle/>
        <a:p>
          <a:r>
            <a:rPr lang="en-GB"/>
            <a:t>Interface Segregation and Dependency Inversion</a:t>
          </a:r>
        </a:p>
      </dgm:t>
    </dgm:pt>
    <dgm:pt modelId="{D6918228-FE34-4F52-A354-67A754B2D0EC}" type="parTrans" cxnId="{250FC631-2C3D-44D2-A574-908F32685D67}">
      <dgm:prSet/>
      <dgm:spPr/>
      <dgm:t>
        <a:bodyPr/>
        <a:lstStyle/>
        <a:p>
          <a:endParaRPr lang="en-GB"/>
        </a:p>
      </dgm:t>
    </dgm:pt>
    <dgm:pt modelId="{ADC50459-CD13-4283-9BD8-E920ADFE0A18}" type="sibTrans" cxnId="{250FC631-2C3D-44D2-A574-908F32685D67}">
      <dgm:prSet/>
      <dgm:spPr/>
      <dgm:t>
        <a:bodyPr/>
        <a:lstStyle/>
        <a:p>
          <a:endParaRPr lang="en-GB"/>
        </a:p>
      </dgm:t>
    </dgm:pt>
    <dgm:pt modelId="{5B05F672-6DC0-43F6-A101-4FDE10CE6FFC}">
      <dgm:prSet/>
      <dgm:spPr/>
      <dgm:t>
        <a:bodyPr/>
        <a:lstStyle/>
        <a:p>
          <a:r>
            <a:rPr lang="en-GB"/>
            <a:t>Splitting interfaces and inverting dependencies builds flexible, decoupled systems that are easier to test and extend.</a:t>
          </a:r>
        </a:p>
      </dgm:t>
    </dgm:pt>
    <dgm:pt modelId="{140E6495-0882-45A3-95B1-0123C38644E5}" type="parTrans" cxnId="{F8BA5EA4-E7C0-400F-A11B-5156369C1BBC}">
      <dgm:prSet/>
      <dgm:spPr/>
      <dgm:t>
        <a:bodyPr/>
        <a:lstStyle/>
        <a:p>
          <a:endParaRPr lang="en-GB"/>
        </a:p>
      </dgm:t>
    </dgm:pt>
    <dgm:pt modelId="{AE055EF0-82BC-41FA-B0FB-17F55F58986F}" type="sibTrans" cxnId="{F8BA5EA4-E7C0-400F-A11B-5156369C1BBC}">
      <dgm:prSet/>
      <dgm:spPr/>
      <dgm:t>
        <a:bodyPr/>
        <a:lstStyle/>
        <a:p>
          <a:endParaRPr lang="en-GB"/>
        </a:p>
      </dgm:t>
    </dgm:pt>
    <dgm:pt modelId="{E5F39546-2406-4119-89FF-0734672C9242}" type="pres">
      <dgm:prSet presAssocID="{588B67ED-4CC9-4E52-B8CE-B139C6377345}" presName="Name0" presStyleCnt="0">
        <dgm:presLayoutVars>
          <dgm:dir/>
          <dgm:resizeHandles/>
        </dgm:presLayoutVars>
      </dgm:prSet>
      <dgm:spPr/>
    </dgm:pt>
    <dgm:pt modelId="{C10006B8-F6BC-4920-9722-6D2DACEF8EC0}" type="pres">
      <dgm:prSet presAssocID="{0C99DE13-E209-4DA8-9294-217585A4A1E1}" presName="composite" presStyleCnt="0"/>
      <dgm:spPr/>
    </dgm:pt>
    <dgm:pt modelId="{9CB6CE8B-1BD6-44D5-BB05-C7E7257E7681}" type="pres">
      <dgm:prSet presAssocID="{0C99DE13-E209-4DA8-9294-217585A4A1E1}" presName="rect1" presStyleLbl="bgImgPlace1" presStyleIdx="0" presStyleCnt="3" custScaleX="100001" custScaleY="10000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play stock market charts"/>
        </a:ext>
      </dgm:extLst>
    </dgm:pt>
    <dgm:pt modelId="{C3471BE9-5635-4137-A648-B5D996B2A2CD}" type="pres">
      <dgm:prSet presAssocID="{0C99DE13-E209-4DA8-9294-217585A4A1E1}" presName="rect2" presStyleLbl="node1" presStyleIdx="0" presStyleCnt="3">
        <dgm:presLayoutVars>
          <dgm:bulletEnabled val="1"/>
        </dgm:presLayoutVars>
      </dgm:prSet>
      <dgm:spPr/>
    </dgm:pt>
    <dgm:pt modelId="{53CF4FE7-1D0B-4E2D-B609-F2765D364C4A}" type="pres">
      <dgm:prSet presAssocID="{2F51824A-456B-4956-9FF3-B91235C5DD4F}" presName="sibTrans" presStyleCnt="0"/>
      <dgm:spPr/>
    </dgm:pt>
    <dgm:pt modelId="{7DC11F5A-4D48-4CF7-B9E9-5A676C45355A}" type="pres">
      <dgm:prSet presAssocID="{18559554-A84E-4C14-BBD5-7487CF890712}" presName="composite" presStyleCnt="0"/>
      <dgm:spPr/>
    </dgm:pt>
    <dgm:pt modelId="{0995B6A9-1E27-4206-A607-F05C1A0E1C71}" type="pres">
      <dgm:prSet presAssocID="{18559554-A84E-4C14-BBD5-7487CF890712}" presName="rect1" presStyleLbl="b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gital technology concept"/>
        </a:ext>
      </dgm:extLst>
    </dgm:pt>
    <dgm:pt modelId="{4464425B-B90E-4BCE-93F3-C7AB818BA49B}" type="pres">
      <dgm:prSet presAssocID="{18559554-A84E-4C14-BBD5-7487CF890712}" presName="rect2" presStyleLbl="node1" presStyleIdx="1" presStyleCnt="3">
        <dgm:presLayoutVars>
          <dgm:bulletEnabled val="1"/>
        </dgm:presLayoutVars>
      </dgm:prSet>
      <dgm:spPr/>
    </dgm:pt>
    <dgm:pt modelId="{CCAEA739-D289-4D47-9330-AA29726B56F7}" type="pres">
      <dgm:prSet presAssocID="{D461DED8-19D9-4E39-AE48-BD74A0E9059D}" presName="sibTrans" presStyleCnt="0"/>
      <dgm:spPr/>
    </dgm:pt>
    <dgm:pt modelId="{9EB05303-7A9B-47EA-90AC-56B175DB5FB9}" type="pres">
      <dgm:prSet presAssocID="{7CDEDEA4-815B-4FEB-A975-59468E25E495}" presName="composite" presStyleCnt="0"/>
      <dgm:spPr/>
    </dgm:pt>
    <dgm:pt modelId="{6D3EDF3D-ECFE-4BA5-B843-8D6C51CF5B22}" type="pres">
      <dgm:prSet presAssocID="{7CDEDEA4-815B-4FEB-A975-59468E25E495}" presName="rect1" presStyleLbl="b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3d flow chart."/>
        </a:ext>
      </dgm:extLst>
    </dgm:pt>
    <dgm:pt modelId="{0EF02138-F2AB-4AC8-A85A-F4714331CBD2}" type="pres">
      <dgm:prSet presAssocID="{7CDEDEA4-815B-4FEB-A975-59468E25E495}" presName="rect2" presStyleLbl="node1" presStyleIdx="2" presStyleCnt="3">
        <dgm:presLayoutVars>
          <dgm:bulletEnabled val="1"/>
        </dgm:presLayoutVars>
      </dgm:prSet>
      <dgm:spPr/>
    </dgm:pt>
  </dgm:ptLst>
  <dgm:cxnLst>
    <dgm:cxn modelId="{F47A070C-CDE0-4C70-9071-D4934DB3E7E6}" type="presOf" srcId="{87E1C029-D628-4C1B-81C6-C85BF44F61F0}" destId="{4464425B-B90E-4BCE-93F3-C7AB818BA49B}" srcOrd="0" destOrd="1" presId="urn:microsoft.com/office/officeart/2008/layout/BendingPictureBlocks"/>
    <dgm:cxn modelId="{606E3221-61E1-4F03-9A05-658DAA4DC91A}" type="presOf" srcId="{71B82575-EB7F-47F8-84D2-860C4AC7957F}" destId="{C3471BE9-5635-4137-A648-B5D996B2A2CD}" srcOrd="0" destOrd="1" presId="urn:microsoft.com/office/officeart/2008/layout/BendingPictureBlocks"/>
    <dgm:cxn modelId="{250FC631-2C3D-44D2-A574-908F32685D67}" srcId="{588B67ED-4CC9-4E52-B8CE-B139C6377345}" destId="{7CDEDEA4-815B-4FEB-A975-59468E25E495}" srcOrd="2" destOrd="0" parTransId="{D6918228-FE34-4F52-A354-67A754B2D0EC}" sibTransId="{ADC50459-CD13-4283-9BD8-E920ADFE0A18}"/>
    <dgm:cxn modelId="{26D9C939-BB2E-4584-9E87-B2416717C4C7}" type="presOf" srcId="{0C99DE13-E209-4DA8-9294-217585A4A1E1}" destId="{C3471BE9-5635-4137-A648-B5D996B2A2CD}" srcOrd="0" destOrd="0" presId="urn:microsoft.com/office/officeart/2008/layout/BendingPictureBlocks"/>
    <dgm:cxn modelId="{8848833E-A9F7-4739-A6E9-3140222662A8}" type="presOf" srcId="{5B05F672-6DC0-43F6-A101-4FDE10CE6FFC}" destId="{0EF02138-F2AB-4AC8-A85A-F4714331CBD2}" srcOrd="0" destOrd="1" presId="urn:microsoft.com/office/officeart/2008/layout/BendingPictureBlocks"/>
    <dgm:cxn modelId="{34E86963-C75A-4C60-A7F7-C1A000B7D3BB}" type="presOf" srcId="{7CDEDEA4-815B-4FEB-A975-59468E25E495}" destId="{0EF02138-F2AB-4AC8-A85A-F4714331CBD2}" srcOrd="0" destOrd="0" presId="urn:microsoft.com/office/officeart/2008/layout/BendingPictureBlocks"/>
    <dgm:cxn modelId="{EDCA3468-313A-4743-AA0A-40C9951EC831}" srcId="{588B67ED-4CC9-4E52-B8CE-B139C6377345}" destId="{0C99DE13-E209-4DA8-9294-217585A4A1E1}" srcOrd="0" destOrd="0" parTransId="{C4D98236-5A2B-4689-B6A3-75C1DD763C60}" sibTransId="{2F51824A-456B-4956-9FF3-B91235C5DD4F}"/>
    <dgm:cxn modelId="{F125A292-3EBA-4390-8329-528ECD5934E5}" srcId="{18559554-A84E-4C14-BBD5-7487CF890712}" destId="{87E1C029-D628-4C1B-81C6-C85BF44F61F0}" srcOrd="0" destOrd="0" parTransId="{9079F7DF-74FE-46CE-9C40-D8508A543209}" sibTransId="{FB9B352C-DEF9-43BB-BB86-998243A44BCF}"/>
    <dgm:cxn modelId="{322CD09A-54B1-4F8C-9185-9B232CB75824}" srcId="{588B67ED-4CC9-4E52-B8CE-B139C6377345}" destId="{18559554-A84E-4C14-BBD5-7487CF890712}" srcOrd="1" destOrd="0" parTransId="{FF5C3541-86D9-48F0-BA20-BF2C7A448021}" sibTransId="{D461DED8-19D9-4E39-AE48-BD74A0E9059D}"/>
    <dgm:cxn modelId="{F8BA5EA4-E7C0-400F-A11B-5156369C1BBC}" srcId="{7CDEDEA4-815B-4FEB-A975-59468E25E495}" destId="{5B05F672-6DC0-43F6-A101-4FDE10CE6FFC}" srcOrd="0" destOrd="0" parTransId="{140E6495-0882-45A3-95B1-0123C38644E5}" sibTransId="{AE055EF0-82BC-41FA-B0FB-17F55F58986F}"/>
    <dgm:cxn modelId="{386804D3-CD9E-4E10-A55F-BA0D769D9F0D}" type="presOf" srcId="{588B67ED-4CC9-4E52-B8CE-B139C6377345}" destId="{E5F39546-2406-4119-89FF-0734672C9242}" srcOrd="0" destOrd="0" presId="urn:microsoft.com/office/officeart/2008/layout/BendingPictureBlocks"/>
    <dgm:cxn modelId="{197BF8DD-71D9-41B4-94A7-EDFD3494A0A0}" srcId="{0C99DE13-E209-4DA8-9294-217585A4A1E1}" destId="{71B82575-EB7F-47F8-84D2-860C4AC7957F}" srcOrd="0" destOrd="0" parTransId="{2A3FC559-35AE-40D4-9EA5-0371CC3C3176}" sibTransId="{C934FED4-EDA4-4BF0-B300-82D5F993D697}"/>
    <dgm:cxn modelId="{8AD78DE5-2283-44CF-BCB2-0EE80687CBB6}" type="presOf" srcId="{18559554-A84E-4C14-BBD5-7487CF890712}" destId="{4464425B-B90E-4BCE-93F3-C7AB818BA49B}" srcOrd="0" destOrd="0" presId="urn:microsoft.com/office/officeart/2008/layout/BendingPictureBlocks"/>
    <dgm:cxn modelId="{67286624-9133-4941-9759-534CBA53BA18}" type="presParOf" srcId="{E5F39546-2406-4119-89FF-0734672C9242}" destId="{C10006B8-F6BC-4920-9722-6D2DACEF8EC0}" srcOrd="0" destOrd="0" presId="urn:microsoft.com/office/officeart/2008/layout/BendingPictureBlocks"/>
    <dgm:cxn modelId="{B2E54935-82A3-4190-9D86-29FCEECE3E72}" type="presParOf" srcId="{C10006B8-F6BC-4920-9722-6D2DACEF8EC0}" destId="{9CB6CE8B-1BD6-44D5-BB05-C7E7257E7681}" srcOrd="0" destOrd="0" presId="urn:microsoft.com/office/officeart/2008/layout/BendingPictureBlocks"/>
    <dgm:cxn modelId="{5361E3DA-C015-469B-9BBB-B1C37E66A28A}" type="presParOf" srcId="{C10006B8-F6BC-4920-9722-6D2DACEF8EC0}" destId="{C3471BE9-5635-4137-A648-B5D996B2A2CD}" srcOrd="1" destOrd="0" presId="urn:microsoft.com/office/officeart/2008/layout/BendingPictureBlocks"/>
    <dgm:cxn modelId="{FAD3B16A-0EEF-464D-8B89-0D794A0AD78D}" type="presParOf" srcId="{E5F39546-2406-4119-89FF-0734672C9242}" destId="{53CF4FE7-1D0B-4E2D-B609-F2765D364C4A}" srcOrd="1" destOrd="0" presId="urn:microsoft.com/office/officeart/2008/layout/BendingPictureBlocks"/>
    <dgm:cxn modelId="{451EDFFA-1EC9-4B24-B58B-88FBE49056C1}" type="presParOf" srcId="{E5F39546-2406-4119-89FF-0734672C9242}" destId="{7DC11F5A-4D48-4CF7-B9E9-5A676C45355A}" srcOrd="2" destOrd="0" presId="urn:microsoft.com/office/officeart/2008/layout/BendingPictureBlocks"/>
    <dgm:cxn modelId="{C21725BB-007C-4FD0-80C7-EF68D888A8CC}" type="presParOf" srcId="{7DC11F5A-4D48-4CF7-B9E9-5A676C45355A}" destId="{0995B6A9-1E27-4206-A607-F05C1A0E1C71}" srcOrd="0" destOrd="0" presId="urn:microsoft.com/office/officeart/2008/layout/BendingPictureBlocks"/>
    <dgm:cxn modelId="{765E9DD1-2635-4136-93AC-84D401325E5A}" type="presParOf" srcId="{7DC11F5A-4D48-4CF7-B9E9-5A676C45355A}" destId="{4464425B-B90E-4BCE-93F3-C7AB818BA49B}" srcOrd="1" destOrd="0" presId="urn:microsoft.com/office/officeart/2008/layout/BendingPictureBlocks"/>
    <dgm:cxn modelId="{9CFEC319-49E2-4F03-83F7-636E8F588ACC}" type="presParOf" srcId="{E5F39546-2406-4119-89FF-0734672C9242}" destId="{CCAEA739-D289-4D47-9330-AA29726B56F7}" srcOrd="3" destOrd="0" presId="urn:microsoft.com/office/officeart/2008/layout/BendingPictureBlocks"/>
    <dgm:cxn modelId="{D421076D-5F06-417F-9874-9240673EE2A0}" type="presParOf" srcId="{E5F39546-2406-4119-89FF-0734672C9242}" destId="{9EB05303-7A9B-47EA-90AC-56B175DB5FB9}" srcOrd="4" destOrd="0" presId="urn:microsoft.com/office/officeart/2008/layout/BendingPictureBlocks"/>
    <dgm:cxn modelId="{334AD77D-8AAC-434D-9255-CFC95D028623}" type="presParOf" srcId="{9EB05303-7A9B-47EA-90AC-56B175DB5FB9}" destId="{6D3EDF3D-ECFE-4BA5-B843-8D6C51CF5B22}" srcOrd="0" destOrd="0" presId="urn:microsoft.com/office/officeart/2008/layout/BendingPictureBlocks"/>
    <dgm:cxn modelId="{91BA0824-B126-41C6-9902-A4A2701A4324}" type="presParOf" srcId="{9EB05303-7A9B-47EA-90AC-56B175DB5FB9}" destId="{0EF02138-F2AB-4AC8-A85A-F4714331CBD2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B6CE8B-1BD6-44D5-BB05-C7E7257E7681}">
      <dsp:nvSpPr>
        <dsp:cNvPr id="0" name=""/>
        <dsp:cNvSpPr/>
      </dsp:nvSpPr>
      <dsp:spPr>
        <a:xfrm>
          <a:off x="1262404" y="746598"/>
          <a:ext cx="2145865" cy="1804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471BE9-5635-4137-A648-B5D996B2A2CD}">
      <dsp:nvSpPr>
        <dsp:cNvPr id="0" name=""/>
        <dsp:cNvSpPr/>
      </dsp:nvSpPr>
      <dsp:spPr>
        <a:xfrm>
          <a:off x="463011" y="1505317"/>
          <a:ext cx="1162970" cy="1162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/>
            <a:t>Single Responsibility Principle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700" kern="1200" dirty="0"/>
            <a:t>This principle advocates that each class should have only one reason to change, increasing maintainability and clarity in code.</a:t>
          </a:r>
        </a:p>
      </dsp:txBody>
      <dsp:txXfrm>
        <a:off x="463011" y="1505317"/>
        <a:ext cx="1162970" cy="1162970"/>
      </dsp:txXfrm>
    </dsp:sp>
    <dsp:sp modelId="{0995B6A9-1E27-4206-A607-F05C1A0E1C71}">
      <dsp:nvSpPr>
        <dsp:cNvPr id="0" name=""/>
        <dsp:cNvSpPr/>
      </dsp:nvSpPr>
      <dsp:spPr>
        <a:xfrm>
          <a:off x="4584585" y="746603"/>
          <a:ext cx="2145844" cy="1804808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64425B-B90E-4BCE-93F3-C7AB818BA49B}">
      <dsp:nvSpPr>
        <dsp:cNvPr id="0" name=""/>
        <dsp:cNvSpPr/>
      </dsp:nvSpPr>
      <dsp:spPr>
        <a:xfrm>
          <a:off x="3785181" y="1505312"/>
          <a:ext cx="1162970" cy="1162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/>
            <a:t>Open/Closed and Liskov Substitution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700" kern="1200"/>
            <a:t>Classes should be open for extension but closed for modification, and derived types must be substitutable for their base types.</a:t>
          </a:r>
        </a:p>
      </dsp:txBody>
      <dsp:txXfrm>
        <a:off x="3785181" y="1505312"/>
        <a:ext cx="1162970" cy="1162970"/>
      </dsp:txXfrm>
    </dsp:sp>
    <dsp:sp modelId="{6D3EDF3D-ECFE-4BA5-B843-8D6C51CF5B22}">
      <dsp:nvSpPr>
        <dsp:cNvPr id="0" name=""/>
        <dsp:cNvSpPr/>
      </dsp:nvSpPr>
      <dsp:spPr>
        <a:xfrm>
          <a:off x="7906744" y="746603"/>
          <a:ext cx="2145844" cy="1804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02138-F2AB-4AC8-A85A-F4714331CBD2}">
      <dsp:nvSpPr>
        <dsp:cNvPr id="0" name=""/>
        <dsp:cNvSpPr/>
      </dsp:nvSpPr>
      <dsp:spPr>
        <a:xfrm>
          <a:off x="7107340" y="1505312"/>
          <a:ext cx="1162970" cy="11629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/>
            <a:t>Interface Segregation and Dependency Inversion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700" kern="1200"/>
            <a:t>Splitting interfaces and inverting dependencies builds flexible, decoupled systems that are easier to test and extend.</a:t>
          </a:r>
        </a:p>
      </dsp:txBody>
      <dsp:txXfrm>
        <a:off x="7107340" y="1505312"/>
        <a:ext cx="1162970" cy="11629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D672D-DBE8-4B12-854D-E44585C44C58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28C0A3-43DB-4CD2-8C24-2AF18E3D50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8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Image source: Microsoft 365 content library
SOLID principles are a set of five guidelines for object-oriented design. They promote writing maintainable and scalable code by emphasizing single responsibility, open/closed, and </a:t>
            </a:r>
            <a:r>
              <a:rPr lang="en-GB" dirty="0" err="1"/>
              <a:t>Liskov</a:t>
            </a:r>
            <a:r>
              <a:rPr lang="en-GB" dirty="0"/>
              <a:t> substitution principles. Additionally, interface segregation and dependency inversion help developers create flexible, decoupled systems that are easier to test and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28C0A3-43DB-4CD2-8C24-2AF18E3D50E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98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234-AC4D-C9CC-038D-569BC78D50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A687B4-5A97-FB1D-F350-738C41B37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ECBF2-560F-30FA-E516-F6034D45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B6FA9-FF2A-143D-4D5E-47F02164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FE763-201B-CAAB-2287-8784D52B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D8ACCC-5094-92D8-C580-39979927B7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397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970CB-773F-5BD9-B294-B3367CF3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AB1E6-0FE9-7CBB-9653-8AA11B5F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7ADF-777E-ED70-B894-5BFFCDF1F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AA102-468D-99F3-432C-7FF4D09D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D850CA-29A7-9D14-CF58-86BCCF15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14962D-15E5-6E85-6A47-E5EEF3DAED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878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205B-78E3-2F23-6ABF-0CE19FD6F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DB0E3-4075-39E1-B77D-5D20D3AB9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98C77-AB8B-A963-A7AE-583338FBF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6826A-4BDD-12B6-0F52-C0154F58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1FE20-2E2B-76C9-2F45-0E9DD468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B01278-13EA-8AAA-272C-9FCB6489C4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3187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4AFA-E7B3-BE67-20D7-091049F2B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2F08-E56A-04F6-2592-E40C13FA3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A1096-7883-5AB0-2F7F-9318698C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09268-D370-C09A-E5DF-974A779B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F168A-D81A-1CB3-3D95-F5C6111D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00216-208F-FF71-7C2C-2E340EBAB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05CCFD-731C-3F6E-F198-0C5FD341B5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6051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8C7A3-498E-DB5E-4EAB-000AED1E5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90391A-078B-1620-D37C-28FE74805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AF0FA-4D10-05D4-C0E6-607926B35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73CF3A-2BFD-BC0C-86D1-84661F8C2F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60641A-D012-3000-BFE8-B954347817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12F0AB-3542-BEF6-8F1B-C282EAF38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31962-01BB-CECE-37BE-5CA011D5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EC866-492E-17D1-D8C6-E4471352D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0B27C04-FA99-5D8F-2D3A-800238BE01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046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3B10-FCCE-7F09-0DDE-E4BE15EB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5E9E38-CE69-883A-4AAD-EE9D2C8D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0B7DB-46C5-6D80-9441-E64C26CF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51640-9498-D0B6-107F-50799601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71F3-51E3-F25F-4B2C-18F306B2C8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104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416F58-1C5B-5E1A-10A1-6CD518E6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E5C74-C6B9-E79B-142E-047C8632F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6EA75-9B59-23CC-D253-E87C49033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4EBFFA-0061-AAEE-AECD-306E68697D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0686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A0E-55A6-BD95-F29A-A32063139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AEBF9-0281-3DBC-0CA0-1D9908B9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12A-8CD6-BD77-EADA-1FC41F1ED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AC69C-37AD-3FC9-BFBE-76D3EAE5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79E6C-108C-CC60-669E-39F43515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116298-B593-4215-4605-F9573D14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076E-1B17-8011-5098-FF7E36EA8F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93456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28F05-3D4A-26B8-ED38-A13C1EC10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4D0A45-5FC8-BEED-00C3-227B944245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9D69-4DB4-303B-D632-B66F59B72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C2B9-9F1A-CD0E-4033-C3B2E1D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C915-58EA-15A0-6521-B8E44247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71ECA-55CD-1BA9-06EC-66608E07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098DD0-62B4-686B-E5DF-862CD79318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50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8E61-5DD2-7F9F-5270-527A15E75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882DD-994A-B002-95BE-48FD4F986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E1E85-23A2-4E56-EF4A-4714D630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366D2-10D0-6485-1338-02EEE961F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63ED1-3CFD-4726-C844-306C271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C0C5F-F389-A40E-53AD-B88ACB5CA8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80993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730358-9638-B963-E90C-157B59C6F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4221B-8C63-1713-45F5-127F10453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18343-E739-1068-3356-C92E1B8E6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56E9-F1DE-C8F0-733D-E3F9D331F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92A18-BA3D-497B-8849-CC73CAD42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F495A2-758F-1E69-DF35-6BA46C05D3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0748645" y="5331460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37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306F9-55ED-09E0-26A8-0FFF51581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C74E9-62CB-A0DA-D68A-4C0CAABCC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A8E49-2440-3CEA-A11A-A9797A6D0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104E2-47F2-B7E0-20EA-4B768F4A7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F8BC-E920-FEDE-9ED4-F6F5E885F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6A240-2C59-4E55-AFC4-FBF35E0F01C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04D04F-5161-A3E8-A3D6-9B218BCC3481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890" y="202566"/>
            <a:ext cx="1995170" cy="784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90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.eissa@mdx.ac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FEA0B-AE48-8664-72F5-BCFB15A49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CST2550 - 2025</a:t>
            </a:r>
            <a:br>
              <a:rPr lang="en-GB" dirty="0"/>
            </a:br>
            <a:r>
              <a:rPr lang="en-GB" dirty="0"/>
              <a:t>Software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675EF1-AEF1-C497-0E1A-BA096886A7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en-US" sz="26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Week 10: Software Design Patterns and Principles</a:t>
            </a:r>
          </a:p>
          <a:p>
            <a:endParaRPr lang="de-DE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Ahmed Eissa</a:t>
            </a:r>
          </a:p>
          <a:p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2"/>
              </a:rPr>
              <a:t>a.eissa@mdx.ac.uk</a:t>
            </a:r>
            <a:r>
              <a:rPr lang="de-DE" sz="2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GB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89192-F369-9539-6F17-D4851E7B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E469B5-9CC3-A1E5-D797-527239D28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B6599-D4BA-2C9D-50AA-542D7EEA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4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66E1C-594C-7A5F-6A89-27CF95C38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A1AF0-0B58-FE56-083D-4D6F22950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Master SOLID principles for effective software design.</a:t>
            </a:r>
          </a:p>
          <a:p>
            <a:pPr>
              <a:buFont typeface="+mj-lt"/>
              <a:buAutoNum type="arabicPeriod"/>
            </a:pPr>
            <a:r>
              <a:rPr lang="en-US" dirty="0"/>
              <a:t>Understand the purpose and types of design patterns.</a:t>
            </a:r>
          </a:p>
          <a:p>
            <a:pPr>
              <a:buFont typeface="+mj-lt"/>
              <a:buAutoNum type="arabicPeriod"/>
            </a:pPr>
            <a:r>
              <a:rPr lang="en-US" dirty="0"/>
              <a:t>Learn to implement design patterns in C#.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2F5D0-D8AD-9757-362F-EC5C2803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643D5-7BF0-7B58-2B53-4A7CB59E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B9D0E-20FE-6EB6-81F2-6020B932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543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A5860-6E61-A7F2-5135-B0DF5EF6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SOLID Principles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7D85F-AAFB-64CA-3A98-B50EC3795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843BC-79E5-B95D-2F97-AEE6FAEB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07512-48EA-A533-B3C0-89C71B89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DADBC-820D-F0FF-C2BA-D526145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8930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2BF7-AD52-5C81-6E69-F013DDBE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Mastering SOLID Principles</a:t>
            </a:r>
          </a:p>
        </p:txBody>
      </p:sp>
      <p:graphicFrame>
        <p:nvGraphicFramePr>
          <p:cNvPr id="7" name="Content Placeholder 7">
            <a:extLst>
              <a:ext uri="{FF2B5EF4-FFF2-40B4-BE49-F238E27FC236}">
                <a16:creationId xmlns:a16="http://schemas.microsoft.com/office/drawing/2014/main" id="{94283EC7-AF50-4B83-B7C6-F830217C0E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3898577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VisualTitledTextBox"/>
                  </p202:designTagLst>
                </p202:designPr>
              </p:ext>
            </p:extLst>
          </p:nvPr>
        </p:nvGraphicFramePr>
        <p:xfrm>
          <a:off x="838200" y="2763664"/>
          <a:ext cx="10515600" cy="3414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B59592-B00F-85E3-30D4-EF0A7005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39BAC-CD19-AA7B-45D5-F980683C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B1DCC-2041-6CED-9366-F4E6E2E8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4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006E6-F49D-00CE-FAA5-5B6DD7622A7A}"/>
              </a:ext>
            </a:extLst>
          </p:cNvPr>
          <p:cNvSpPr txBox="1"/>
          <p:nvPr/>
        </p:nvSpPr>
        <p:spPr>
          <a:xfrm>
            <a:off x="838201" y="1438101"/>
            <a:ext cx="1051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SOLID principles </a:t>
            </a:r>
            <a:r>
              <a:rPr lang="en-GB" dirty="0"/>
              <a:t>are a set of five guidelines for object-oriented design.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They promote writing maintainable and scalable code by emphasising single responsibility, open/closed, and </a:t>
            </a:r>
            <a:r>
              <a:rPr lang="en-GB" dirty="0" err="1"/>
              <a:t>Liskov</a:t>
            </a:r>
            <a:r>
              <a:rPr lang="en-GB" dirty="0"/>
              <a:t> substitution principles.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Additionally, interface segregation and dependency inversion help developers  create flexible, decoupled systems that are easier to test and extend</a:t>
            </a:r>
          </a:p>
        </p:txBody>
      </p:sp>
    </p:spTree>
    <p:extLst>
      <p:ext uri="{BB962C8B-B14F-4D97-AF65-F5344CB8AC3E}">
        <p14:creationId xmlns:p14="http://schemas.microsoft.com/office/powerpoint/2010/main" val="266941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97A0-A1EC-EAE9-2FD7-4F0DC4F3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Responsibility Principle (SRP)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96973-023D-251C-BE7E-29A490A90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Concept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class should only have one reason to 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Why It Matters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Encourages cohesion.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Simplifies debugging and maintenance.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 A “</a:t>
            </a:r>
            <a:r>
              <a:rPr lang="en-US" altLang="en-US" sz="1600" dirty="0" err="1">
                <a:latin typeface="Arial" panose="020B0604020202020204" pitchFamily="34" charset="0"/>
              </a:rPr>
              <a:t>ReportGenerator</a:t>
            </a:r>
            <a:r>
              <a:rPr lang="en-US" altLang="en-US" sz="1600" dirty="0">
                <a:latin typeface="Arial" panose="020B0604020202020204" pitchFamily="34" charset="0"/>
              </a:rPr>
              <a:t>” class should focus solely on creating reports, not handling file saving.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dirty="0">
                <a:latin typeface="Arial" panose="020B0604020202020204" pitchFamily="34" charset="0"/>
              </a:rPr>
              <a:t> Source code is in next slide.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5A53-7301-2212-F375-8489A1FA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180D3-5105-591E-8EBC-454A599C8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5737FD-F7E7-306A-1787-C8127C1F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618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336D-20A3-E0CE-63E2-653EBEB0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Single Responsibility Principle (SRP)</a:t>
            </a:r>
          </a:p>
        </p:txBody>
      </p:sp>
      <p:pic>
        <p:nvPicPr>
          <p:cNvPr id="8" name="Content Placeholder 7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B4E2948D-CCA1-66AD-E2E1-82185E21FE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2452"/>
            <a:ext cx="10515600" cy="4337683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28165-4CBC-4010-F100-E9C5DA70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6D68F-6126-D463-F253-A320A58A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730B5-5FBB-B2A7-C094-011C89DD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28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EC1D6-E63E-B5D4-11CF-1AFFBA1D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Open/Closed Principle (OCP)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C139-3D6E-53DD-3B03-2814012EA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Concept: </a:t>
            </a:r>
          </a:p>
          <a:p>
            <a:pPr lvl="1"/>
            <a:r>
              <a:rPr lang="en-US" dirty="0"/>
              <a:t>Software entities should be open for extension but closed for modification.</a:t>
            </a:r>
          </a:p>
          <a:p>
            <a:r>
              <a:rPr lang="en-US" dirty="0"/>
              <a:t>Implementation:</a:t>
            </a:r>
          </a:p>
          <a:p>
            <a:pPr lvl="1"/>
            <a:r>
              <a:rPr lang="en-US" dirty="0"/>
              <a:t>Use abstract base classes or interfaces to allow extension.</a:t>
            </a:r>
          </a:p>
          <a:p>
            <a:pPr lvl="1"/>
            <a:r>
              <a:rPr lang="en-US" dirty="0"/>
              <a:t>Avoid altering existing code when adding new functionality.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42563-90EB-F5F5-EE50-1E547A55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E29F1-96CC-0C7B-DD1B-A7E41AFDD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C9AD8-D5DC-C7FB-1348-8B5809AC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3575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DA1CE-1602-FBD4-7DF2-9B7AED62D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Open/Closed Principle (OCP)</a:t>
            </a:r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59210F8D-2D7E-D53C-687F-EBE9D8B6A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662" y="1825625"/>
            <a:ext cx="8702676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7D284-C004-6EE1-01ED-73617D21A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D1BE5-05CB-33AC-233E-78A6825C1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B8D90-42DE-E4CC-541B-3B6EAA4C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063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E3F5-CF99-C4E9-5DBD-390CF7C1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Interface Segregation Principle (ISP)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0AAD4-5D53-3329-1244-E7BB7900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Concept: </a:t>
            </a:r>
          </a:p>
          <a:p>
            <a:pPr lvl="1"/>
            <a:r>
              <a:rPr lang="en-US" dirty="0"/>
              <a:t>A class should not be forced to implement interfaces it does not use.</a:t>
            </a:r>
          </a:p>
          <a:p>
            <a:r>
              <a:rPr lang="en-US" dirty="0"/>
              <a:t>Solution:</a:t>
            </a:r>
          </a:p>
          <a:p>
            <a:pPr lvl="1"/>
            <a:r>
              <a:rPr lang="en-US" dirty="0"/>
              <a:t>Break large interfaces into smaller, more specific ones.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9E773-510C-06E0-AED8-2BB3FA372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30286-29BE-F414-3436-56B95B49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D07ED-CB27-DC40-EFF7-575293C3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43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3456C-8B45-A45C-3900-AD8145ADD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AAD4A-1A2F-1987-C8C6-D69BEE301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Interface Segregation Principle (ISP)</a:t>
            </a:r>
          </a:p>
        </p:txBody>
      </p:sp>
      <p:pic>
        <p:nvPicPr>
          <p:cNvPr id="8" name="Content Placeholder 7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6AAF5B7-384A-1754-C98D-9839C0150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2222" y="1825625"/>
            <a:ext cx="7667555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BC6F3-118C-DE1C-FDBD-CD9301B62F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2F98A-4B2C-4DAA-C3A6-51C7D4991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2653-D51C-138A-08CF-BD27B9CFE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157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FD523-1C80-FEA0-56B1-405FF4F2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2. Design Patterns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2DA65-C849-8A05-C886-AB6B5902D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2570-A306-6132-57EF-417B0EE69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DB825-D01A-6AF8-8968-02F3FE915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8DD64-2ACB-803B-B333-BF20684DE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284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B5469-3634-AAC9-B612-5692F7BB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Creational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A95AE-0663-8A5E-D002-5883A1CC1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</a:t>
            </a:r>
          </a:p>
          <a:p>
            <a:pPr lvl="1"/>
            <a:r>
              <a:rPr lang="en-US" dirty="0"/>
              <a:t>Manage object creation, ensuring flexibility and reusability.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Singleton Pattern.</a:t>
            </a:r>
          </a:p>
          <a:p>
            <a:pPr lvl="1"/>
            <a:r>
              <a:rPr lang="en-US" dirty="0"/>
              <a:t>Ensures a class has only one instance and provides a global point of access.</a:t>
            </a:r>
          </a:p>
          <a:p>
            <a:r>
              <a:rPr lang="en-US" dirty="0"/>
              <a:t>Example: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10E39-43C8-425A-4966-492274BE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9FB7E-427B-1D3A-6842-01E7439B5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54CBA-E9B4-5A45-C573-5EC0F5CB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12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CE0252-F129-6258-7B1A-184C42F67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978" y="4929014"/>
            <a:ext cx="6582694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20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9C9E9-15A4-994F-FF5C-07FF2AD58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D50A-F69C-7298-5A57-5783642D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F4197-4B54-9A8D-3A95-F9083D52C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</a:t>
            </a:r>
          </a:p>
          <a:p>
            <a:pPr lvl="1"/>
            <a:r>
              <a:rPr lang="en-US" dirty="0"/>
              <a:t>Simplify the design by identifying a simple way to </a:t>
            </a:r>
            <a:r>
              <a:rPr lang="en-US" dirty="0" err="1"/>
              <a:t>realise</a:t>
            </a:r>
            <a:r>
              <a:rPr lang="en-US" dirty="0"/>
              <a:t> relationships between entities.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Adapter Pattern.</a:t>
            </a:r>
          </a:p>
          <a:p>
            <a:pPr lvl="1"/>
            <a:r>
              <a:rPr lang="en-US" dirty="0"/>
              <a:t>Converts the interface of a class into another interface clients expect.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94E05-A09A-0D69-E131-195495A4F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F1E79-11BD-AAD2-51D0-56A2D7F4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6F09-91C8-0C9E-ADB7-E572B68B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2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51421-9777-020B-9529-AF8916809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Structural Patterns</a:t>
            </a:r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8F202BD8-9953-8ECF-3E94-68029F6791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2452"/>
            <a:ext cx="10515600" cy="4337683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34A7E5-A14A-315E-8EC5-8E4763A30E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66385-C0AD-DAF0-057F-CFCD863AC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1A806-7C91-2B9E-8480-DE190EEF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7759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2A79-CAA2-EA61-CB2C-51D6A77F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Behavioural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C84E-7EF5-2C75-3410-B47660887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</a:t>
            </a:r>
          </a:p>
          <a:p>
            <a:pPr lvl="1"/>
            <a:r>
              <a:rPr lang="en-US" dirty="0"/>
              <a:t>Focus on communication between objects.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Observer Pattern.</a:t>
            </a:r>
          </a:p>
          <a:p>
            <a:pPr lvl="1"/>
            <a:r>
              <a:rPr lang="en-US" dirty="0"/>
              <a:t>Defines a dependency between objects, so when one changes state, others are notified.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8EFD3-0B26-7DBA-2FFD-D993373C8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C80AB-F9F8-92B1-3562-97F69B16A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A0910-22CB-6B69-C6D6-FE99728E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245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B137-138E-81F6-8A23-17599009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8324D-6D10-8849-B427-F2F4BDE5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Behavioural Patterns</a:t>
            </a:r>
          </a:p>
        </p:txBody>
      </p:sp>
      <p:pic>
        <p:nvPicPr>
          <p:cNvPr id="8" name="Content Placeholder 7" descr="A computer screen shot of a code&#10;&#10;Description automatically generated">
            <a:extLst>
              <a:ext uri="{FF2B5EF4-FFF2-40B4-BE49-F238E27FC236}">
                <a16:creationId xmlns:a16="http://schemas.microsoft.com/office/drawing/2014/main" id="{1739130A-A9D3-9FBD-21B5-7BD77E1DC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1510" y="1825625"/>
            <a:ext cx="8248980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948D-B6A3-682D-0FB8-E8619519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A060-86E5-F614-E631-63B8617F0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CA628-5CA9-FBDA-FB07-9BC194890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743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22C0-F948-21C6-FC6B-18BF6AAD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3. Practical Examples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985DB-D14C-5F9F-1462-59B717E75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B151D-AE03-118E-B343-51ECBF311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DC7D4-93D9-A9F4-9DE4-05442ABC6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49F12-6748-AA0A-DBCA-4FE22B67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403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D1FF-77D1-B8C4-333E-49609126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1: Factory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C7FF0-B8DD-16F6-C7F3-3BCE3DE5D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Abstracts the creation logic of objects.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36EDF-E41C-4CCC-E5C4-D4E90449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DD12C-AB69-F361-CF0B-D25D4AC5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6A98D-067E-BE10-B445-232DC5B0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18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CDDD7F-D27B-ADF5-C03E-AFD304285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288" y="2353954"/>
            <a:ext cx="7701424" cy="382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863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F41AE-CD87-44A2-59BF-B446DF4BB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Example 2: Strategy Pattern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852CA-0A0A-A7DC-090C-3AA1096FC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Define a family of algorithms and make them interchangeable. 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67C9B-EC3A-6471-F610-597EF49A2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0D106-C637-EA00-1BBE-4BAAA617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9BD4D-6A96-CBCF-347A-8000526D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19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B5C15A-98E8-F5EC-9A4B-82F28E5E5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73" y="2610263"/>
            <a:ext cx="8130053" cy="374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11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5663-7B8D-6B98-EB2E-78CF36C9F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Example 3: SOLID Principles </a:t>
            </a:r>
            <a:br>
              <a:rPr lang="fr-FR" dirty="0"/>
            </a:br>
            <a:r>
              <a:rPr lang="en-GB" dirty="0"/>
              <a:t>Implementation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A6F7913-A54E-3076-179E-0AE787D6D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6290" y="1847850"/>
            <a:ext cx="8408383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0039-E51D-CF25-D12A-E0689594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4CEDC-1AF1-E14A-828F-132751A8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825B4-690E-D434-AA44-9C9F1583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5880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13C5F-DF06-2EDA-5AD3-0F031267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E4E10-1E62-BDC1-ECBB-E2A0F32B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Example 3: SOLID Principles </a:t>
            </a:r>
            <a:br>
              <a:rPr lang="fr-FR" dirty="0"/>
            </a:br>
            <a:r>
              <a:rPr lang="en-GB" dirty="0"/>
              <a:t>Implementation</a:t>
            </a:r>
          </a:p>
        </p:txBody>
      </p:sp>
      <p:pic>
        <p:nvPicPr>
          <p:cNvPr id="10" name="Content Placeholder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8C1E0818-3B43-029C-20CB-2E1464A81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300" y="1847850"/>
            <a:ext cx="8095512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25D1F-44E4-F6AD-2823-DE25FFDB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D83F-97EF-1BF2-50AA-CA6873F1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DA4850-7B25-43EC-4E6F-CEA1F4AD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36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A21D-E5E9-B28E-CF93-848D4AACB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357F-1169-E904-0987-798CA2EFA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fr-FR" dirty="0"/>
              <a:t>Example 3: SOLID Principles </a:t>
            </a:r>
            <a:br>
              <a:rPr lang="fr-FR" dirty="0"/>
            </a:br>
            <a:r>
              <a:rPr lang="en-GB" dirty="0"/>
              <a:t>Implementation</a:t>
            </a:r>
          </a:p>
        </p:txBody>
      </p:sp>
      <p:pic>
        <p:nvPicPr>
          <p:cNvPr id="9" name="Content Placeholder 8" descr="A computer code on a white background&#10;&#10;Description automatically generated">
            <a:extLst>
              <a:ext uri="{FF2B5EF4-FFF2-40B4-BE49-F238E27FC236}">
                <a16:creationId xmlns:a16="http://schemas.microsoft.com/office/drawing/2014/main" id="{ED92B111-AB61-AF5B-753E-EEFFF1681C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8288264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7B94-0C0D-0599-B60E-EA54F04E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79500-B0D0-329D-6F12-C559121D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67574-5002-CCD7-4CCC-FB486733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995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20C9-F351-59C6-0A36-ED539A297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4: Design Patterns </a:t>
            </a:r>
            <a:br>
              <a:rPr lang="en-GB" dirty="0"/>
            </a:br>
            <a:r>
              <a:rPr lang="en-GB" dirty="0"/>
              <a:t>Implementation</a:t>
            </a:r>
          </a:p>
        </p:txBody>
      </p:sp>
      <p:pic>
        <p:nvPicPr>
          <p:cNvPr id="8" name="Content Placeholder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51864C5-CB1B-E8E4-FEDC-560741D03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6852500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C599C-CCFA-9999-3EC5-4FADAA2B4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DEE1-4B4A-C5F2-B7C1-BB0F02C3C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00103F-419A-5BCE-CF80-3BF04FD23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324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39F1F-C909-3111-D7C2-A66D8B3A3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ABA44-8692-7782-3D77-3ECDB893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4: Design Patterns </a:t>
            </a:r>
            <a:br>
              <a:rPr lang="en-GB" dirty="0"/>
            </a:br>
            <a:r>
              <a:rPr lang="en-GB" dirty="0"/>
              <a:t>Implementation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1FEC0D7-50D2-5172-5453-F218527169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6064581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B002A-8183-A999-96C5-441468CA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EF12F-502B-6617-71AC-592E896D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A8B49-5AB3-E111-F60C-0A826DE9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867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4765A-3638-6721-EA55-EEC23659E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B04F-AC04-BFE6-85F8-800C4F18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GB" dirty="0"/>
              <a:t>Example 4: Design Patterns </a:t>
            </a:r>
            <a:br>
              <a:rPr lang="en-GB" dirty="0"/>
            </a:br>
            <a:r>
              <a:rPr lang="en-GB" dirty="0"/>
              <a:t>Implementation</a:t>
            </a:r>
          </a:p>
        </p:txBody>
      </p:sp>
      <p:pic>
        <p:nvPicPr>
          <p:cNvPr id="9" name="Content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D6A0716-E7C3-8212-C31B-1AF868A840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47850"/>
            <a:ext cx="5195628" cy="4351338"/>
          </a:xfr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D4096-6F2E-9E2E-9319-23D8EAB5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AHMED EISSA (MDX)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865C1-FD89-9436-B0C5-CE6E9B27A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39A4E-FFC2-7261-0911-FCF9E95D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226A240-2C59-4E55-AFC4-FBF35E0F01C5}" type="slidenum">
              <a:rPr lang="en-GB" smtClean="0"/>
              <a:pPr>
                <a:spcAft>
                  <a:spcPts val="600"/>
                </a:spcAft>
              </a:pPr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0215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B7EA-63C5-7275-27EB-78BAD4FEE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Practice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4A266-679E-50DB-86A5-68AAEDE1A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1. SOLID Principles</a:t>
            </a:r>
          </a:p>
          <a:p>
            <a:pPr lvl="1"/>
            <a:r>
              <a:rPr lang="en-GB" dirty="0"/>
              <a:t>Refactor code to follow SOLID</a:t>
            </a:r>
          </a:p>
          <a:p>
            <a:pPr lvl="1"/>
            <a:r>
              <a:rPr lang="en-GB" dirty="0"/>
              <a:t>Identify violations</a:t>
            </a:r>
          </a:p>
          <a:p>
            <a:pPr lvl="1"/>
            <a:r>
              <a:rPr lang="en-GB" dirty="0"/>
              <a:t>Implement improvements</a:t>
            </a:r>
          </a:p>
          <a:p>
            <a:pPr marL="0" indent="0">
              <a:buNone/>
            </a:pPr>
            <a:r>
              <a:rPr lang="en-GB" dirty="0"/>
              <a:t>2. Design Patterns</a:t>
            </a:r>
          </a:p>
          <a:p>
            <a:pPr lvl="1"/>
            <a:r>
              <a:rPr lang="en-GB" dirty="0"/>
              <a:t>Implement multiple patterns</a:t>
            </a:r>
          </a:p>
          <a:p>
            <a:pPr lvl="1"/>
            <a:r>
              <a:rPr lang="en-GB" dirty="0"/>
              <a:t>Combine patterns</a:t>
            </a:r>
          </a:p>
          <a:p>
            <a:pPr lvl="1"/>
            <a:r>
              <a:rPr lang="en-GB" dirty="0"/>
              <a:t>Create real-world examples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51E01-5EE4-3C04-A34E-B0185964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02F95-A18D-36C1-C94C-AEB5AD7A5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95523-0AD3-0598-2276-3BB77DB30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4884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A58E-AFA0-1422-E7B5-023DA0E6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7CE70-F211-FCDB-6A3F-BAF2D11BA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Books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"Design Patterns: Elements of Reusable Object-Oriented Software" by Gamma et al.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"Clean Code: A Handbook of Agile Software Craftsmanship" by Robert C. Martin.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Patterns Book (Gang of Four)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Resources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Refactoring Guru - Design Patterns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SOLID Principles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GeeksforGeeks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C# Design Pattern Examples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Studio Code snippets for design patterns.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design pattern playgrounds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Dofactory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GB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741BB-1E02-BF32-999B-DA75B1B6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AHMED EISSA (MDX)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B6EF-4DDC-0D3B-742B-5841FFE0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CST2550 - 2025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C0DC6-7025-1AB0-C44F-0CEEC886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6A240-2C59-4E55-AFC4-FBF35E0F01C5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18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965</Words>
  <Application>Microsoft Office PowerPoint</Application>
  <PresentationFormat>Widescreen</PresentationFormat>
  <Paragraphs>183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CST2550 - 2025 Software Engineering and Management</vt:lpstr>
      <vt:lpstr>Learning Objectives</vt:lpstr>
      <vt:lpstr>1. SOLID Principles </vt:lpstr>
      <vt:lpstr>Mastering SOLID Principles</vt:lpstr>
      <vt:lpstr>Single Responsibility Principle (SRP)</vt:lpstr>
      <vt:lpstr>Single Responsibility Principle (SRP)</vt:lpstr>
      <vt:lpstr>Open/Closed Principle (OCP)</vt:lpstr>
      <vt:lpstr>Open/Closed Principle (OCP)</vt:lpstr>
      <vt:lpstr>Interface Segregation Principle (ISP)</vt:lpstr>
      <vt:lpstr>Interface Segregation Principle (ISP)</vt:lpstr>
      <vt:lpstr>2. Design Patterns </vt:lpstr>
      <vt:lpstr>Creational Patterns</vt:lpstr>
      <vt:lpstr>Structural Patterns</vt:lpstr>
      <vt:lpstr>Structural Patterns</vt:lpstr>
      <vt:lpstr>Behavioural Patterns</vt:lpstr>
      <vt:lpstr>Behavioural Patterns</vt:lpstr>
      <vt:lpstr>3. Practical Examples </vt:lpstr>
      <vt:lpstr>Example 1: Factory Pattern</vt:lpstr>
      <vt:lpstr>Example 2: Strategy Pattern</vt:lpstr>
      <vt:lpstr>Example 3: SOLID Principles  Implementation</vt:lpstr>
      <vt:lpstr>Example 3: SOLID Principles  Implementation</vt:lpstr>
      <vt:lpstr>Example 3: SOLID Principles  Implementation</vt:lpstr>
      <vt:lpstr>Example 4: Design Patterns  Implementation</vt:lpstr>
      <vt:lpstr>Example 4: Design Patterns  Implementation</vt:lpstr>
      <vt:lpstr>Example 4: Design Patterns  Implementation</vt:lpstr>
      <vt:lpstr>Practice Exercises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Eissa</dc:creator>
  <cp:lastModifiedBy>Ahmed Eissa</cp:lastModifiedBy>
  <cp:revision>159</cp:revision>
  <dcterms:created xsi:type="dcterms:W3CDTF">2025-01-02T01:36:07Z</dcterms:created>
  <dcterms:modified xsi:type="dcterms:W3CDTF">2026-03-26T04:54:59Z</dcterms:modified>
</cp:coreProperties>
</file>