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300" r:id="rId3"/>
    <p:sldId id="302" r:id="rId4"/>
    <p:sldId id="301" r:id="rId5"/>
    <p:sldId id="303" r:id="rId6"/>
    <p:sldId id="304" r:id="rId7"/>
    <p:sldId id="305" r:id="rId8"/>
    <p:sldId id="306" r:id="rId9"/>
    <p:sldId id="307" r:id="rId10"/>
    <p:sldId id="308" r:id="rId11"/>
    <p:sldId id="309" r:id="rId12"/>
    <p:sldId id="312" r:id="rId13"/>
    <p:sldId id="311" r:id="rId14"/>
    <p:sldId id="313" r:id="rId15"/>
    <p:sldId id="314" r:id="rId16"/>
    <p:sldId id="315" r:id="rId17"/>
    <p:sldId id="316" r:id="rId18"/>
    <p:sldId id="317" r:id="rId19"/>
    <p:sldId id="318" r:id="rId20"/>
    <p:sldId id="319" r:id="rId21"/>
    <p:sldId id="320" r:id="rId22"/>
    <p:sldId id="321" r:id="rId23"/>
    <p:sldId id="322" r:id="rId24"/>
    <p:sldId id="323" r:id="rId25"/>
    <p:sldId id="324" r:id="rId26"/>
    <p:sldId id="325" r:id="rId27"/>
    <p:sldId id="326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581" autoAdjust="0"/>
  </p:normalViewPr>
  <p:slideViewPr>
    <p:cSldViewPr snapToGrid="0">
      <p:cViewPr varScale="1">
        <p:scale>
          <a:sx n="74" d="100"/>
          <a:sy n="74" d="100"/>
        </p:scale>
        <p:origin x="126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DD672D-DBE8-4B12-854D-E44585C44C58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28C0A3-43DB-4CD2-8C24-2AF18E3D50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6788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1F1F1F"/>
                </a:solidFill>
                <a:effectLst/>
                <a:latin typeface="Google Sans"/>
              </a:rPr>
              <a:t>The </a:t>
            </a:r>
            <a:r>
              <a:rPr lang="en-GB" b="0" i="0" dirty="0" err="1">
                <a:solidFill>
                  <a:srgbClr val="1F1F1F"/>
                </a:solidFill>
                <a:effectLst/>
                <a:latin typeface="Google Sans"/>
              </a:rPr>
              <a:t>Hashtable</a:t>
            </a:r>
            <a:r>
              <a:rPr lang="en-GB" b="0" i="0" dirty="0">
                <a:solidFill>
                  <a:srgbClr val="1F1F1F"/>
                </a:solidFill>
                <a:effectLst/>
                <a:latin typeface="Google Sans"/>
              </a:rPr>
              <a:t> in C# is </a:t>
            </a:r>
            <a:r>
              <a:rPr lang="en-GB" b="0" i="0" dirty="0">
                <a:solidFill>
                  <a:srgbClr val="040C28"/>
                </a:solidFill>
                <a:effectLst/>
                <a:latin typeface="Google Sans"/>
              </a:rPr>
              <a:t>a collection that stores (Keys, Values) pairs</a:t>
            </a:r>
            <a:r>
              <a:rPr lang="en-GB" b="0" i="0" dirty="0">
                <a:solidFill>
                  <a:srgbClr val="1F1F1F"/>
                </a:solidFill>
                <a:effectLst/>
                <a:latin typeface="Google Sans"/>
              </a:rPr>
              <a:t>. Here, the Keys are used to find the storage location. A </a:t>
            </a:r>
            <a:r>
              <a:rPr lang="en-GB" b="0" i="0" dirty="0" err="1">
                <a:solidFill>
                  <a:srgbClr val="1F1F1F"/>
                </a:solidFill>
                <a:effectLst/>
                <a:latin typeface="Google Sans"/>
              </a:rPr>
              <a:t>HashTable</a:t>
            </a:r>
            <a:r>
              <a:rPr lang="en-GB" b="0" i="0" dirty="0">
                <a:solidFill>
                  <a:srgbClr val="1F1F1F"/>
                </a:solidFill>
                <a:effectLst/>
                <a:latin typeface="Google Sans"/>
              </a:rPr>
              <a:t> is immutable and cannot have duplicate entries.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28C0A3-43DB-4CD2-8C24-2AF18E3D50E7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7658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0C0D0E"/>
                </a:solidFill>
                <a:effectLst/>
                <a:latin typeface="-apple-system"/>
              </a:rPr>
              <a:t>If you meant "why do we use the </a:t>
            </a:r>
            <a:r>
              <a:rPr lang="en-GB" dirty="0"/>
              <a:t>Dictionary&lt;</a:t>
            </a:r>
            <a:r>
              <a:rPr lang="en-GB" dirty="0" err="1"/>
              <a:t>TKey</a:t>
            </a:r>
            <a:r>
              <a:rPr lang="en-GB" dirty="0"/>
              <a:t>, TValue&gt;</a:t>
            </a:r>
            <a:r>
              <a:rPr lang="en-GB" b="0" i="0" dirty="0">
                <a:solidFill>
                  <a:srgbClr val="0C0D0E"/>
                </a:solidFill>
                <a:effectLst/>
                <a:latin typeface="-apple-system"/>
              </a:rPr>
              <a:t> class instead of the </a:t>
            </a:r>
            <a:r>
              <a:rPr lang="en-GB" dirty="0" err="1"/>
              <a:t>Hashtable</a:t>
            </a:r>
            <a:r>
              <a:rPr lang="en-GB" b="0" i="0" dirty="0">
                <a:solidFill>
                  <a:srgbClr val="0C0D0E"/>
                </a:solidFill>
                <a:effectLst/>
                <a:latin typeface="-apple-system"/>
              </a:rPr>
              <a:t> class?", then it's an easy answer: </a:t>
            </a:r>
            <a:r>
              <a:rPr lang="en-GB" dirty="0"/>
              <a:t>Dictionary&lt;</a:t>
            </a:r>
            <a:r>
              <a:rPr lang="en-GB" dirty="0" err="1"/>
              <a:t>TKey</a:t>
            </a:r>
            <a:r>
              <a:rPr lang="en-GB" dirty="0"/>
              <a:t>, TValue&gt;</a:t>
            </a:r>
            <a:r>
              <a:rPr lang="en-GB" b="0" i="0" dirty="0">
                <a:solidFill>
                  <a:srgbClr val="0C0D0E"/>
                </a:solidFill>
                <a:effectLst/>
                <a:latin typeface="-apple-system"/>
              </a:rPr>
              <a:t> is a generic type, </a:t>
            </a:r>
            <a:r>
              <a:rPr lang="en-GB" dirty="0" err="1"/>
              <a:t>Hashtable</a:t>
            </a:r>
            <a:r>
              <a:rPr lang="en-GB" b="0" i="0" dirty="0">
                <a:solidFill>
                  <a:srgbClr val="0C0D0E"/>
                </a:solidFill>
                <a:effectLst/>
                <a:latin typeface="-apple-system"/>
              </a:rPr>
              <a:t> is not. That means you get type safety with </a:t>
            </a:r>
            <a:r>
              <a:rPr lang="en-GB" dirty="0"/>
              <a:t>Dictionary&lt;</a:t>
            </a:r>
            <a:r>
              <a:rPr lang="en-GB" dirty="0" err="1"/>
              <a:t>TKey</a:t>
            </a:r>
            <a:r>
              <a:rPr lang="en-GB" dirty="0"/>
              <a:t>, TValue&gt;</a:t>
            </a:r>
            <a:r>
              <a:rPr lang="en-GB" b="0" i="0" dirty="0">
                <a:solidFill>
                  <a:srgbClr val="0C0D0E"/>
                </a:solidFill>
                <a:effectLst/>
                <a:latin typeface="-apple-system"/>
              </a:rPr>
              <a:t>, because you can't insert any random object into it, and you don't have to cast the values you take out.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28C0A3-43DB-4CD2-8C24-2AF18E3D50E7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2878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2C234-AC4D-C9CC-038D-569BC78D50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A687B4-5A97-FB1D-F350-738C41B37D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ECBF2-560F-30FA-E516-F6034D45A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B6FA9-FF2A-143D-4D5E-47F021649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FE763-201B-CAAB-2287-8784D52B5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D8ACCC-5094-92D8-C580-39979927B7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3397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970CB-773F-5BD9-B294-B3367CF32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AB1E6-0FE9-7CBB-9653-8AA11B5FE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E7ADF-777E-ED70-B894-5BFFCDF1F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AA102-468D-99F3-432C-7FF4D09D0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850CA-29A7-9D14-CF58-86BCCF152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14962D-15E5-6E85-6A47-E5EEF3DAED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3878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0205B-78E3-2F23-6ABF-0CE19FD6F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DB0E3-4075-39E1-B77D-5D20D3AB9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98C77-AB8B-A963-A7AE-583338FBF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6826A-4BDD-12B6-0F52-C0154F58E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1FE20-2E2B-76C9-2F45-0E9DD468D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B01278-13EA-8AAA-272C-9FCB6489C4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3187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24AFA-E7B3-BE67-20D7-091049F2B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C2F08-E56A-04F6-2592-E40C13FA33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4A1096-7883-5AB0-2F7F-9318698CA1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E09268-D370-C09A-E5DF-974A779B5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F168A-D81A-1CB3-3D95-F5C6111DC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D00216-208F-FF71-7C2C-2E340EBAB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05CCFD-731C-3F6E-F198-0C5FD341B5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6051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8C7A3-498E-DB5E-4EAB-000AED1E5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90391A-078B-1620-D37C-28FE74805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8AF0FA-4D10-05D4-C0E6-607926B355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73CF3A-2BFD-BC0C-86D1-84661F8C2F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60641A-D012-3000-BFE8-B954347817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12F0AB-3542-BEF6-8F1B-C282EAF38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D31962-01BB-CECE-37BE-5CA011D58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4EC866-492E-17D1-D8C6-E4471352D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B27C04-FA99-5D8F-2D3A-800238BE01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0461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03B10-FCCE-7F09-0DDE-E4BE15EB9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5E9E38-CE69-883A-4AAD-EE9D2C8D1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10B7DB-46C5-6D80-9441-E64C26CF8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51640-9498-D0B6-107F-507996016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3A71F3-51E3-F25F-4B2C-18F306B2C8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51045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416F58-1C5B-5E1A-10A1-6CD518E62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CE5C74-C6B9-E79B-142E-047C8632F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76EA75-9B59-23CC-D253-E87C49033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4EBFFA-0061-AAEE-AECD-306E68697DB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0686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38A0E-55A6-BD95-F29A-A32063139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AEBF9-0281-3DBC-0CA0-1D9908B96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07112A-8CD6-BD77-EADA-1FC41F1ED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1AC69C-37AD-3FC9-BFBE-76D3EAE56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79E6C-108C-CC60-669E-39F435159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116298-B593-4215-4605-F9573D143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F3076E-1B17-8011-5098-FF7E36EA8F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93456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28F05-3D4A-26B8-ED38-A13C1EC10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4D0A45-5FC8-BEED-00C3-227B944245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3B9D69-4DB4-303B-D632-B66F59B72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1DC2B9-9F1A-CD0E-4033-C3B2E1DB3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8FC915-58EA-15A0-6521-B8E442477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71ECA-55CD-1BA9-06EC-66608E071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098DD0-62B4-686B-E5DF-862CD79318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15013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68E61-5DD2-7F9F-5270-527A15E75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6882DD-994A-B002-95BE-48FD4F9863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E1E85-23A2-4E56-EF4A-4714D630C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366D2-10D0-6485-1338-02EEE961F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63ED1-3CFD-4726-C844-306C271D2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8C0C5F-F389-A40E-53AD-B88ACB5CA8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80993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730358-9638-B963-E90C-157B59C6FB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F4221B-8C63-1713-45F5-127F10453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18343-E739-1068-3356-C92E1B8E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956E9-F1DE-C8F0-733D-E3F9D331F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92A18-BA3D-497B-8849-CC73CAD42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F495A2-758F-1E69-DF35-6BA46C05D3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0748645" y="5331460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3775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E306F9-55ED-09E0-26A8-0FFF51581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C74E9-62CB-A0DA-D68A-4C0CAABCC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A8E49-2440-3CEA-A11A-A9797A6D0D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104E2-47F2-B7E0-20EA-4B768F4A75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3F8BC-E920-FEDE-9ED4-F6F5E885F4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04D04F-5161-A3E8-A3D6-9B218BCC3481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28905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.eissa@mdx.ac.u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FEA0B-AE48-8664-72F5-BCFB15A49A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CST2550 - 2025</a:t>
            </a:r>
            <a:br>
              <a:rPr lang="en-GB" dirty="0"/>
            </a:br>
            <a:r>
              <a:rPr lang="en-GB" dirty="0"/>
              <a:t>Software Engineering and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675EF1-AEF1-C497-0E1A-BA096886A7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endParaRPr lang="en-GB" sz="1800" b="1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en-US" sz="26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Week 4: Advanced Data Structures - Graphs and Hash Tables</a:t>
            </a:r>
          </a:p>
          <a:p>
            <a:endParaRPr lang="de-DE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de-DE" sz="2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Ahmed Eissa</a:t>
            </a:r>
          </a:p>
          <a:p>
            <a:r>
              <a:rPr lang="de-DE" sz="2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2"/>
              </a:rPr>
              <a:t>a.eissa@mdx.ac.uk</a:t>
            </a:r>
            <a:r>
              <a:rPr lang="de-DE" sz="2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GB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089192-F369-9539-6F17-D4851E7B1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E469B5-9CC3-A1E5-D797-527239D28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B6599-D4BA-2C9D-50AA-542D7EEAE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3468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66E1C-594C-7A5F-6A89-27CF95C38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A1AF0-0B58-FE56-083D-4D6F22950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Understand complex data structures.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 graph algorithms.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Master hash table concepts.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2F5D0-D8AD-9757-362F-EC5C28036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643D5-7BF0-7B58-2B53-4A7CB59E6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B9D0E-20FE-6EB6-81F2-6020B932F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5439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40C89-9E0B-4FE0-9BF6-107309065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1. Hash Tables</a:t>
            </a:r>
            <a:br>
              <a:rPr lang="en-GB" b="1" dirty="0"/>
            </a:b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88457-51DE-D5B2-7C2E-286DB8B30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E8C59-EA9C-828A-803C-A2008F65E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0ED0D-0301-2BD9-07D4-FF19D377F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4493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6C560-A287-2D0E-B63F-7A0BB531A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Concept Overview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D2540-D178-94DD-1683-97156A9F3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+mj-lt"/>
              <a:buAutoNum type="arabicPeriod"/>
            </a:pPr>
            <a:r>
              <a:rPr lang="en-US" b="1" dirty="0"/>
              <a:t>Hash Function Principles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Converts input (key) into a fixed-size integer, the hash code.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Ensures uniform distribution to </a:t>
            </a:r>
            <a:r>
              <a:rPr lang="en-US" dirty="0" err="1"/>
              <a:t>minimise</a:t>
            </a:r>
            <a:r>
              <a:rPr lang="en-US" dirty="0"/>
              <a:t> collisions.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Collision Resolution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Separate Chaining</a:t>
            </a:r>
            <a:r>
              <a:rPr lang="en-US" dirty="0"/>
              <a:t>: Stores collided keys in a linked list or other structure.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Open Addressing</a:t>
            </a:r>
            <a:r>
              <a:rPr lang="en-US" dirty="0"/>
              <a:t>: Finds the next available slot using methods like linear probing or quadratic probing.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Load Factor and Resizing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Load Factor</a:t>
            </a:r>
            <a:r>
              <a:rPr lang="en-US" dirty="0"/>
              <a:t>: The ratio of stored elements to the number of slots.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Resizing</a:t>
            </a:r>
            <a:r>
              <a:rPr lang="en-US" dirty="0"/>
              <a:t>: Rehashing to a larger table size when the load factor exceeds a threshold.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AABE1-3C04-B650-8E48-774047054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022ED-FDBE-6B99-C374-1729AC4DA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D9709-BD6A-2012-17C7-D984388EB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230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4B88C-0E98-7F75-470E-FF4530ACF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Implementation Considerations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157A0-35DA-C933-A45E-6D7204348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Choosing Hash Functions</a:t>
            </a:r>
          </a:p>
          <a:p>
            <a:pPr lvl="1"/>
            <a:r>
              <a:rPr lang="en-GB" dirty="0"/>
              <a:t>Must be deterministic, uniform, and efficient.</a:t>
            </a:r>
          </a:p>
          <a:p>
            <a:pPr lvl="1"/>
            <a:endParaRPr lang="en-GB" dirty="0"/>
          </a:p>
          <a:p>
            <a:r>
              <a:rPr lang="en-GB" dirty="0"/>
              <a:t>Handling Collisions</a:t>
            </a:r>
          </a:p>
          <a:p>
            <a:pPr lvl="1"/>
            <a:r>
              <a:rPr lang="en-GB" dirty="0"/>
              <a:t>Effective collision resolution strategies ensure optimal performance.</a:t>
            </a:r>
          </a:p>
          <a:p>
            <a:pPr lvl="1"/>
            <a:endParaRPr lang="en-GB" dirty="0"/>
          </a:p>
          <a:p>
            <a:r>
              <a:rPr lang="en-GB" dirty="0"/>
              <a:t>Performance Optimisation</a:t>
            </a:r>
          </a:p>
          <a:p>
            <a:pPr lvl="1"/>
            <a:r>
              <a:rPr lang="en-GB" dirty="0"/>
              <a:t>Aim for O(1) average-case time complexity for insertion, deletion, and search.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46F54-9A21-3CA2-838B-510DB3A95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CA47D-DF4F-18D4-B9A9-78500AD56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B0724-4C44-B627-EAC0-F54562CF5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494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CEB5F-0ADA-1FCE-7983-1E3E24A68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5D7FF-7672-64F7-4C49-028339627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2. Graphs</a:t>
            </a:r>
            <a:br>
              <a:rPr lang="en-GB" b="1" dirty="0"/>
            </a:br>
            <a:endParaRPr lang="en-GB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4BE87-B6FA-04B1-F9A0-F19735353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D792A-C575-C46F-7AA2-E2739A18C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C2927-A759-76FF-3D1F-54D4ED3BD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6324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A01FA-C863-E0D8-E9A1-DCCD7E7B5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Graph Fundamentals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06C05-2629-4984-AFAD-7035B4ECE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b="1" dirty="0"/>
              <a:t>Vertices and Edges</a:t>
            </a:r>
            <a:endParaRPr lang="en-US" dirty="0"/>
          </a:p>
          <a:p>
            <a:pPr lvl="1"/>
            <a:r>
              <a:rPr lang="en-US" b="1" dirty="0"/>
              <a:t>Vertices</a:t>
            </a:r>
            <a:r>
              <a:rPr lang="en-US" dirty="0"/>
              <a:t>: Nodes representing entities.</a:t>
            </a:r>
          </a:p>
          <a:p>
            <a:pPr lvl="1"/>
            <a:r>
              <a:rPr lang="en-US" b="1" dirty="0"/>
              <a:t>Edges</a:t>
            </a:r>
            <a:r>
              <a:rPr lang="en-US" dirty="0"/>
              <a:t>: Connections between vertices, representing relationships.</a:t>
            </a:r>
          </a:p>
          <a:p>
            <a:pPr marL="457200" lvl="1" indent="0">
              <a:buNone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Directed vs Undirected Graphs</a:t>
            </a:r>
            <a:endParaRPr lang="en-US" dirty="0"/>
          </a:p>
          <a:p>
            <a:pPr lvl="1"/>
            <a:r>
              <a:rPr lang="en-US" b="1" dirty="0"/>
              <a:t>Directed Graphs</a:t>
            </a:r>
            <a:r>
              <a:rPr lang="en-US" dirty="0"/>
              <a:t>: Edges have a direction (e.g., one-way streets).</a:t>
            </a:r>
          </a:p>
          <a:p>
            <a:pPr lvl="1"/>
            <a:r>
              <a:rPr lang="en-US" b="1" dirty="0"/>
              <a:t>Undirected Graphs</a:t>
            </a:r>
            <a:r>
              <a:rPr lang="en-US" dirty="0"/>
              <a:t>: Edges have no direction (e.g., mutual friendships).</a:t>
            </a:r>
          </a:p>
          <a:p>
            <a:pPr marL="457200" lvl="1" indent="0">
              <a:buNone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Weighted Graphs</a:t>
            </a:r>
            <a:endParaRPr lang="en-US" dirty="0"/>
          </a:p>
          <a:p>
            <a:pPr lvl="1"/>
            <a:r>
              <a:rPr lang="en-US" dirty="0"/>
              <a:t>Edges have weights to represent costs or distances.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2EE8-2076-8305-3E70-BF3CA0FA5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6934F-CEB6-50F8-D2CC-A1FCA8F73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323DD-595E-D46C-6B8A-EE370D657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3556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01820-46CB-7AFC-6ED1-3A4EEC089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6446A-515B-19AC-540F-C0D920235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Graph Fundamentals (Examples)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B1B75-369B-8032-A174-DC99C2738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319F2-F7BE-BD9A-29EC-792405EA2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2C09E-FCD1-70F1-AD6A-9B0106339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8</a:t>
            </a:fld>
            <a:endParaRPr lang="en-GB" dirty="0"/>
          </a:p>
        </p:txBody>
      </p:sp>
      <p:pic>
        <p:nvPicPr>
          <p:cNvPr id="2050" name="Picture 2" descr="Graph Basics Explained: From Vertex to Edges | by Reena Rote | Stackademic">
            <a:extLst>
              <a:ext uri="{FF2B5EF4-FFF2-40B4-BE49-F238E27FC236}">
                <a16:creationId xmlns:a16="http://schemas.microsoft.com/office/drawing/2014/main" id="{8C68D520-6350-A8CA-374F-A84C2F1B9C3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18010"/>
            <a:ext cx="5993537" cy="2427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irected graph with its vertices are labeled with numbers and its edges...  | Download Scientific Diagram">
            <a:extLst>
              <a:ext uri="{FF2B5EF4-FFF2-40B4-BE49-F238E27FC236}">
                <a16:creationId xmlns:a16="http://schemas.microsoft.com/office/drawing/2014/main" id="{87FC0581-AD07-A4DB-008D-2042982A8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6888" y="1218010"/>
            <a:ext cx="4409123" cy="2308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Weighted graph · Hyperskill">
            <a:extLst>
              <a:ext uri="{FF2B5EF4-FFF2-40B4-BE49-F238E27FC236}">
                <a16:creationId xmlns:a16="http://schemas.microsoft.com/office/drawing/2014/main" id="{0A858546-D625-FF5E-DC7C-885AE2FCEA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5110" y="3674271"/>
            <a:ext cx="3756457" cy="2646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In a weighted graph, Is zero allowed as an edge's weight? - GeeksforGeeks">
            <a:extLst>
              <a:ext uri="{FF2B5EF4-FFF2-40B4-BE49-F238E27FC236}">
                <a16:creationId xmlns:a16="http://schemas.microsoft.com/office/drawing/2014/main" id="{A1ABA40D-074C-D8B5-211B-190FB3ED37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310" y="3632470"/>
            <a:ext cx="4114800" cy="2717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4044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9DC8B-622F-181B-70D5-BC165CE08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Graph Algorithms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677C9-8416-64ED-EDE4-E8552E29A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b="1" dirty="0"/>
              <a:t>Depth-First Search (DFS)</a:t>
            </a:r>
            <a:endParaRPr lang="en-US" dirty="0"/>
          </a:p>
          <a:p>
            <a:pPr lvl="1"/>
            <a:r>
              <a:rPr lang="en-US" dirty="0"/>
              <a:t>Explores as far as possible along each branch before backtracking.</a:t>
            </a:r>
          </a:p>
          <a:p>
            <a:pPr lvl="1"/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Breadth-First Search (BFS)</a:t>
            </a:r>
            <a:endParaRPr lang="en-US" dirty="0"/>
          </a:p>
          <a:p>
            <a:pPr lvl="1"/>
            <a:r>
              <a:rPr lang="en-US" dirty="0"/>
              <a:t>Explores all vertices at the current depth level before moving deeper.</a:t>
            </a:r>
          </a:p>
          <a:p>
            <a:pPr lvl="1"/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Shortest Path Algorithms</a:t>
            </a:r>
            <a:endParaRPr lang="en-US" dirty="0"/>
          </a:p>
          <a:p>
            <a:pPr lvl="1"/>
            <a:r>
              <a:rPr lang="en-US" b="1" dirty="0"/>
              <a:t>Dijkstra’s Algorithm</a:t>
            </a:r>
            <a:r>
              <a:rPr lang="en-US" dirty="0"/>
              <a:t>: Finds the shortest path from a source vertex to all other vertices in a weighted graph.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D3138-7630-A59E-6927-F9AA91C3B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15623-CA47-F4D6-6D9D-382868188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34E0D-FB81-CBFF-9D2C-D5E90891B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8596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C2D55-992A-B4A7-8B79-0D79A85D1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Summary and Q&amp;A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203A9-B7EE-4616-EEA3-2D3327EC1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Hash Tables</a:t>
            </a:r>
            <a:r>
              <a:rPr lang="en-GB" dirty="0"/>
              <a:t>: Key principles, collision handling, and implementation considerations.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Graphs</a:t>
            </a:r>
            <a:r>
              <a:rPr lang="en-GB" dirty="0"/>
              <a:t>: Fundamental concepts and traversal/search algorithms.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Dijkstra’s Algorithm</a:t>
            </a:r>
            <a:r>
              <a:rPr lang="en-GB" dirty="0"/>
              <a:t>: Practical example of finding shortest paths.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E055F-6412-B07F-E21F-FD9420FE2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6D8A7-AE94-5081-4C31-C701C3B7A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03D81-E716-FBFE-4C84-836AECD12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9041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7A52C-1B4F-33E8-7A51-D3112A594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Questions for Discussion</a:t>
            </a:r>
            <a:r>
              <a:rPr lang="en-GB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BD581-6F67-C32C-C22A-B8F4E4BE7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are the trade-offs between separate chaining and open addressing in hash tables?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 would you adapt Dijkstra’s Algorithm for a directed graph?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scenarios might require </a:t>
            </a:r>
            <a:r>
              <a:rPr lang="en-US" dirty="0" err="1"/>
              <a:t>prioritising</a:t>
            </a:r>
            <a:r>
              <a:rPr lang="en-US" dirty="0"/>
              <a:t> BFS over DFS?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AEC9F-E5A5-D344-9FA7-E31840085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E7446-30C5-46D2-80F7-882EFD98A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FE153-CDBB-5BA6-ADF1-E9EFBAD83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883454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FFC2D-F90A-327B-B00F-92966ED45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Practical Examples</a:t>
            </a:r>
            <a:br>
              <a:rPr lang="en-GB" dirty="0"/>
            </a:b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D4D44-0820-BFA6-F7F0-DF351AA11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467E3-3F0E-DA29-2BFE-88A114E28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B8CE4-2B5C-C0EE-86B1-C24946BCB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4200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54509-7CE3-3BD5-1C19-556D89439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 Hash Table Implementation</a:t>
            </a:r>
            <a:endParaRPr lang="en-GB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9ADB53D-9FAE-AEE1-5EA1-937411B667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2500" y="1422286"/>
            <a:ext cx="10401300" cy="4754677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12F32-9EE3-2D25-7828-FBB18E082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38192-DBF9-FDD1-DFFF-5B8FDD16C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B6C47-8A34-1D42-460C-3378105FA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96569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8F6D4-A0B6-5E21-3ABD-2D3488163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D868B-805D-9056-4D46-622635CB2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 Hash Table Implementation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F3F95-9EFC-8963-A5CB-EB4D66E0F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3E3A8-61C4-27D8-4A46-263122842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2CA2A-F30F-7B33-6D37-0B6842952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14</a:t>
            </a:fld>
            <a:endParaRPr lang="en-GB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F221AC0-BE6C-DF27-D219-A0B2F902BC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5962" y="1494935"/>
            <a:ext cx="10140076" cy="4861415"/>
          </a:xfrm>
        </p:spPr>
      </p:pic>
    </p:spTree>
    <p:extLst>
      <p:ext uri="{BB962C8B-B14F-4D97-AF65-F5344CB8AC3E}">
        <p14:creationId xmlns:p14="http://schemas.microsoft.com/office/powerpoint/2010/main" val="14937427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70486-8F35-8759-E4B9-78DFC73CE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F56E1-C2BA-C2F5-7974-CE6A20ABE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 Hash Table Implementation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06C96-21E0-2001-8A02-D10F96BDC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CEFE5-5F5C-33DB-6644-987F5CADE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FA50B-549E-DD13-512B-C4A1C131D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15</a:t>
            </a:fld>
            <a:endParaRPr lang="en-GB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B698212-4641-9C35-78C6-3C84ED00A6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2500" y="1261122"/>
            <a:ext cx="10401300" cy="4915841"/>
          </a:xfrm>
        </p:spPr>
      </p:pic>
    </p:spTree>
    <p:extLst>
      <p:ext uri="{BB962C8B-B14F-4D97-AF65-F5344CB8AC3E}">
        <p14:creationId xmlns:p14="http://schemas.microsoft.com/office/powerpoint/2010/main" val="1626905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8BF20-AE03-6DBB-5227-C6043C010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C9E4C-DD8C-F03F-4358-9D5A7589A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 Hash Table Implementation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0DAF8-14A3-AD69-8979-329D7DC37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69928-D368-A730-2BC9-B705BE3D4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5BE74-1E80-730A-B8B4-8FA32A22F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16</a:t>
            </a:fld>
            <a:endParaRPr lang="en-GB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E21FE8E-78F2-1212-7691-8F2AB7B8F8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2886" y="1276349"/>
            <a:ext cx="10440913" cy="4923675"/>
          </a:xfrm>
        </p:spPr>
      </p:pic>
    </p:spTree>
    <p:extLst>
      <p:ext uri="{BB962C8B-B14F-4D97-AF65-F5344CB8AC3E}">
        <p14:creationId xmlns:p14="http://schemas.microsoft.com/office/powerpoint/2010/main" val="11021445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6BC20-E637-A254-3E52-DD68515F6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2: Graph Implementation and Algorithms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9F062B5-D100-EB3A-E316-E17CDA3AED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56704"/>
            <a:ext cx="10582275" cy="4799646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7D148-5687-54B3-9115-5B4CD5EC9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1C3FDD-7D08-155C-4F69-561DEE418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2B1FD-015E-2DC2-B13E-DFB06FE7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959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295C4-69BE-C49E-1E13-A53E3D085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2A718-2AC2-531A-193A-8FC7E8DB9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2: Graph Implementation and Algorithms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5B438-E267-E46B-A789-529A570AE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828A0-16FC-DE0A-B4EB-C996C81C3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1F201-6979-23CB-1D5A-21D098090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18</a:t>
            </a:fld>
            <a:endParaRPr lang="en-GB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05DEA11-B7F6-EBE4-1F11-BAC7EF28C3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3229" y="2296081"/>
            <a:ext cx="10145541" cy="3410426"/>
          </a:xfrm>
        </p:spPr>
      </p:pic>
    </p:spTree>
    <p:extLst>
      <p:ext uri="{BB962C8B-B14F-4D97-AF65-F5344CB8AC3E}">
        <p14:creationId xmlns:p14="http://schemas.microsoft.com/office/powerpoint/2010/main" val="4053473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E3C0D-80D1-EF0F-BFBB-2FC54DF89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9BD39-4F42-29EC-E4C5-26B66D854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2: Graph Implementation and Algorithms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6D50B-51FF-C925-53FA-358A51B5C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5C5C5-7C89-6FA7-BB8A-A369628B3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106CB-2782-0BCF-AC40-4F58B5D25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19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A67642-98B1-82CE-3FA2-4F9B44B3A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68275"/>
            <a:ext cx="10196264" cy="4466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6409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DA40B-8F9D-B922-A386-F3582606D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EC5D4-54D2-D763-C4CB-12CCC4C6C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2: Graph Implementation and Algorithms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A81F9-BD7C-C160-7458-E0521B02F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DC159-BFDA-90BB-5272-275C688F9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A976A-E2A9-DECD-D8F8-47AD2C6A3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20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E18C9B-48A3-6545-20CA-6982CE3DF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1690688"/>
            <a:ext cx="10515600" cy="466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0765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919D7-F534-7256-99AB-74B616B09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EAB87-BACE-6283-7DA3-313D7B3DA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3: Code Example for Dijkstra’s Algorithm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228EA-DDD7-EFFA-E343-BCE292CD9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36937-45AB-E53E-DCCA-B09D971CD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EB25F-EFEE-76B3-211F-94E251D89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21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DF32A4-E945-47CC-5968-60A11B78D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887" y="1690688"/>
            <a:ext cx="10182737" cy="368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9913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58D18-C69D-FE56-AE96-831C091B0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22D2D-B147-4F16-BBBE-CC45893A4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3: Code Example for Dijkstra’s Algorithm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CF28B-C602-D991-2B7C-A81ADA55F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51FD0-522E-C890-EC74-11C278743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B63B8-D680-9D25-1D21-8D7762C17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22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54E763-FD31-CA26-DD32-A7556C177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284" y="1669396"/>
            <a:ext cx="7278116" cy="468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1173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FAB44-AF04-B35C-D68A-6CBA71800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F9156-5774-7ADF-22B1-D811B85C6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Example 3: Code Example for Dijkstra’s Algorithm</a:t>
            </a:r>
          </a:p>
        </p:txBody>
      </p:sp>
      <p:pic>
        <p:nvPicPr>
          <p:cNvPr id="8" name="Picture 7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BA8B2171-1BE7-41DF-0239-9A2EBDEF8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257" y="1825625"/>
            <a:ext cx="7701485" cy="4351338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161DE-B1CA-8821-8241-DB2543A652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DAF56-3B9C-0EDB-9C83-68B6F4F58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25FC3-1EFA-21BF-B7FB-49850287E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226A240-2C59-4E55-AFC4-FBF35E0F01C5}" type="slidenum">
              <a:rPr lang="en-GB" smtClean="0"/>
              <a:pPr>
                <a:spcAft>
                  <a:spcPts val="600"/>
                </a:spcAft>
              </a:pPr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61505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1D658-2404-E7FC-5BA4-18329B306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CFD4A-1FFE-F424-36EF-375153CE2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Example 3: Code Example for Dijkstra’s Algorithm</a:t>
            </a: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A47D2700-2F47-3189-C5C9-10707088A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438" y="1825625"/>
            <a:ext cx="9511123" cy="4351338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4726A-25D9-700B-0995-E14B75B678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05A4B4-5635-8AC8-74A4-14EAA39D1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D6DF3-EB8B-9E46-6923-9006FEDA0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226A240-2C59-4E55-AFC4-FBF35E0F01C5}" type="slidenum">
              <a:rPr lang="en-GB" smtClean="0"/>
              <a:pPr>
                <a:spcAft>
                  <a:spcPts val="600"/>
                </a:spcAft>
              </a:pPr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1304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AE19-5367-2318-2738-D684F5156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3656A-9F33-3018-8ADE-E3E95092C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Hash Table Implementation</a:t>
            </a:r>
          </a:p>
          <a:p>
            <a:pPr lvl="1"/>
            <a:r>
              <a:rPr lang="en-GB" dirty="0"/>
              <a:t>Implement a hash table with linear probing</a:t>
            </a:r>
          </a:p>
          <a:p>
            <a:pPr lvl="1"/>
            <a:r>
              <a:rPr lang="en-GB" dirty="0"/>
              <a:t>Add methods for deletion and resizing</a:t>
            </a:r>
          </a:p>
          <a:p>
            <a:pPr lvl="1"/>
            <a:r>
              <a:rPr lang="en-GB" dirty="0"/>
              <a:t>Handle collisions using double hashing</a:t>
            </a:r>
          </a:p>
          <a:p>
            <a:pPr lvl="1"/>
            <a:endParaRPr lang="en-GB" dirty="0"/>
          </a:p>
          <a:p>
            <a:r>
              <a:rPr lang="en-GB" dirty="0"/>
              <a:t>Graph Algorithms</a:t>
            </a:r>
          </a:p>
          <a:p>
            <a:pPr lvl="1"/>
            <a:r>
              <a:rPr lang="en-GB" dirty="0"/>
              <a:t>Implement Dijkstra's shortest path algorithm</a:t>
            </a:r>
          </a:p>
          <a:p>
            <a:pPr lvl="1"/>
            <a:r>
              <a:rPr lang="en-GB" dirty="0"/>
              <a:t>Create a method to detect cycles in a graph</a:t>
            </a:r>
          </a:p>
          <a:p>
            <a:pPr lvl="1"/>
            <a:r>
              <a:rPr lang="en-GB" dirty="0"/>
              <a:t>Implement topological sorting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35020-D99E-0EA1-6831-4C86E35AA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1A1B3-341A-9BE3-A362-7384539C2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C0E41-C838-8C2E-80F4-D2375043B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91280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D49FE-916F-A40A-A070-28D247D31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Additional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24183-971A-69F4-5C20-E62961481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Graph Theory Fundamentals</a:t>
            </a:r>
          </a:p>
          <a:p>
            <a:r>
              <a:rPr lang="en-US" dirty="0"/>
              <a:t>Hash Table Design Considerations</a:t>
            </a:r>
          </a:p>
          <a:p>
            <a:r>
              <a:rPr lang="en-US" dirty="0"/>
              <a:t>Advanced Data Structures in C#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A5BF3-3044-C4BC-AF1B-DA0C39EF7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F1F2A-7961-5366-4B5F-8CA7F6343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FE4DB-8578-8A5E-6FAF-A90219253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079482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E2A49-EC95-ED35-4B90-23EFD07E5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Next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F84DA-ABF9-04C0-B92B-8F2E32B9E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Database and SQL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27EA6-464B-2EB5-AF74-23E0BCE76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D8639-6FF1-D054-2C93-80D66C0A5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02A27-8A0E-F152-3FD8-E615FC202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1215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908</Words>
  <Application>Microsoft Office PowerPoint</Application>
  <PresentationFormat>Widescreen</PresentationFormat>
  <Paragraphs>174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-apple-system</vt:lpstr>
      <vt:lpstr>Aptos</vt:lpstr>
      <vt:lpstr>Aptos Display</vt:lpstr>
      <vt:lpstr>Arial</vt:lpstr>
      <vt:lpstr>Google Sans</vt:lpstr>
      <vt:lpstr>Office Theme</vt:lpstr>
      <vt:lpstr>CST2550 - 2025 Software Engineering and Management</vt:lpstr>
      <vt:lpstr>Learning Objectives</vt:lpstr>
      <vt:lpstr>1. Hash Tables </vt:lpstr>
      <vt:lpstr>Concept Overview</vt:lpstr>
      <vt:lpstr>Implementation Considerations</vt:lpstr>
      <vt:lpstr>2. Graphs </vt:lpstr>
      <vt:lpstr>Graph Fundamentals</vt:lpstr>
      <vt:lpstr>Graph Fundamentals (Examples)</vt:lpstr>
      <vt:lpstr>Graph Algorithms</vt:lpstr>
      <vt:lpstr>Summary and Q&amp;A</vt:lpstr>
      <vt:lpstr>Questions for Discussion:</vt:lpstr>
      <vt:lpstr>Practical Examples </vt:lpstr>
      <vt:lpstr>Example 1: Hash Table Implementation</vt:lpstr>
      <vt:lpstr>Example 1: Hash Table Implementation</vt:lpstr>
      <vt:lpstr>Example 1: Hash Table Implementation</vt:lpstr>
      <vt:lpstr>Example 1: Hash Table Implementation</vt:lpstr>
      <vt:lpstr>Example 2: Graph Implementation and Algorithms</vt:lpstr>
      <vt:lpstr>Example 2: Graph Implementation and Algorithms</vt:lpstr>
      <vt:lpstr>Example 2: Graph Implementation and Algorithms</vt:lpstr>
      <vt:lpstr>Example 2: Graph Implementation and Algorithms</vt:lpstr>
      <vt:lpstr>Example 3: Code Example for Dijkstra’s Algorithm</vt:lpstr>
      <vt:lpstr>Example 3: Code Example for Dijkstra’s Algorithm</vt:lpstr>
      <vt:lpstr>Example 3: Code Example for Dijkstra’s Algorithm</vt:lpstr>
      <vt:lpstr>Example 3: Code Example for Dijkstra’s Algorithm</vt:lpstr>
      <vt:lpstr>Practice Exercises</vt:lpstr>
      <vt:lpstr>Additional Resources</vt:lpstr>
      <vt:lpstr>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Eissa</dc:creator>
  <cp:lastModifiedBy>Ahmed Eissa</cp:lastModifiedBy>
  <cp:revision>43</cp:revision>
  <dcterms:created xsi:type="dcterms:W3CDTF">2025-01-02T01:36:07Z</dcterms:created>
  <dcterms:modified xsi:type="dcterms:W3CDTF">2026-01-29T20:56:25Z</dcterms:modified>
</cp:coreProperties>
</file>