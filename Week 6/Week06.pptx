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f/core/" TargetMode="External"/><Relationship Id="rId7" Type="http://schemas.openxmlformats.org/officeDocument/2006/relationships/hyperlink" Target="https://www.reddit.com/r/dotnet/" TargetMode="External"/><Relationship Id="rId2" Type="http://schemas.openxmlformats.org/officeDocument/2006/relationships/hyperlink" Target="https://learn.microsoft.com/en-us/dotnet/framework/data/ado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overflow.com/" TargetMode="External"/><Relationship Id="rId5" Type="http://schemas.openxmlformats.org/officeDocument/2006/relationships/hyperlink" Target="https://code-maze.com/category/ef-core/" TargetMode="External"/><Relationship Id="rId4" Type="http://schemas.openxmlformats.org/officeDocument/2006/relationships/hyperlink" Target="https://www.tutorialspoint.com/ado.net/index.htm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6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6: </a:t>
            </a:r>
            <a:r>
              <a:rPr lang="en-US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Implementing Database in C# Applications</a:t>
            </a: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1AF0-0B58-FE56-083D-4D6F2295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Master database connectivity in C#.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ORM concepts.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CRUD operations using Entity Framework Core.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752E-4929-BB76-3F53-E09D893B4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1. ADO.NET Overview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21DC2-4D3F-D674-A06E-6B5BF1D6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A20F1-98A3-540D-5BA4-E40DF028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63CE4-12C6-76A9-427B-1A3DB66C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35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EB63-B9E4-FFB4-6292-96A44FB4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Connection Management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38D2C-AE2E-839B-B035-057A9BA5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1. Connection Management</a:t>
            </a:r>
          </a:p>
          <a:p>
            <a:pPr lvl="1"/>
            <a:r>
              <a:rPr lang="en-GB" dirty="0"/>
              <a:t>Connection Strings</a:t>
            </a:r>
          </a:p>
          <a:p>
            <a:pPr lvl="1"/>
            <a:r>
              <a:rPr lang="en-GB" dirty="0"/>
              <a:t>Define how applications connect to databases</a:t>
            </a:r>
          </a:p>
          <a:p>
            <a:pPr lvl="1"/>
            <a:r>
              <a:rPr lang="en-GB" dirty="0"/>
              <a:t>Syntax example:</a:t>
            </a:r>
          </a:p>
          <a:p>
            <a:pPr marL="914400" lvl="2" indent="0">
              <a:buNone/>
            </a:pPr>
            <a:r>
              <a:rPr lang="en-GB" dirty="0"/>
              <a:t>string </a:t>
            </a:r>
            <a:r>
              <a:rPr lang="en-GB" dirty="0" err="1"/>
              <a:t>connectionString</a:t>
            </a:r>
            <a:r>
              <a:rPr lang="en-GB" dirty="0"/>
              <a:t> = "Server=</a:t>
            </a:r>
            <a:r>
              <a:rPr lang="en-GB" dirty="0" err="1"/>
              <a:t>server_name;Database</a:t>
            </a:r>
            <a:r>
              <a:rPr lang="en-GB" dirty="0"/>
              <a:t>=</a:t>
            </a:r>
            <a:r>
              <a:rPr lang="en-GB" dirty="0" err="1"/>
              <a:t>database_name;User</a:t>
            </a:r>
            <a:r>
              <a:rPr lang="en-GB" dirty="0"/>
              <a:t> Id=</a:t>
            </a:r>
            <a:r>
              <a:rPr lang="en-GB" dirty="0" err="1"/>
              <a:t>username;Password</a:t>
            </a:r>
            <a:r>
              <a:rPr lang="en-GB" dirty="0"/>
              <a:t>=password;";</a:t>
            </a:r>
          </a:p>
          <a:p>
            <a:pPr marL="0" indent="0">
              <a:buNone/>
            </a:pPr>
            <a:r>
              <a:rPr lang="en-GB" dirty="0"/>
              <a:t>2. Connection Pooling</a:t>
            </a:r>
          </a:p>
          <a:p>
            <a:pPr lvl="1"/>
            <a:r>
              <a:rPr lang="en-GB" dirty="0"/>
              <a:t>Reuses existing connections to optimise performance.</a:t>
            </a:r>
          </a:p>
          <a:p>
            <a:pPr lvl="1"/>
            <a:r>
              <a:rPr lang="en-GB" dirty="0"/>
              <a:t>Benefits include reduced overhead and faster execution.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8122E-D247-CC82-16E4-CFA94E4F7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9A1F8-D6C7-0C56-D3B9-BC4FB708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D5E66-26B0-7C94-B0CC-770CDA24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476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2682-1891-C2D8-20EA-2A52AF685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46055-4649-6A9B-F8B6-0D7F18CC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Connection Management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94B65-7CBB-1922-D855-6CB826BB0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Transaction Handling</a:t>
            </a:r>
          </a:p>
          <a:p>
            <a:pPr lvl="1"/>
            <a:r>
              <a:rPr lang="en-US" dirty="0"/>
              <a:t>Ensures data integrity across multiple operations.</a:t>
            </a:r>
          </a:p>
          <a:p>
            <a:pPr lvl="1"/>
            <a:r>
              <a:rPr lang="en-US" dirty="0"/>
              <a:t>Example: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E776E-7BA5-1FD9-AA3D-91D46871F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2B76E-986D-4660-C4BF-E8AB6328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4DA7-6CED-B0CB-9351-9F2DC7FA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5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205797-7F2C-27F2-A57F-0E182AF80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854" y="2891948"/>
            <a:ext cx="6744641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7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5395E-6624-70E9-0609-C8301DE30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Access Patterns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D4B83-D1D7-C933-6965-97E662182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Connected Architecture</a:t>
            </a:r>
          </a:p>
          <a:p>
            <a:pPr lvl="1"/>
            <a:r>
              <a:rPr lang="en-US" dirty="0"/>
              <a:t>Keeps the connection open during operations.</a:t>
            </a:r>
          </a:p>
          <a:p>
            <a:pPr lvl="1"/>
            <a:r>
              <a:rPr lang="en-US" dirty="0"/>
              <a:t>Example: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EC148-21AD-830C-1F92-5BC87C55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2921F-CFCC-F43E-70CC-32B663E4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95A34-0F92-8BEB-CDEA-2446C34C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6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A13B6A-E326-9302-82FA-0A9C1493D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672" y="3219343"/>
            <a:ext cx="8000655" cy="199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59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D26B-D18C-1E7A-C550-32697EC3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6D4E7-37BA-E0A0-5085-4AD07AC3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Access Patterns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FD926-B89A-41BF-A6E4-B23C74A92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Disconnected Architecture</a:t>
            </a:r>
          </a:p>
          <a:p>
            <a:pPr lvl="1"/>
            <a:r>
              <a:rPr lang="en-US" dirty="0"/>
              <a:t>Uses “</a:t>
            </a:r>
            <a:r>
              <a:rPr lang="en-US" dirty="0" err="1"/>
              <a:t>DataSet</a:t>
            </a:r>
            <a:r>
              <a:rPr lang="en-US" dirty="0"/>
              <a:t>” or “</a:t>
            </a:r>
            <a:r>
              <a:rPr lang="en-US" dirty="0" err="1"/>
              <a:t>DataTable</a:t>
            </a:r>
            <a:r>
              <a:rPr lang="en-US" dirty="0"/>
              <a:t>” to work with data offline.</a:t>
            </a:r>
          </a:p>
          <a:p>
            <a:pPr lvl="1"/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3. Best Practices</a:t>
            </a:r>
          </a:p>
          <a:p>
            <a:pPr lvl="1"/>
            <a:r>
              <a:rPr lang="en-US" dirty="0"/>
              <a:t>Use using statements to manage resources.</a:t>
            </a:r>
          </a:p>
          <a:p>
            <a:pPr lvl="1"/>
            <a:r>
              <a:rPr lang="en-US" dirty="0"/>
              <a:t>Avoid hardcoding connection strings; use configuration files.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B3F8-5835-2648-3711-305ABF014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CAF8B-D210-0A29-5D01-FF0A8540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7D2B7-8823-6A2D-F9BC-642754F7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7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FC409F-3589-C52C-9A68-2EC19F381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376" y="3077324"/>
            <a:ext cx="8859248" cy="92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77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39B05-D003-1B73-2C76-2618FB71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00CC-F8F9-1161-F5CC-8F27A2E7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2. Entity Framework Core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E4520-2B0C-4FDE-03AA-E5746FA3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EC35E-9FDF-F535-3D22-99B8E0C44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AA5C3-E64D-F6B9-4735-2B4DF93B5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035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2B18-46D8-9F40-71F6-678AC88F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Code-First Approach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7ED04-D7A4-68CF-4122-8617C09AE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Entity Class Design</a:t>
            </a:r>
          </a:p>
          <a:p>
            <a:pPr lvl="1"/>
            <a:r>
              <a:rPr lang="en-US" dirty="0"/>
              <a:t>Define classes that map to database tables.</a:t>
            </a:r>
          </a:p>
          <a:p>
            <a:pPr lvl="1"/>
            <a:r>
              <a:rPr lang="en-US" dirty="0"/>
              <a:t>Example: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093B-938D-9224-5149-39137290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33006-43A1-2642-1C57-8DD0067B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F3604-A1EE-AEF5-2C1F-47F68E27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9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98F2A3-F3D2-740F-FF3F-C7D4A9133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95" y="3243951"/>
            <a:ext cx="6154009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1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6CD24-A7DD-7DE2-03F5-AAD922C31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4B3A-7722-B63B-027E-2A161C259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Code-First Approach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C1A82-9362-1271-8B2A-E5C0D5A2E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Relationships Mapping</a:t>
            </a:r>
          </a:p>
          <a:p>
            <a:pPr lvl="1"/>
            <a:r>
              <a:rPr lang="en-US" dirty="0"/>
              <a:t>Configure one-to-one, one-to-many, and many-to-many relationships.</a:t>
            </a:r>
          </a:p>
          <a:p>
            <a:pPr lvl="1"/>
            <a:r>
              <a:rPr lang="en-US" dirty="0"/>
              <a:t>Example: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5ACBA-FCE7-303E-FA15-3CF6057C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8368B-A85A-6F43-93C3-A8A126F0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4D7E7-A3F1-941D-F63C-962B0938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10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9FEE21-B3F2-D410-D511-4528A45FE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626" y="3429000"/>
            <a:ext cx="6782747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4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B97B4-BD29-E2C7-E016-93BEB3E11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3E83-1A32-CA80-F399-7C061C5D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Code-First Approach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B2BBE-D4B6-FE43-E087-4DC709788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3. Migrations Management</a:t>
            </a:r>
          </a:p>
          <a:p>
            <a:pPr lvl="1"/>
            <a:r>
              <a:rPr lang="en-GB" dirty="0"/>
              <a:t>Use migrations to update the database schema.</a:t>
            </a:r>
          </a:p>
          <a:p>
            <a:pPr lvl="1"/>
            <a:r>
              <a:rPr lang="en-GB" dirty="0"/>
              <a:t>Commands: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D4454-798B-0F75-548F-EB3A6A3FC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CBED2-E47C-3DD8-C177-D88A1C1B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51CFD-34CB-84B6-E3D5-D6A7B09C2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11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C4C8A9-2653-A064-2D87-3FD644EF5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626" y="3429000"/>
            <a:ext cx="6782747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87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5173-CF19-F562-9345-E67DACC2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9329-C24B-EE5B-9A46-D2E9C97D3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Database-First Approach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76188-2A6A-B9A2-D8A7-895FA6FD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1B95-97AD-7E2E-1DB0-524FB08B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E4593-530A-094A-6B71-E8EC34700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12</a:t>
            </a:fld>
            <a:endParaRPr lang="en-GB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272EF1E-557F-8E30-0E1D-A3DD7FCBF7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6749"/>
            <a:ext cx="10463121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C# classes and context based on an existing database schema.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applications with pre-existing databases.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Steps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“</a:t>
            </a:r>
            <a:r>
              <a:rPr lang="en-US" altLang="en-US" sz="2000" dirty="0">
                <a:latin typeface="Arial" panose="020B0604020202020204" pitchFamily="34" charset="0"/>
              </a:rPr>
              <a:t>Scaffold-</a:t>
            </a:r>
            <a:r>
              <a:rPr lang="en-US" altLang="en-US" sz="2000" dirty="0" err="1">
                <a:latin typeface="Arial" panose="020B0604020202020204" pitchFamily="34" charset="0"/>
              </a:rPr>
              <a:t>DbContext</a:t>
            </a:r>
            <a:r>
              <a:rPr lang="en-US" altLang="en-US" sz="2000" dirty="0">
                <a:latin typeface="Arial" panose="020B0604020202020204" pitchFamily="34" charset="0"/>
              </a:rPr>
              <a:t>” command: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dotnet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dbcontext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scaffold 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Your_Connection_String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Microsoft.EntityFrameworkCore.SqlServer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Differences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Code-First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Focuses on creating the database from code.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Database-First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Starts with an existing database and generates corresponding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Code-First is ideal for greenfield projects.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Database-First is best for legacy systems or when integrating with existing databases.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67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6664-09F6-B1F4-F4A0-9E4DC7D5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LINQ to Entities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4F44F-05DB-BE73-D21E-95BB2160D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A93D5-9D0E-803A-4CBF-7421D9A7E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4A007-7599-0EA3-AC97-34F9DFD1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13</a:t>
            </a:fld>
            <a:endParaRPr lang="en-GB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84C92FC-0BFF-2867-32EE-0F7791E423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569860"/>
            <a:ext cx="10515599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Syntax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Syntax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Considerations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“</a:t>
            </a:r>
            <a:r>
              <a:rPr lang="en-US" altLang="en-US" sz="1800" dirty="0" err="1">
                <a:latin typeface="Arial" panose="020B0604020202020204" pitchFamily="34" charset="0"/>
              </a:rPr>
              <a:t>AsNoTracking</a:t>
            </a:r>
            <a:r>
              <a:rPr lang="en-US" altLang="en-US" sz="1800" dirty="0">
                <a:latin typeface="Arial" panose="020B0604020202020204" pitchFamily="34" charset="0"/>
              </a:rPr>
              <a:t>()” for read-only queries</a:t>
            </a:r>
            <a:r>
              <a:rPr lang="en-US" altLang="en-US" sz="9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number of database calls.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66C76E-3BC0-117A-1D55-70149C854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61" y="2452448"/>
            <a:ext cx="6792273" cy="885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DE41A0-C0B1-47EE-C02A-E46154CFB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860" y="4057572"/>
            <a:ext cx="6792273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89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B6418-BCB4-3CC1-86B1-4D41B38E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9A60-7CAC-9EC4-6512-AE4889D5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Examples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FB3C0-BC31-498F-924E-A65E090D4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B07FE-F0C1-D2CA-25F0-B970FF35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6385F-EAD9-143B-8079-3BD4DF8F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406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C240E-EDB9-F77C-4157-8228112CE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1: Inserting data using ADO.NET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4CA5387-CF42-6E2A-1396-37BC82A20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87" y="2714765"/>
            <a:ext cx="11812225" cy="171837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70E3F-E50F-4D4B-7CCC-E23B3249C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EDB4B-D184-B1B2-414A-A43C5B756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5BFBC-D96B-E8BF-DAF4-EDA34F2C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6904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3CDF5-9081-612C-52BC-808F5B78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305B-3185-83B4-13C0-0C566528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Using Entity Framework Core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CBFF8-5885-19A0-9CE9-67A8F10D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EE5E0-00D1-8169-5697-C3F8380B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6ADFD-BD2A-0A4B-C6F2-7CD42689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16</a:t>
            </a:fld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B711C7E-007B-CA71-C2E6-1EA93B208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510" y="1895475"/>
            <a:ext cx="9348979" cy="3620496"/>
          </a:xfrm>
        </p:spPr>
      </p:pic>
    </p:spTree>
    <p:extLst>
      <p:ext uri="{BB962C8B-B14F-4D97-AF65-F5344CB8AC3E}">
        <p14:creationId xmlns:p14="http://schemas.microsoft.com/office/powerpoint/2010/main" val="2543252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62F0-4DB9-2374-FC1E-021DD08E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25FD6-6CD6-C159-21D9-662E5F6A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Example 3: ADO.NET </a:t>
            </a:r>
            <a:r>
              <a:rPr lang="en-GB" dirty="0"/>
              <a:t>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A9721-AA9D-2B40-521C-64F0BCAB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EFDF7-EDD9-C37B-98B6-88450815D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31067-0187-AAD0-2FC3-B7D3971AF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17</a:t>
            </a:fld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AE4F1D-81B0-903C-D55F-3C4C178E5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050" y="1278638"/>
            <a:ext cx="8876660" cy="4898325"/>
          </a:xfrm>
        </p:spPr>
      </p:pic>
    </p:spTree>
    <p:extLst>
      <p:ext uri="{BB962C8B-B14F-4D97-AF65-F5344CB8AC3E}">
        <p14:creationId xmlns:p14="http://schemas.microsoft.com/office/powerpoint/2010/main" val="326260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6D1BE-4231-12C3-4F20-B2189670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9268-0821-D3EF-CEF9-72A16F44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Example 3: ADO.NET </a:t>
            </a:r>
            <a:r>
              <a:rPr lang="en-GB" dirty="0"/>
              <a:t>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53D96-DA38-3E54-3625-0A53B3E0B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83C18-078A-6C71-F8A8-DF95B905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05FC2-F7C2-7980-51B2-9399B7DD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18</a:t>
            </a:fld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0113251-7748-84E9-589A-E86E8351A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4426" y="1442936"/>
            <a:ext cx="9217986" cy="4734027"/>
          </a:xfrm>
        </p:spPr>
      </p:pic>
    </p:spTree>
    <p:extLst>
      <p:ext uri="{BB962C8B-B14F-4D97-AF65-F5344CB8AC3E}">
        <p14:creationId xmlns:p14="http://schemas.microsoft.com/office/powerpoint/2010/main" val="513889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1C548-A195-F717-8E4E-ED0AEB69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34C-AEF4-EC28-5945-91CE8568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Example 3: ADO.NET </a:t>
            </a:r>
            <a:r>
              <a:rPr lang="en-GB" dirty="0"/>
              <a:t>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E1989-A7C2-88A5-83AF-2EFA3937A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1193F-F880-2A5E-E7B9-CE2822196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9C660-DE6D-703F-C881-9574353D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19</a:t>
            </a:fld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FB1C0E6-B164-12A7-B4E4-40B3777D8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025" y="1346482"/>
            <a:ext cx="9341365" cy="4830481"/>
          </a:xfrm>
        </p:spPr>
      </p:pic>
    </p:spTree>
    <p:extLst>
      <p:ext uri="{BB962C8B-B14F-4D97-AF65-F5344CB8AC3E}">
        <p14:creationId xmlns:p14="http://schemas.microsoft.com/office/powerpoint/2010/main" val="4129056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65600-13EF-A6A8-ED7A-0BCED2D68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116C5-C0E1-677E-656C-48125327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4: Entity Framework Core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F96E-4EEB-93FF-61E3-E9CBFFCB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4629A-E8E8-0BB0-834B-E50D1BE5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0D604-F2BD-E033-16C1-6A5CFD0A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20</a:t>
            </a:fld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145DAA7-D628-497E-9A0D-E51B740C1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690688"/>
            <a:ext cx="6877050" cy="4486275"/>
          </a:xfrm>
        </p:spPr>
      </p:pic>
    </p:spTree>
    <p:extLst>
      <p:ext uri="{BB962C8B-B14F-4D97-AF65-F5344CB8AC3E}">
        <p14:creationId xmlns:p14="http://schemas.microsoft.com/office/powerpoint/2010/main" val="1730461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A3C4-B39E-A09E-C975-99B0E6C7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6FF55-47CD-8B36-B5FE-0BC1A804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4: Entity Framework Core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58AB7-1D86-9A43-3BA1-13F7B126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98050-22C7-EADC-F0DF-78BA1FE54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F3296-769A-A0D7-686A-F09F4672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21</a:t>
            </a:fld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8257C33-C182-85E8-D194-D996A99CD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100131" cy="4486275"/>
          </a:xfrm>
        </p:spPr>
      </p:pic>
    </p:spTree>
    <p:extLst>
      <p:ext uri="{BB962C8B-B14F-4D97-AF65-F5344CB8AC3E}">
        <p14:creationId xmlns:p14="http://schemas.microsoft.com/office/powerpoint/2010/main" val="3315360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34347-1884-A989-29AB-A91B4812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2589-B54E-8458-93CA-A1B2E78A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4: Entity Framework Core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19ABE-1DAD-715F-0A85-7B67AD324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F7C0F-1706-7ABF-25C1-8F6FFB17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B5996-0CE0-8868-1777-21C0BF60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22</a:t>
            </a:fld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FAD8642-F284-BE86-3BD6-8336574E5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975" y="1825625"/>
            <a:ext cx="7747243" cy="4351338"/>
          </a:xfrm>
        </p:spPr>
      </p:pic>
    </p:spTree>
    <p:extLst>
      <p:ext uri="{BB962C8B-B14F-4D97-AF65-F5344CB8AC3E}">
        <p14:creationId xmlns:p14="http://schemas.microsoft.com/office/powerpoint/2010/main" val="2936651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4CA31-FD2A-DA3A-C2A3-D8E6001F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and Q&amp;A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778DF-0FCC-CA6B-BD36-85AFE62FB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Database Connectivity</a:t>
            </a:r>
            <a:r>
              <a:rPr lang="en-US" dirty="0"/>
              <a:t>: ADO.NET patterns and best practices.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ORM with EF Core</a:t>
            </a:r>
            <a:r>
              <a:rPr lang="en-US" dirty="0"/>
              <a:t>: Code-first and database-first approaches, LINQ, and performance tips.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Practical Demonstrations</a:t>
            </a:r>
            <a:r>
              <a:rPr lang="en-US" dirty="0"/>
              <a:t>: CRUD operations in ADO.NET and EF Core.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562D4-04B9-5E8A-97C1-47DDEFD83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94000-3835-115F-5F66-E52DC33D4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D97AF-A67C-4755-3452-FF7B3DED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9331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050F-F689-80CD-415A-07425F27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Discussion Questions</a:t>
            </a:r>
            <a:r>
              <a:rPr lang="en-GB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775E1-6029-3CA1-2F24-FB51AFDC6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does connection pooling impact performance?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advantages of using EF Core over ADO.NET?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0F2F2-3462-CCE8-167C-8B7CCCA25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3BD7A-3E6D-9CF6-DC44-05C3302C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64CCA-FB67-D6A1-76DE-5CE1C493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4976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C386-F64A-59F8-6310-2722C97B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Exercises</a:t>
            </a:r>
            <a:br>
              <a:rPr lang="en-GB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91F82-930F-418F-63D4-09693BE6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1ECF-4AB0-8AA5-6061-6E68FA469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1F811-B28C-CEE8-C939-4CC0B2C0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395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3106-0DB3-2881-A1A3-11115D4E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	Database Connection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EFB5B-09FE-544A-E77D-5F2F17CC7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a connection pool manager</a:t>
            </a:r>
          </a:p>
          <a:p>
            <a:r>
              <a:rPr lang="en-US" dirty="0"/>
              <a:t>Create a generic repository pattern</a:t>
            </a:r>
          </a:p>
          <a:p>
            <a:r>
              <a:rPr lang="en-US" dirty="0"/>
              <a:t>Handle database exceptions properly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8CF37-A102-F650-B3DA-76B5572B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C3091-E21E-3121-D4C7-169C5817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26B49-6A1D-8907-48C7-4E391FD05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68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315A-311F-DE71-B26B-79863113A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	Entity Framework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BF48-6B82-5254-F1E4-FB4DCC7C6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complete CRUD application</a:t>
            </a:r>
          </a:p>
          <a:p>
            <a:r>
              <a:rPr lang="en-US" dirty="0"/>
              <a:t>Implement complex queries using LINQ</a:t>
            </a:r>
          </a:p>
          <a:p>
            <a:r>
              <a:rPr lang="en-US" dirty="0"/>
              <a:t>Add proper validation and error handling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7F8EA-410B-EF68-BBEF-8303A67A5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7C6A8-C6DA-7AE0-A82D-ABEA9F2A1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F46DF-9B1C-A669-EAD8-428663E4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6488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D7DB-DCEE-DBA8-16D8-5E6EA8D2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Reading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84039-5E96-9A92-1D23-E6AFDB982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Books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"Pro C# 10 with .NET 6" by Andrew </a:t>
            </a:r>
            <a:r>
              <a:rPr lang="en-GB" dirty="0" err="1"/>
              <a:t>Troelsen</a:t>
            </a:r>
            <a:r>
              <a:rPr lang="en-GB" dirty="0"/>
              <a:t> and Philip </a:t>
            </a:r>
            <a:r>
              <a:rPr lang="en-GB" dirty="0" err="1"/>
              <a:t>Japikse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"Entity Framework Core in Action" by Jon P. Smith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"Programming Microsoft ADO.NET 4" by David </a:t>
            </a:r>
            <a:r>
              <a:rPr lang="en-GB" dirty="0" err="1"/>
              <a:t>Sceppa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Online Resources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2"/>
              </a:rPr>
              <a:t>Microsoft Learn: ADO.NET Overview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3"/>
              </a:rPr>
              <a:t>Microsoft Learn: Entity Framework Core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3"/>
              </a:rPr>
              <a:t>Entity Framework Core Documentation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Tutorials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 err="1">
                <a:hlinkClick r:id="rId4"/>
              </a:rPr>
              <a:t>TutorialsPoint</a:t>
            </a:r>
            <a:r>
              <a:rPr lang="en-GB" dirty="0">
                <a:hlinkClick r:id="rId4"/>
              </a:rPr>
              <a:t>: ADO.NET Tutorial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>
                <a:hlinkClick r:id="rId5"/>
              </a:rPr>
              <a:t>CodeMaze</a:t>
            </a:r>
            <a:r>
              <a:rPr lang="en-GB" dirty="0">
                <a:hlinkClick r:id="rId5"/>
              </a:rPr>
              <a:t>: EF Core Tutorials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Community Forums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6"/>
              </a:rPr>
              <a:t>Stack Overflow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7"/>
              </a:rPr>
              <a:t>Reddit: r/dotnet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Tools and References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SQL Server Management Studio (SSMS)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LINQPad</a:t>
            </a:r>
            <a:r>
              <a:rPr lang="en-GB" dirty="0"/>
              <a:t> for testing LINQ queries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445B-E1DB-A979-4A39-BAF78B071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FF1A7-95AA-063D-066B-621448E8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9D2E9-052A-8620-C25C-89D8F811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6563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B668-AD06-8013-2323-84CDF4D1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040A6-1115-5715-4D7D-A3750623D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7: Debugging and Testing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D98CC-CACA-96D1-ECB9-4A5CEC77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9B816-4F03-A9BA-74FF-A760E1F5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29861-331A-D806-38E4-A5BB8A20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0413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918</Words>
  <Application>Microsoft Office PowerPoint</Application>
  <PresentationFormat>Widescreen</PresentationFormat>
  <Paragraphs>223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Arial Unicode MS</vt:lpstr>
      <vt:lpstr>Office Theme</vt:lpstr>
      <vt:lpstr>CST2550 - 2025 Software Engineering and Management</vt:lpstr>
      <vt:lpstr>Learning Objectives</vt:lpstr>
      <vt:lpstr>1. ADO.NET Overview </vt:lpstr>
      <vt:lpstr>Connection Management</vt:lpstr>
      <vt:lpstr>Connection Management</vt:lpstr>
      <vt:lpstr>Data Access Patterns</vt:lpstr>
      <vt:lpstr>Data Access Patterns</vt:lpstr>
      <vt:lpstr>2. Entity Framework Core </vt:lpstr>
      <vt:lpstr>Code-First Approach</vt:lpstr>
      <vt:lpstr>Code-First Approach</vt:lpstr>
      <vt:lpstr>Code-First Approach</vt:lpstr>
      <vt:lpstr>Database-First Approach</vt:lpstr>
      <vt:lpstr>LINQ to Entities</vt:lpstr>
      <vt:lpstr>Practical Examples </vt:lpstr>
      <vt:lpstr>Example 1: Inserting data using ADO.NET</vt:lpstr>
      <vt:lpstr>Example 2: Using Entity Framework Core</vt:lpstr>
      <vt:lpstr>Example 3: ADO.NET Implementation</vt:lpstr>
      <vt:lpstr>Example 3: ADO.NET Implementation</vt:lpstr>
      <vt:lpstr>Example 3: ADO.NET Implementation</vt:lpstr>
      <vt:lpstr>Example 4: Entity Framework Core Implementation</vt:lpstr>
      <vt:lpstr>Example 4: Entity Framework Core Implementation</vt:lpstr>
      <vt:lpstr>Example 4: Entity Framework Core Implementation</vt:lpstr>
      <vt:lpstr>Summary and Q&amp;A</vt:lpstr>
      <vt:lpstr>Discussion Questions:</vt:lpstr>
      <vt:lpstr>Practice Exercises </vt:lpstr>
      <vt:lpstr>1. Database Connection Management</vt:lpstr>
      <vt:lpstr>2. Entity Framework Implementation</vt:lpstr>
      <vt:lpstr>Further Reading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84</cp:revision>
  <dcterms:created xsi:type="dcterms:W3CDTF">2025-01-02T01:36:07Z</dcterms:created>
  <dcterms:modified xsi:type="dcterms:W3CDTF">2026-01-29T21:06:27Z</dcterms:modified>
</cp:coreProperties>
</file>