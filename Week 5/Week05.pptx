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00" r:id="rId3"/>
    <p:sldId id="302" r:id="rId4"/>
    <p:sldId id="301" r:id="rId5"/>
    <p:sldId id="303" r:id="rId6"/>
    <p:sldId id="305" r:id="rId7"/>
    <p:sldId id="304" r:id="rId8"/>
    <p:sldId id="306" r:id="rId9"/>
    <p:sldId id="308" r:id="rId10"/>
    <p:sldId id="309" r:id="rId11"/>
    <p:sldId id="314" r:id="rId12"/>
    <p:sldId id="315" r:id="rId13"/>
    <p:sldId id="311" r:id="rId14"/>
    <p:sldId id="310" r:id="rId15"/>
    <p:sldId id="312" r:id="rId16"/>
    <p:sldId id="313" r:id="rId17"/>
    <p:sldId id="316" r:id="rId18"/>
    <p:sldId id="318" r:id="rId19"/>
    <p:sldId id="31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7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" TargetMode="External"/><Relationship Id="rId2" Type="http://schemas.openxmlformats.org/officeDocument/2006/relationships/hyperlink" Target="https://www.khanacademy.org/computing/computer-programming/sq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stgresql.org/docs/" TargetMode="External"/><Relationship Id="rId5" Type="http://schemas.openxmlformats.org/officeDocument/2006/relationships/hyperlink" Target="https://learn.microsoft.com/en-us/sql/" TargetMode="External"/><Relationship Id="rId4" Type="http://schemas.openxmlformats.org/officeDocument/2006/relationships/hyperlink" Target="https://dev.mysql.com/doc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5: </a:t>
            </a:r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Introduction to Database and SQL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database fundamentals.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Master SQL query basics.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Design efficient database schemas.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ED16-6C7B-752F-4C2A-50117171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Database Concepts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2CAB9-E751-F450-507F-7E35F377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A70DC-BA61-1F77-C84A-24E93561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2B91-8B68-EEFD-DB3E-B0C1F434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88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4D71-7C4B-90C5-4CB3-799E0557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Relational Database Fundamentals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CAD7D-A310-4709-6DBC-289EF9905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Tables and Relationships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Tables</a:t>
            </a:r>
            <a:r>
              <a:rPr lang="en-US" dirty="0"/>
              <a:t>: Collections of rows and columns used to store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Relationships</a:t>
            </a:r>
            <a:r>
              <a:rPr lang="en-US" dirty="0"/>
              <a:t>: Logical connections between tables based on data.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One-to-One, One-to-Many, Many-to-Many.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Primary and Foreign Keys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Primary Key</a:t>
            </a:r>
            <a:r>
              <a:rPr lang="en-US" dirty="0"/>
              <a:t>: A unique identifier for a record in a table.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Foreign Key</a:t>
            </a:r>
            <a:r>
              <a:rPr lang="en-US" dirty="0"/>
              <a:t>: A field in one table that references the primary key in another table.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Normalisation</a:t>
            </a:r>
            <a:r>
              <a:rPr lang="en-US" b="1" dirty="0"/>
              <a:t> Principles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Process of </a:t>
            </a:r>
            <a:r>
              <a:rPr lang="en-GB" dirty="0"/>
              <a:t>organising</a:t>
            </a:r>
            <a:r>
              <a:rPr lang="en-US" dirty="0"/>
              <a:t> data to reduce redundancy and improve integrity.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Normal Forms</a:t>
            </a:r>
            <a:r>
              <a:rPr lang="en-US" dirty="0"/>
              <a:t>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1NF</a:t>
            </a:r>
            <a:r>
              <a:rPr lang="en-US" dirty="0"/>
              <a:t>: Eliminate duplicate columns and create separate tables for related data.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2NF</a:t>
            </a:r>
            <a:r>
              <a:rPr lang="en-US" dirty="0"/>
              <a:t>: Ensure that all non-key attributes depend on the whole primary key.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3NF</a:t>
            </a:r>
            <a:r>
              <a:rPr lang="en-US" dirty="0"/>
              <a:t>: Eliminate transitive dependencies (non-key attributes depending on other non-key attributes).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FE654-E4D7-D014-F9A0-0CA65E5A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032D3-803D-C909-90DF-4359C78F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FA55B-AEB2-90D3-F2F1-97FD6D16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4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28AF-7ED1-E97F-FA37-95B57FC0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Database Design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064E-C998-85E6-422D-D015BCB73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Entity-Relationship (ER) Diagrams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Visual representation of data and relationships.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Components: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Entities</a:t>
            </a:r>
            <a:r>
              <a:rPr lang="en-US" dirty="0"/>
              <a:t>: Represent objects or concepts (e.g., Students, Courses).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Attributes</a:t>
            </a:r>
            <a:r>
              <a:rPr lang="en-US" dirty="0"/>
              <a:t>: Details about entities (e.g., Name, Age).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Relationships</a:t>
            </a:r>
            <a:r>
              <a:rPr lang="en-US" dirty="0"/>
              <a:t>: Connections between entities (e.g., Students </a:t>
            </a:r>
            <a:r>
              <a:rPr lang="en-GB" dirty="0"/>
              <a:t>Enrol</a:t>
            </a:r>
            <a:r>
              <a:rPr lang="en-US" dirty="0"/>
              <a:t> in Courses).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Schema Design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Logical structure of a database.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Includes tables, fields, data types, and constraints.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Indexing Strategies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Improve query performance by reducing data retrieval time.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Types: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Clustered Index</a:t>
            </a:r>
            <a:r>
              <a:rPr lang="en-US" dirty="0"/>
              <a:t>: Sorts and stores rows physically in the table.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Non-clustered Index</a:t>
            </a:r>
            <a:r>
              <a:rPr lang="en-US" dirty="0"/>
              <a:t>: A separate structure pointing to the data.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36B16-CE56-F2DF-00E0-A79F47F1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85162-AED1-E4FB-A13B-41BD48AB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9128-DFDB-C1BB-8C5A-44651375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95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398A-A72C-E483-F80F-CAA257B9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SQL Fundamentals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CC91-025F-BA4D-36B7-5F151CF32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4E87-6691-7A1C-EE12-A0F9D30D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D1442-FE5E-2814-31DF-1C6F4DCD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00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A434-3B11-CD25-7E2C-FA7EB253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Structure: DDL, DML, and DCL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5EF1-F9D0-E83A-6D51-33965004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E1FC6-0FCD-94CD-B8AE-2CB57DA45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58A0C-0220-9239-631F-B97FAD16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A19304E-31BF-6680-4567-F695211745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785306"/>
            <a:ext cx="1001077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Definition Language (DDL)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define and manage database structure.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Manipulation Language (DML)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manipulate data within the database.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Control Language (DCL)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control access to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795075-687E-8D4C-02A4-47A85200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43" y="2590517"/>
            <a:ext cx="6725589" cy="12860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DE5CD9-B516-F36B-7697-597262B2D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43" y="4775711"/>
            <a:ext cx="6687483" cy="419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B9B6BC-5700-C591-B0C3-2FEF2C430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843" y="5798131"/>
            <a:ext cx="6754168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5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8D59-C4CD-2027-8CE9-0E71A85A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SQL Operations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0F796-11CE-39CC-32E6-5BFD3958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5EB10-DA92-5F46-A085-838FDFA1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9DD4-0B3D-277B-1DA2-C112266F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7FD9AD6-77FB-B041-AE6C-EC087690ED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7611"/>
            <a:ext cx="10515600" cy="472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Statements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 specific columns and rows from a table.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INSERT, UPDATE, DELETE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Add new rows to a table.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Modify existing records.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Remove records from a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C4D683-64BC-49D3-B8BD-419EE4923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05" y="2393068"/>
            <a:ext cx="6725589" cy="40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2E0258-953D-397C-E1BC-2BF66A65C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105" y="3731755"/>
            <a:ext cx="6754168" cy="4191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60AC85-D393-4485-A14D-7009B655B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105" y="4966510"/>
            <a:ext cx="6763694" cy="4096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DB5C19-65F7-B6C8-605C-B3951BC0C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9354" y="5908614"/>
            <a:ext cx="6744641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2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E456-CB67-F32D-FE87-F0843A59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SQL Operations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6C3C-7CFF-B3AB-010F-EDB379E36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JOIN Operations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rows from two or more tables based on related columns.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Returns matching rows.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Returns all rows from the left table and matching rows from the right table.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Returns all rows from the right table and matching rows from the left table.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OUTER JOIN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Returns all matching and non-matching rows from both tables.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EBB27-8C96-C12A-41A9-BFE5608B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39E4A-608B-F71D-C21F-5EFD2CD1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5AD4-B48E-1530-ECFE-6D7AB41E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8AFE2-9D36-50ED-75DD-9088A823A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3" y="4262359"/>
            <a:ext cx="6792273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3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1363-EF41-58AD-E2AC-1DAECF5A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5F6B-6FDB-012A-6EF4-9FD665A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Basic SQL Operations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DC9E-72F8-FC58-3932-401911A0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15289-908F-9BF7-CC3A-A0CEC63A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EF8A-BFAD-D239-C632-82D16638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3C25795-00C3-69C3-A260-96B45489F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72161"/>
            <a:ext cx="3919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WHERE Clauses and Filtering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Specify conditions to filter data.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1A9F44-4244-2204-65FE-618D83A6A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916" y="3172490"/>
            <a:ext cx="6754168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5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0753-B8F4-D3BF-7FB1-D5E87B7C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and 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8CD5-2F3B-477B-A157-EE3B335D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Database Fundamentals</a:t>
            </a:r>
            <a:r>
              <a:rPr lang="en-US" dirty="0"/>
              <a:t>: Tables, keys, and </a:t>
            </a:r>
            <a:r>
              <a:rPr lang="en-US" dirty="0" err="1"/>
              <a:t>normalisation</a:t>
            </a:r>
            <a:r>
              <a:rPr lang="en-US" dirty="0"/>
              <a:t> principles.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 Basics</a:t>
            </a:r>
            <a:r>
              <a:rPr lang="en-US" dirty="0"/>
              <a:t>: SELECT, JOIN, and other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Schema Design</a:t>
            </a:r>
            <a:r>
              <a:rPr lang="en-US" dirty="0"/>
              <a:t>: ER diagrams and indexing strategies.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0CE64-4FDF-B9CD-4AB7-55A9D42B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ED886-62B4-4DB6-CA40-E3D467AAC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620B9-3907-67B0-2803-75758034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59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E93-4931-E9AA-CC73-A362036E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Discussion Questions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6081-02D8-133C-2299-0F07E030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do you choose between clustered and non-clustered indexes?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advantages of </a:t>
            </a:r>
            <a:r>
              <a:rPr lang="en-US" dirty="0" err="1"/>
              <a:t>normalisation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might </a:t>
            </a:r>
            <a:r>
              <a:rPr lang="en-US" dirty="0" err="1"/>
              <a:t>denormalisation</a:t>
            </a:r>
            <a:r>
              <a:rPr lang="en-US" dirty="0"/>
              <a:t> be preferred over </a:t>
            </a:r>
            <a:r>
              <a:rPr lang="en-US" dirty="0" err="1"/>
              <a:t>normalisation</a:t>
            </a:r>
            <a:r>
              <a:rPr lang="en-US" dirty="0"/>
              <a:t>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CBE2B-CA53-5C18-9633-A3723E4F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F3AD3-9559-A6CB-7535-92401C1C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EB272-7461-3FD6-3015-4A192175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4568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25C5-B44D-072C-9661-8547F0D9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C26D8-5C75-4F85-66E5-0782A4B5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DA28F-6810-4A5E-C6BA-95B917A6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B20B4-2755-EA5B-259D-F9E93089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8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F1AE-ECA7-AA8E-04BB-1F31827D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Database Design and</a:t>
            </a:r>
            <a:br>
              <a:rPr lang="en-US" dirty="0"/>
            </a:br>
            <a:r>
              <a:rPr lang="en-US" dirty="0"/>
              <a:t>Basic SQL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A0AB-91C4-3CD4-10A5-C3E1ED23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FB95B-29EE-DCCB-5EC1-85941BEB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FF10-BC94-F125-0260-BD08A448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089E96-840F-AB13-659C-75CA4DC30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175" y="1556651"/>
            <a:ext cx="9410700" cy="489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0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8187-B4C7-583B-ABC0-F5E45AEA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94DD-5DFA-A212-0B2E-1EA76248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Database Design and</a:t>
            </a:r>
            <a:br>
              <a:rPr lang="en-US" dirty="0"/>
            </a:br>
            <a:r>
              <a:rPr lang="en-US" dirty="0"/>
              <a:t>Basic SQL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5635D-BA6C-E0D6-24A8-3C2556424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07AD2-0274-786E-BDDB-E0D0C637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853A6-C00F-77E4-D27B-C3F9B9CA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D471A35-D754-9685-AC24-CB953A2C7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756" y="1867396"/>
            <a:ext cx="10126488" cy="4267796"/>
          </a:xfrm>
        </p:spPr>
      </p:pic>
    </p:spTree>
    <p:extLst>
      <p:ext uri="{BB962C8B-B14F-4D97-AF65-F5344CB8AC3E}">
        <p14:creationId xmlns:p14="http://schemas.microsoft.com/office/powerpoint/2010/main" val="359523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88BE2-4813-7BC8-6D0D-E85D1F47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7D87-E730-5D6F-80C0-A7D2C66F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Database Design and</a:t>
            </a:r>
            <a:br>
              <a:rPr lang="en-US" dirty="0"/>
            </a:br>
            <a:r>
              <a:rPr lang="en-US" dirty="0"/>
              <a:t>Basic SQL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7F93B-EB5A-77D9-70AD-0B2EB1DE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8FEE-B5F2-2552-5BD6-576FED26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68B2-48A0-6ECE-7B4C-CEAD63BC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30D0D7-DF6D-87FA-D88A-AEE593D49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325" y="1581495"/>
            <a:ext cx="9182100" cy="4789910"/>
          </a:xfrm>
        </p:spPr>
      </p:pic>
    </p:spTree>
    <p:extLst>
      <p:ext uri="{BB962C8B-B14F-4D97-AF65-F5344CB8AC3E}">
        <p14:creationId xmlns:p14="http://schemas.microsoft.com/office/powerpoint/2010/main" val="3446341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F1EC-7E36-3F35-C081-6CACB24A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</a:t>
            </a:r>
            <a:endParaRPr lang="en-GB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0A4CBA-93F5-0CDF-4C45-38A1292B5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037" y="1299814"/>
            <a:ext cx="9305925" cy="50565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9AB1-AFE4-1731-BF10-5E274954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E6CCB-91F2-B98F-DB02-C4CC96AF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E367B-642D-02B9-886F-1A6FADB0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121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1598-C00A-6FAD-20B9-F38BB335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9B33F-054A-3AF6-26D3-B1F78B42B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"Database System Concepts" by Abraham </a:t>
            </a:r>
            <a:r>
              <a:rPr lang="en-GB" dirty="0" err="1"/>
              <a:t>Silberschatz</a:t>
            </a:r>
            <a:r>
              <a:rPr lang="en-GB" dirty="0"/>
              <a:t>, Henry Korth, and S. Sudarshan.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"SQL in 10 Minutes, Sams Teach Yourself" by Ben </a:t>
            </a:r>
            <a:r>
              <a:rPr lang="en-GB" dirty="0" err="1"/>
              <a:t>Forta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W3Schools SQL Tutorial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2"/>
              </a:rPr>
              <a:t>Khan Academy: Intro to SQL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3"/>
              </a:rPr>
              <a:t>SQLZOO Interactive SQL Tutorials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Documentation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4"/>
              </a:rPr>
              <a:t>MySQL Documentation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5"/>
              </a:rPr>
              <a:t>Microsoft SQL Server Documentation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6"/>
              </a:rPr>
              <a:t>PostgreSQL Documentation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8442-25EF-8529-4E5B-19CE36C0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D9BF7-7EE5-B300-640B-ED3B995C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3C90B-4FC9-835F-D2E4-B5FAD941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688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B765-48A7-1348-826B-30031D70E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3C16-9F16-5768-842B-1CBCE538F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Week 6: </a:t>
            </a:r>
            <a:r>
              <a:rPr lang="en-US" dirty="0"/>
              <a:t>Implementing Database in C# Applications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BF8A-C528-A4AD-E3CD-32D8546D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C1C97-E479-7786-532C-6C0EAD85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E455-9A9A-288F-27A7-21BA8198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244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832</Words>
  <Application>Microsoft Office PowerPoint</Application>
  <PresentationFormat>Widescreen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Arial Unicode MS</vt:lpstr>
      <vt:lpstr>Office Theme</vt:lpstr>
      <vt:lpstr>CST2550 - 2025 Software Engineering and Management</vt:lpstr>
      <vt:lpstr>Learning Objectives</vt:lpstr>
      <vt:lpstr>1. Database Concepts </vt:lpstr>
      <vt:lpstr>Relational Database Fundamentals</vt:lpstr>
      <vt:lpstr>Database Design</vt:lpstr>
      <vt:lpstr>2. SQL Fundamentals </vt:lpstr>
      <vt:lpstr>SQL Structure: DDL, DML, and DCL</vt:lpstr>
      <vt:lpstr>Basic SQL Operations</vt:lpstr>
      <vt:lpstr>Basic SQL Operations</vt:lpstr>
      <vt:lpstr>Basic SQL Operations</vt:lpstr>
      <vt:lpstr>Summary and Q&amp;A</vt:lpstr>
      <vt:lpstr>Discussion Questions:</vt:lpstr>
      <vt:lpstr>Practical Examples </vt:lpstr>
      <vt:lpstr>Example 1: Database Design and Basic SQL</vt:lpstr>
      <vt:lpstr>Example 1: Database Design and Basic SQL</vt:lpstr>
      <vt:lpstr>Example 1: Database Design and Basic SQL</vt:lpstr>
      <vt:lpstr>Example 2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58</cp:revision>
  <dcterms:created xsi:type="dcterms:W3CDTF">2025-01-02T01:36:07Z</dcterms:created>
  <dcterms:modified xsi:type="dcterms:W3CDTF">2026-01-29T21:05:32Z</dcterms:modified>
</cp:coreProperties>
</file>