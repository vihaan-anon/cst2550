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0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81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12: Implementing AI Agents in C# Applications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9643CB3-71C9-4A3F-9459-BF73F50D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0075"/>
            <a:ext cx="365760" cy="36576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DCEDCA18-F67A-B336-0F51-229D337E934E}"/>
              </a:ext>
            </a:extLst>
          </p:cNvPr>
          <p:cNvSpPr/>
          <p:nvPr/>
        </p:nvSpPr>
        <p:spPr>
          <a:xfrm>
            <a:off x="1386840" y="1870075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AI Agents are and how they differ from simple AI models (autonomous decision-making systems)</a:t>
            </a:r>
            <a:endParaRPr lang="en-US" sz="16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2B525596-5EF1-FE55-5F14-DF55DCB28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10155"/>
            <a:ext cx="365760" cy="365760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0C2B0A91-CE3D-9BB1-46E9-FBED8E50A0AC}"/>
              </a:ext>
            </a:extLst>
          </p:cNvPr>
          <p:cNvSpPr/>
          <p:nvPr/>
        </p:nvSpPr>
        <p:spPr>
          <a:xfrm>
            <a:off x="1386840" y="2510155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core components of agent architecture (perception, reasoning, action loops)</a:t>
            </a:r>
            <a:endParaRPr lang="en-US" sz="16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24E2620D-6938-8142-CCA4-14889CFFC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50235"/>
            <a:ext cx="365760" cy="365760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3B8E6A4F-3C5D-D445-6431-34710A9519B2}"/>
              </a:ext>
            </a:extLst>
          </p:cNvPr>
          <p:cNvSpPr/>
          <p:nvPr/>
        </p:nvSpPr>
        <p:spPr>
          <a:xfrm>
            <a:off x="1386840" y="3150235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function calling and tool use in C# agents (extending agent capabilities)</a:t>
            </a:r>
            <a:endParaRPr lang="en-US" sz="160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B3BE84AC-E8B9-527D-6343-430006850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790315"/>
            <a:ext cx="365760" cy="365760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FA52C9AD-0509-56AC-BF91-1100811005E8}"/>
              </a:ext>
            </a:extLst>
          </p:cNvPr>
          <p:cNvSpPr/>
          <p:nvPr/>
        </p:nvSpPr>
        <p:spPr>
          <a:xfrm>
            <a:off x="1386840" y="3790315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memory systems for stateful agent conversations (short-term and long-term memory)</a:t>
            </a:r>
            <a:endParaRPr lang="en-US" sz="1600" dirty="0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AA4CD1CA-9C71-69CA-74AA-051A739A7B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430395"/>
            <a:ext cx="365760" cy="365760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1DFCF876-6E84-B760-FF77-80AD677DB840}"/>
              </a:ext>
            </a:extLst>
          </p:cNvPr>
          <p:cNvSpPr/>
          <p:nvPr/>
        </p:nvSpPr>
        <p:spPr>
          <a:xfrm>
            <a:off x="1386840" y="4430395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planning and reasoning capabilities (goal decomposition and task execution)</a:t>
            </a:r>
            <a:endParaRPr lang="en-US" sz="1600" dirty="0"/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FA42AF63-3D04-E71A-EB6D-C9580CFFA5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5070475"/>
            <a:ext cx="365760" cy="365760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2E77FA2D-71D9-CCAD-6B45-457A0EB766C4}"/>
              </a:ext>
            </a:extLst>
          </p:cNvPr>
          <p:cNvSpPr/>
          <p:nvPr/>
        </p:nvSpPr>
        <p:spPr>
          <a:xfrm>
            <a:off x="1386840" y="5070475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multi-agent systems for complex workflows (collaborative AI solutions)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AI Agents?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5242560" cy="268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3440" y="2438400"/>
            <a:ext cx="47548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133" dirty="0"/>
          </a:p>
        </p:txBody>
      </p:sp>
      <p:sp>
        <p:nvSpPr>
          <p:cNvPr id="7" name="Text 4"/>
          <p:cNvSpPr/>
          <p:nvPr/>
        </p:nvSpPr>
        <p:spPr>
          <a:xfrm>
            <a:off x="853440" y="2865120"/>
            <a:ext cx="47548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is an autonomous system that perceives its environment, makes decisions, and takes actions to achieve specific goals - going beyond simple question-answering to active problem-solving.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6339840" y="146304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vs AI Agent</a:t>
            </a:r>
            <a:endParaRPr lang="en-US" sz="2133" dirty="0"/>
          </a:p>
        </p:txBody>
      </p:sp>
      <p:sp>
        <p:nvSpPr>
          <p:cNvPr id="9" name="Shape 6"/>
          <p:cNvSpPr/>
          <p:nvPr/>
        </p:nvSpPr>
        <p:spPr>
          <a:xfrm>
            <a:off x="6339840" y="2011680"/>
            <a:ext cx="2438400" cy="5486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0" name="Text 7"/>
          <p:cNvSpPr/>
          <p:nvPr/>
        </p:nvSpPr>
        <p:spPr>
          <a:xfrm>
            <a:off x="6461760" y="2072640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prompts (reactive)</a:t>
            </a:r>
            <a:endParaRPr lang="en-US" sz="1067" dirty="0"/>
          </a:p>
        </p:txBody>
      </p:sp>
      <p:sp>
        <p:nvSpPr>
          <p:cNvPr id="11" name="Shape 8"/>
          <p:cNvSpPr/>
          <p:nvPr/>
        </p:nvSpPr>
        <p:spPr>
          <a:xfrm>
            <a:off x="9022080" y="2011680"/>
            <a:ext cx="2560320" cy="5486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2" name="Text 9"/>
          <p:cNvSpPr/>
          <p:nvPr/>
        </p:nvSpPr>
        <p:spPr>
          <a:xfrm>
            <a:off x="9144000" y="2072640"/>
            <a:ext cx="2316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goals autonomously (proactive)</a:t>
            </a:r>
            <a:endParaRPr lang="en-US" sz="1067" dirty="0"/>
          </a:p>
        </p:txBody>
      </p:sp>
      <p:sp>
        <p:nvSpPr>
          <p:cNvPr id="13" name="Shape 10"/>
          <p:cNvSpPr/>
          <p:nvPr/>
        </p:nvSpPr>
        <p:spPr>
          <a:xfrm>
            <a:off x="6339840" y="2645664"/>
            <a:ext cx="2438400" cy="5486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4" name="Text 11"/>
          <p:cNvSpPr/>
          <p:nvPr/>
        </p:nvSpPr>
        <p:spPr>
          <a:xfrm>
            <a:off x="6461760" y="2706624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turn interactions (stateless)</a:t>
            </a:r>
            <a:endParaRPr lang="en-US" sz="1067" dirty="0"/>
          </a:p>
        </p:txBody>
      </p:sp>
      <p:sp>
        <p:nvSpPr>
          <p:cNvPr id="15" name="Shape 12"/>
          <p:cNvSpPr/>
          <p:nvPr/>
        </p:nvSpPr>
        <p:spPr>
          <a:xfrm>
            <a:off x="9022080" y="2645664"/>
            <a:ext cx="2560320" cy="5486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6" name="Text 13"/>
          <p:cNvSpPr/>
          <p:nvPr/>
        </p:nvSpPr>
        <p:spPr>
          <a:xfrm>
            <a:off x="9144000" y="2706624"/>
            <a:ext cx="2316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context and memory (stateful)</a:t>
            </a:r>
            <a:endParaRPr lang="en-US" sz="1067" dirty="0"/>
          </a:p>
        </p:txBody>
      </p:sp>
      <p:sp>
        <p:nvSpPr>
          <p:cNvPr id="17" name="Shape 14"/>
          <p:cNvSpPr/>
          <p:nvPr/>
        </p:nvSpPr>
        <p:spPr>
          <a:xfrm>
            <a:off x="6339840" y="3279648"/>
            <a:ext cx="2438400" cy="5486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8" name="Text 15"/>
          <p:cNvSpPr/>
          <p:nvPr/>
        </p:nvSpPr>
        <p:spPr>
          <a:xfrm>
            <a:off x="6461760" y="3340608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text out (limited)</a:t>
            </a:r>
            <a:endParaRPr lang="en-US" sz="1067" dirty="0"/>
          </a:p>
        </p:txBody>
      </p:sp>
      <p:sp>
        <p:nvSpPr>
          <p:cNvPr id="19" name="Shape 16"/>
          <p:cNvSpPr/>
          <p:nvPr/>
        </p:nvSpPr>
        <p:spPr>
          <a:xfrm>
            <a:off x="9022080" y="3279648"/>
            <a:ext cx="2560320" cy="5486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0" name="Text 17"/>
          <p:cNvSpPr/>
          <p:nvPr/>
        </p:nvSpPr>
        <p:spPr>
          <a:xfrm>
            <a:off x="9144000" y="3340608"/>
            <a:ext cx="2316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tools and APIs (capable)</a:t>
            </a:r>
            <a:endParaRPr lang="en-US" sz="1067" dirty="0"/>
          </a:p>
        </p:txBody>
      </p:sp>
      <p:sp>
        <p:nvSpPr>
          <p:cNvPr id="21" name="Shape 18"/>
          <p:cNvSpPr/>
          <p:nvPr/>
        </p:nvSpPr>
        <p:spPr>
          <a:xfrm>
            <a:off x="6339840" y="3913632"/>
            <a:ext cx="2438400" cy="5486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2" name="Text 19"/>
          <p:cNvSpPr/>
          <p:nvPr/>
        </p:nvSpPr>
        <p:spPr>
          <a:xfrm>
            <a:off x="6461760" y="3974592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planning capability (immediate)</a:t>
            </a:r>
            <a:endParaRPr lang="en-US" sz="1067" dirty="0"/>
          </a:p>
        </p:txBody>
      </p:sp>
      <p:sp>
        <p:nvSpPr>
          <p:cNvPr id="23" name="Shape 20"/>
          <p:cNvSpPr/>
          <p:nvPr/>
        </p:nvSpPr>
        <p:spPr>
          <a:xfrm>
            <a:off x="9022080" y="3913632"/>
            <a:ext cx="2560320" cy="5486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4" name="Text 21"/>
          <p:cNvSpPr/>
          <p:nvPr/>
        </p:nvSpPr>
        <p:spPr>
          <a:xfrm>
            <a:off x="9144000" y="3974592"/>
            <a:ext cx="2316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and executes multi-step tasks (strategic)</a:t>
            </a:r>
            <a:endParaRPr lang="en-US" sz="1067" dirty="0"/>
          </a:p>
        </p:txBody>
      </p:sp>
      <p:sp>
        <p:nvSpPr>
          <p:cNvPr id="25" name="Text 22"/>
          <p:cNvSpPr/>
          <p:nvPr/>
        </p:nvSpPr>
        <p:spPr>
          <a:xfrm>
            <a:off x="609600" y="432816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Characteristics:</a:t>
            </a:r>
            <a:endParaRPr lang="en-US" sz="1867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815840"/>
            <a:ext cx="304800" cy="3048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75360" y="481584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(independent operation)</a:t>
            </a:r>
            <a:endParaRPr lang="en-US" sz="1333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80" y="4815840"/>
            <a:ext cx="304800" cy="3048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901440" y="481584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Reactivity (environment awareness)</a:t>
            </a:r>
            <a:endParaRPr lang="en-US" sz="1333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0" y="4815840"/>
            <a:ext cx="304800" cy="3048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27520" y="481584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Proactivity (goal-driven behaviour)</a:t>
            </a:r>
            <a:endParaRPr lang="en-US" sz="1333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840" y="4815840"/>
            <a:ext cx="304800" cy="3048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53600" y="481584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ability (multi-agent interaction)</a:t>
            </a:r>
            <a:endParaRPr lang="en-US" sz="1333" dirty="0"/>
          </a:p>
        </p:txBody>
      </p:sp>
      <p:sp>
        <p:nvSpPr>
          <p:cNvPr id="34" name="Text 27"/>
          <p:cNvSpPr/>
          <p:nvPr/>
        </p:nvSpPr>
        <p:spPr>
          <a:xfrm>
            <a:off x="609600" y="536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Customer service bots, coding assistants, research agents, workflow automation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Architecture Overview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Shape 2"/>
          <p:cNvSpPr/>
          <p:nvPr/>
        </p:nvSpPr>
        <p:spPr>
          <a:xfrm>
            <a:off x="5852160" y="2072640"/>
            <a:ext cx="1828800" cy="7315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Shape 3"/>
          <p:cNvSpPr/>
          <p:nvPr/>
        </p:nvSpPr>
        <p:spPr>
          <a:xfrm flipH="1">
            <a:off x="7071360" y="3855718"/>
            <a:ext cx="1828800" cy="7315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Shape 4"/>
          <p:cNvSpPr/>
          <p:nvPr/>
        </p:nvSpPr>
        <p:spPr>
          <a:xfrm>
            <a:off x="4632960" y="4267200"/>
            <a:ext cx="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Shape 5"/>
          <p:cNvSpPr/>
          <p:nvPr/>
        </p:nvSpPr>
        <p:spPr>
          <a:xfrm flipV="1">
            <a:off x="2804160" y="2072640"/>
            <a:ext cx="1828800" cy="7315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Shape 6"/>
          <p:cNvSpPr/>
          <p:nvPr/>
        </p:nvSpPr>
        <p:spPr>
          <a:xfrm>
            <a:off x="4632960" y="1584960"/>
            <a:ext cx="2438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487680" cy="487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1767840"/>
            <a:ext cx="1645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0352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processing)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2804160"/>
            <a:ext cx="2438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880" y="3048000"/>
            <a:ext cx="487680" cy="487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51520" y="2987040"/>
            <a:ext cx="1645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351520" y="3413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(Decision making)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32960" y="4023360"/>
            <a:ext cx="2438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67200"/>
            <a:ext cx="487680" cy="487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4206240"/>
            <a:ext cx="1645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03520" y="4632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 execution)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584960" y="2804160"/>
            <a:ext cx="2438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880" y="3048000"/>
            <a:ext cx="487680" cy="487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55520" y="2987040"/>
            <a:ext cx="1645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255520" y="3413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storage)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39958" y="2804160"/>
            <a:ext cx="1463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</a:t>
            </a:r>
            <a:endParaRPr lang="en-US" sz="1867" dirty="0"/>
          </a:p>
        </p:txBody>
      </p:sp>
      <p:sp>
        <p:nvSpPr>
          <p:cNvPr id="25" name="Shape 19"/>
          <p:cNvSpPr/>
          <p:nvPr/>
        </p:nvSpPr>
        <p:spPr>
          <a:xfrm>
            <a:off x="609600" y="5364480"/>
            <a:ext cx="10972800" cy="1097280"/>
          </a:xfrm>
          <a:prstGeom prst="rect">
            <a:avLst/>
          </a:prstGeom>
          <a:solidFill>
            <a:srgbClr val="023047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6" name="Text 20"/>
          <p:cNvSpPr/>
          <p:nvPr/>
        </p:nvSpPr>
        <p:spPr>
          <a:xfrm>
            <a:off x="853440" y="5486400"/>
            <a:ext cx="104851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Sense-Think-Act Cycle: Agents continuously perceive their environment, reason about the best course of action based on their goals and knowledge, execute actions, and store results in memory for future reference.</a:t>
            </a:r>
            <a:endParaRPr lang="en-US" sz="1467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135E5747-8534-AE27-10B2-29FCE7FC9A82}"/>
              </a:ext>
            </a:extLst>
          </p:cNvPr>
          <p:cNvSpPr/>
          <p:nvPr/>
        </p:nvSpPr>
        <p:spPr>
          <a:xfrm>
            <a:off x="2773680" y="3901440"/>
            <a:ext cx="1828800" cy="7315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Up: Microsoft Semantic Kernel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is Microsoft's open-source SDK for building AI agents (orchestration framework for LLMs)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828800"/>
            <a:ext cx="7071360" cy="445008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792480" y="1950720"/>
            <a:ext cx="670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Install NuGet packages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dotnet add package Microsoft.SemanticKernel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dotnet add package Microsoft.SemanticKernel.Connectors.OpenAI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Create and configure the Kernel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Microsoft.SemanticKernel;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builder = Kernel.CreateBuilder();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Configure AI service (supports OpenAI, Azure OpenAI, local models)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builder.AddOpenAIChatCompletion(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modelId: "gpt-4o",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apiKey: Environment.GetEnvironmentVariable("OPENAI_API_KEY")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 the kernel (central orchestrator)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kernel = builder.Build();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Simple completion example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response = await kernel.InvokePromptAsync&lt;string&gt;(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"What are three benefits of AI agents in software development?"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Console.WriteLine(response);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4800" y="182880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7924800" y="2377440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Kernel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7924800" y="268224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orchestrator that manages AI services and plugins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24800" y="3169920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7924800" y="347472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functions the agent can call (tools)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4800" y="3962400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924800" y="426720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for different AI providers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24800" y="4754880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924800" y="505968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support for conversation history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24800" y="5547360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Planners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7924800" y="585216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task decomposition and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Plugins (Agent Tools)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extend agent capabilities with custom functions (callable tools for specific tasks)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767840"/>
            <a:ext cx="7559040" cy="438912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792480" y="1889760"/>
            <a:ext cx="7193280" cy="4145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Microsoft.SemanticKernel;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System.ComponentModel;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 plugin class with agent-callable functions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WeatherPlugin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[KernelFunction("get_weather")]  // Function name for the agent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[Description("Gets the current weather for a specified city")]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Task&lt;string&gt; GetWeatherAsync(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[Description("The city name")] string city)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In production: call actual weather API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weatherData = await FetchWeatherFromAPI(city);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$"Weather in {city}: {weatherData.Temp}°C, {weatherData.Condition}";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[KernelFunction("get_forecast")]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[Description("Gets 5-day weather forecast for a city")]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Task&lt;string&gt; GetForecastAsync(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[Description("The city name")] string city,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[Description("Number of days (1-5)")] int days = 5)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forecast = await FetchForecastFromAPI(city, days);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FormatForecast(forecast);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 the plugin with the kernel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kernel.Plugins.AddFromType&lt;WeatherPlugin&gt;();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0" y="1767840"/>
            <a:ext cx="316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889760"/>
            <a:ext cx="426720" cy="426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22080" y="1950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 Attributes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2438400"/>
            <a:ext cx="243840" cy="243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39200" y="2377440"/>
            <a:ext cx="26212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[KernelFunction] - marks method as callable by agent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108960"/>
            <a:ext cx="243840" cy="243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39200" y="3048000"/>
            <a:ext cx="26212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[Description] - tells agent what the function does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779520"/>
            <a:ext cx="243840" cy="2438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39200" y="3718560"/>
            <a:ext cx="26212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descriptions help agent use functions correctly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4450080"/>
            <a:ext cx="243840" cy="2438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9200" y="4389120"/>
            <a:ext cx="26212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methods recommended for API calls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5120640"/>
            <a:ext cx="243840" cy="2438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9200" y="5059680"/>
            <a:ext cx="26212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strings or structured data for agent to process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 in Action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automatic function calling allows the agent to decide when to use tools (autonomous tool selection)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767840"/>
            <a:ext cx="10972800" cy="445008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792480" y="188976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Microsoft.SemanticKernel.Connectors.OpenAI;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Configure automatic function calling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executionSettings = new OpenAIPromptExecutionSettings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FunctionChoiceBehavior = FunctionChoiceBehavior.Auto()  // Agent decides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Other options: Required() - must use function, None() - no functions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chat service with function calling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chatService = kernel.GetRequiredService&lt;IChatCompletionService&gt;();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chatHistory = new ChatHistory();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system message defining agent behaviour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chatHistory.AddSystemMessage(@"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You are a helpful weather assistant. 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the available weather functions to answer user questions.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Always provide temperatures in Celsius.");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asks a question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chatHistory.AddUserMessage("What's the weather like in London and Paris?");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 automatically calls appropriate functions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response = await chatService.GetChatMessageContentAsync(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chatHistory,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executionSettings,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"In London it's 15°C and cloudy. In Paris it's 18°C and sunny."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Console.WriteLine(response.Content);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Agent Memory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Agent Memory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5242560" cy="7924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792480" y="2048256"/>
            <a:ext cx="4876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 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2480" y="2377440"/>
            <a:ext cx="4876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conversation context (chat history within session)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609600" y="2865120"/>
            <a:ext cx="5242560" cy="7924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/>
          <p:nvPr/>
        </p:nvSpPr>
        <p:spPr>
          <a:xfrm>
            <a:off x="792480" y="2962656"/>
            <a:ext cx="4876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Memory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2480" y="3291840"/>
            <a:ext cx="4876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knowledge across sessions (vector databases, embeddings)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609600" y="3779520"/>
            <a:ext cx="5242560" cy="7924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2" name="Text 10"/>
          <p:cNvSpPr/>
          <p:nvPr/>
        </p:nvSpPr>
        <p:spPr>
          <a:xfrm>
            <a:off x="792480" y="3877056"/>
            <a:ext cx="4876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2480" y="4206240"/>
            <a:ext cx="4876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task state and intermediate results (scratchpad)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096000" y="1402080"/>
            <a:ext cx="5486400" cy="475488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Text 13"/>
          <p:cNvSpPr/>
          <p:nvPr/>
        </p:nvSpPr>
        <p:spPr>
          <a:xfrm>
            <a:off x="6278880" y="1524000"/>
            <a:ext cx="5120640" cy="4511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Short-term: ChatHistory for conversation context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chatHistory = new ChatHistory();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chatHistory.AddSystemMessage("You are a helpful assistant.");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chatHistory.AddUserMessage("My name is Ahmed");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chatHistory.AddAssistantMessage("Hello Ahmed!");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 remembers within the conversation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chatHistory.AddUserMessage("What's my name?");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Response: "Your name is Ahmed"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Long-term: Semantic Memory with embeddings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Microsoft.SemanticKernel.Memory;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Configure memory store (in-memory, or use 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persistent stores like Qdrant, Pinecone)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memoryBuilder = new MemoryBuilder();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memoryBuilder.WithOpenAITextEmbedding(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"text-embedding-ada-002", apiKey);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memoryBuilder.WithMemoryStore(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VolatileMemoryStore());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memory = memoryBuilder.Build();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information to long-term memory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memory.SaveInformationAsync(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"user_preferences",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 prefers Celsius temperatures",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"pref_001");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 Management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conversation history and context windows (handling token limits effectively)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767840"/>
            <a:ext cx="4801496" cy="445008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792480" y="1889760"/>
            <a:ext cx="4446494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ConversationManager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ChatHistory _history;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int _maxMessages;  // Limit context size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ConversationManager(int maxMessages = 20)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_history = new ChatHistory();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_maxMessages = maxMessages;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AddSystemPrompt(string prompt)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_history.AddSystemMessage(prompt);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AddUserMessage(string message)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_history.AddUserMessage(message);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TrimHistory();  // Keep context manageable</a:t>
            </a:r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61998AE-74F9-D813-E22E-BA82A206E608}"/>
              </a:ext>
            </a:extLst>
          </p:cNvPr>
          <p:cNvSpPr/>
          <p:nvPr/>
        </p:nvSpPr>
        <p:spPr>
          <a:xfrm>
            <a:off x="6004560" y="1767840"/>
            <a:ext cx="4801496" cy="445008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AddAssistantMessage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message)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history.AddAssistantMessage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(message);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TrimHistory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Keep system message + last N messages (sliding window)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(_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history.Count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_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maxMessages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+ 1)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history.RemoveAt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(1);  // Remove oldest (keep system)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Summarise old context for compression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Task&lt;string&gt; 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SummariseAndCompressAsync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(Kernel kernel)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oldMessages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GetOldMessages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summary = await 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kernel.InvokePromptAsync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&lt;string&gt;(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$"Summarise this conversation briefly: {</a:t>
            </a:r>
            <a:r>
              <a:rPr lang="en-US" sz="105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oldMessages</a:t>
            </a: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}");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summary;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GB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and Reasoning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decompose complex goals into executable steps (automatic task orchestration)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Approaches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609600" y="2316480"/>
            <a:ext cx="52425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Text 5"/>
          <p:cNvSpPr/>
          <p:nvPr/>
        </p:nvSpPr>
        <p:spPr>
          <a:xfrm>
            <a:off x="792480" y="241401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 Planning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92480" y="274320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steps one after another in 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11040" y="256032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1→2→3→Done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3291840"/>
            <a:ext cx="52425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/>
          <p:nvPr/>
        </p:nvSpPr>
        <p:spPr>
          <a:xfrm>
            <a:off x="792480" y="338937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Stepwise Planning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792480" y="371856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next step based on previous 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11040" y="353568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1→?→?→Done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" y="4267200"/>
            <a:ext cx="52425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Text 13"/>
          <p:cNvSpPr/>
          <p:nvPr/>
        </p:nvSpPr>
        <p:spPr>
          <a:xfrm>
            <a:off x="792480" y="436473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Handlebars Planning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792480" y="469392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plans with conditionals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11040" y="451104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if/then logic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6000" y="1828800"/>
            <a:ext cx="5486400" cy="365760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Text 17"/>
          <p:cNvSpPr/>
          <p:nvPr/>
        </p:nvSpPr>
        <p:spPr>
          <a:xfrm>
            <a:off x="6278880" y="1950720"/>
            <a:ext cx="5120640" cy="341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warning disable SKEXP0060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Microsoft.SemanticKernel.Planning;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a Handlebars planner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planner = new HandlebarsPlanner(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HandlebarsPlannerOptions { AllowLoops = true });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 complex goal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goal = @"Research the weather in London, 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write a short poem about it, 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save the poem to a file.";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 a plan automatically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plan = await planner.CreatePlanAsync(kernel, goal);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Console.WriteLine("Generated Plan:");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Console.WriteLine(plan.ToString());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Execute the plan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await plan.InvokeAsync(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kernel, </a:t>
            </a:r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KernelArguments());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Console.WriteLine($"Result: {result}");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9600" y="5608320"/>
            <a:ext cx="10972800" cy="67056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GB" sz="240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573024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5669280"/>
            <a:ext cx="1011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Planners are experimental in Semantic Kernel. For production, consider implementing custom planning logic with explicit step validation.</a:t>
            </a:r>
            <a:endParaRPr lang="en-US" sz="13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Pattern: Reason + Act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reasoning traces with action execution (think-act-observe loop)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767840"/>
            <a:ext cx="7559040" cy="451104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792480" y="1889760"/>
            <a:ext cx="7193280" cy="426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ReActAgent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Kernel _kernel;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IChatCompletionService _chat;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const string ReActPrompt = @"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agent that reasons step-by-step before acting.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step, output your thinking in this format: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[Your reasoning about what to do next]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[The function to call, or 'Final Answer']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Input: [Input parameters as JSON]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receiving Observation (function result), continue reasoning.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have the final answer, use Action: Final Answer.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functions: {functions}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Task&lt;string&gt; RunAsync(string goal)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history = new ChatHistory();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history.AddSystemMessage(ReActPrompt.Replace(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"{functions}", GetFunctionDescriptions()));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history.AddUserMessage(goal);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(true)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var response = await _chat.GetChatMessageContentAsync(history);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var parsed = ParseReActResponse(response.Content);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(parsed.Action == "Final Answer")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parsed.ActionInput;</a:t>
            </a:r>
            <a:endParaRPr lang="en-US" sz="600" dirty="0"/>
          </a:p>
          <a:p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Execute the action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var result = await ExecuteFunctionAsync(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parsed.Action, parsed.ActionInput);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Add observation for next iteration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history.AddAssistantMessage(response.Content);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history.AddUserMessage($"Observation: {result}");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00" dirty="0"/>
          </a:p>
          <a:p>
            <a:r>
              <a:rPr lang="en-US" sz="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8412480" y="17678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Cycle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8412480" y="225552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/>
          <p:nvPr/>
        </p:nvSpPr>
        <p:spPr>
          <a:xfrm>
            <a:off x="8412480" y="225552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8961120" y="2255520"/>
            <a:ext cx="12192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8961120" y="2474976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goal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92608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8961120" y="2926080"/>
            <a:ext cx="12192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8961120" y="3145536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function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359664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7" name="Text 15"/>
          <p:cNvSpPr/>
          <p:nvPr/>
        </p:nvSpPr>
        <p:spPr>
          <a:xfrm>
            <a:off x="8412480" y="35966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8961120" y="3596640"/>
            <a:ext cx="12192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8961120" y="3816096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function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426720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8412480" y="426720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8961120" y="4267200"/>
            <a:ext cx="12192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8961120" y="4486656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result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493776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5" name="Text 23"/>
          <p:cNvSpPr/>
          <p:nvPr/>
        </p:nvSpPr>
        <p:spPr>
          <a:xfrm>
            <a:off x="8412480" y="493776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8961120" y="4937760"/>
            <a:ext cx="12192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8961120" y="5157216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done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Systems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specialised agents collaborating on complex tasks (divide and conquer approach)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7200" y="1950720"/>
            <a:ext cx="2804160" cy="1036320"/>
          </a:xfrm>
          <a:prstGeom prst="rect">
            <a:avLst/>
          </a:prstGeom>
          <a:solidFill>
            <a:srgbClr val="023047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4389120" y="213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4389120" y="2560320"/>
            <a:ext cx="25603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workflow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975360" y="3413760"/>
            <a:ext cx="2804160" cy="1036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/>
          <p:nvPr/>
        </p:nvSpPr>
        <p:spPr>
          <a:xfrm>
            <a:off x="1097280" y="3596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Researcher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25603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information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4267200" y="3413760"/>
            <a:ext cx="2804160" cy="1036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2" name="Text 10"/>
          <p:cNvSpPr/>
          <p:nvPr/>
        </p:nvSpPr>
        <p:spPr>
          <a:xfrm>
            <a:off x="4389120" y="3596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389120" y="4023360"/>
            <a:ext cx="25603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content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7559040" y="3413760"/>
            <a:ext cx="2804160" cy="10363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5" name="Text 13"/>
          <p:cNvSpPr/>
          <p:nvPr/>
        </p:nvSpPr>
        <p:spPr>
          <a:xfrm>
            <a:off x="7680960" y="3596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7680960" y="4023360"/>
            <a:ext cx="25603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quality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669280" y="2987040"/>
            <a:ext cx="0" cy="426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Shape 16"/>
          <p:cNvSpPr/>
          <p:nvPr/>
        </p:nvSpPr>
        <p:spPr>
          <a:xfrm>
            <a:off x="5669280" y="2987040"/>
            <a:ext cx="0" cy="426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Shape 17"/>
          <p:cNvSpPr/>
          <p:nvPr/>
        </p:nvSpPr>
        <p:spPr>
          <a:xfrm>
            <a:off x="5669280" y="2987040"/>
            <a:ext cx="2865120" cy="426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Shape 18"/>
          <p:cNvSpPr/>
          <p:nvPr/>
        </p:nvSpPr>
        <p:spPr>
          <a:xfrm>
            <a:off x="609600" y="4632960"/>
            <a:ext cx="10972800" cy="188976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792480" y="47548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specialised agents using AutoGen or custom implementation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AgentTeam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ResearcherAgent _researcher;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WriterAgent _writer;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CriticAgent _critic;</a:t>
            </a:r>
            <a:endParaRPr lang="en-US" sz="400" dirty="0"/>
          </a:p>
          <a:p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Task&lt;string&gt; CreateArticleAsync(string topic)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Step 1: Research agent gathers information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research = await _researcher.ResearchAsync(topic);</a:t>
            </a:r>
            <a:endParaRPr lang="en-US" sz="400" dirty="0"/>
          </a:p>
          <a:p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Step 2: Writer creates draft based on research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draft = await _writer.WriteAsync(topic, research);</a:t>
            </a:r>
            <a:endParaRPr lang="en-US" sz="400" dirty="0"/>
          </a:p>
          <a:p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Step 3: Critic reviews and suggests improvements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feedback = await _critic.ReviewAsync(draft);</a:t>
            </a:r>
            <a:endParaRPr lang="en-US" sz="400" dirty="0"/>
          </a:p>
          <a:p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Step 4: Writer revises based on feedback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finalDraft = await _writer.ReviseAsync(draft, feedback);</a:t>
            </a:r>
            <a:endParaRPr lang="en-US" sz="400" dirty="0"/>
          </a:p>
          <a:p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finalDraft;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400" dirty="0"/>
          </a:p>
          <a:p>
            <a:r>
              <a:rPr lang="en-US" sz="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4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181F84B1-A14C-5FDF-4005-52AEB9BA26A3}"/>
              </a:ext>
            </a:extLst>
          </p:cNvPr>
          <p:cNvSpPr/>
          <p:nvPr/>
        </p:nvSpPr>
        <p:spPr>
          <a:xfrm flipH="1">
            <a:off x="2334410" y="2987040"/>
            <a:ext cx="3334869" cy="426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 and Safety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robust and safe AI agents (defensive programming for autonomous systems)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487680" cy="48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1828800"/>
            <a:ext cx="4267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Considerations</a:t>
            </a:r>
            <a:endParaRPr lang="en-US" sz="186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38400"/>
            <a:ext cx="243840" cy="243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5360" y="237744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(sanitise user inputs before processing)</a:t>
            </a:r>
            <a:endParaRPr lang="en-US" sz="133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01696"/>
            <a:ext cx="243840" cy="243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5360" y="2840736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 (check agent responses for harmful content)</a:t>
            </a:r>
            <a:endParaRPr lang="en-US" sz="1333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64992"/>
            <a:ext cx="243840" cy="2438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5360" y="3304032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(prevent runaway API costs)</a:t>
            </a:r>
            <a:endParaRPr lang="en-US" sz="1333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28288"/>
            <a:ext cx="243840" cy="2438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75360" y="3767328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controls (kill long-running operations)</a:t>
            </a:r>
            <a:endParaRPr lang="en-US" sz="1333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91584"/>
            <a:ext cx="243840" cy="2438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5360" y="4230624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(require approval for critical actions)</a:t>
            </a:r>
            <a:endParaRPr lang="en-US" sz="1333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54880"/>
            <a:ext cx="243840" cy="2438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75360" y="469392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(track all agent decisions and actions)</a:t>
            </a:r>
            <a:endParaRPr lang="en-US" sz="1333" dirty="0"/>
          </a:p>
        </p:txBody>
      </p:sp>
      <p:sp>
        <p:nvSpPr>
          <p:cNvPr id="19" name="Shape 10"/>
          <p:cNvSpPr/>
          <p:nvPr/>
        </p:nvSpPr>
        <p:spPr>
          <a:xfrm>
            <a:off x="5852160" y="1767840"/>
            <a:ext cx="5730240" cy="451104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Text 11"/>
          <p:cNvSpPr/>
          <p:nvPr/>
        </p:nvSpPr>
        <p:spPr>
          <a:xfrm>
            <a:off x="6035040" y="1889760"/>
            <a:ext cx="5364480" cy="426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SafeAgentExecutor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int _maxIterations = 10;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TimeSpan _timeout = TimeSpan.FromMinutes(2);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Task&lt;AgentResult&gt; ExecuteSafelyAsync(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goal, CancellationToken ct)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iterations = 0;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using var cts = CancellationTokenSource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.CreateLinkedTokenSource(ct);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cts.CancelAfter(_timeout);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(iterations &lt; _maxIterations)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iterations++;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var step = await _agent.StepAsync(goal, cts.Token);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// Validate output before returning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(!await ValidateOutputAsync(step.Output))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throw new SafetyException("Output failed validation");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(step.IsComplete)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return new AgentResult { Success = true, Output = step.Output };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new AgentResult { Success = false, 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Error = "Max iterations reached" };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catch (OperationCanceledException)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_logger.LogWarning("Agent execution timed out");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new AgentResult { Success = false, Error = "Timeout" };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Exercise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63040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200" y="1463040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Task Management Agent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2072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AI agent that can manage a to-do list with natural language commands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600" y="256032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Requirements:</a:t>
            </a:r>
            <a:endParaRPr lang="en-US" sz="1867" dirty="0"/>
          </a:p>
        </p:txBody>
      </p:sp>
      <p:sp>
        <p:nvSpPr>
          <p:cNvPr id="8" name="Text 5"/>
          <p:cNvSpPr/>
          <p:nvPr/>
        </p:nvSpPr>
        <p:spPr>
          <a:xfrm>
            <a:off x="609600" y="2987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1036320" y="298704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plugins for: AddTask, ListTasks, CompleteTask, DeleteTask</a:t>
            </a:r>
            <a:endParaRPr lang="en-US" sz="1333" dirty="0"/>
          </a:p>
        </p:txBody>
      </p:sp>
      <p:sp>
        <p:nvSpPr>
          <p:cNvPr id="10" name="Text 7"/>
          <p:cNvSpPr/>
          <p:nvPr/>
        </p:nvSpPr>
        <p:spPr>
          <a:xfrm>
            <a:off x="6096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1036320" y="347472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conversation memory to track context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609600" y="3962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1036320" y="3962400"/>
            <a:ext cx="499872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natural language parsing for commands like:</a:t>
            </a:r>
            <a:endParaRPr lang="en-US" sz="1333" dirty="0"/>
          </a:p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"Add buy groceries to my list"</a:t>
            </a:r>
            <a:endParaRPr lang="en-US" sz="1333" dirty="0"/>
          </a:p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"What tasks do I have?"</a:t>
            </a:r>
            <a:endParaRPr lang="en-US" sz="1333" dirty="0"/>
          </a:p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"Mark the first task as done"</a:t>
            </a:r>
            <a:endParaRPr lang="en-US" sz="1333" dirty="0"/>
          </a:p>
        </p:txBody>
      </p:sp>
      <p:sp>
        <p:nvSpPr>
          <p:cNvPr id="14" name="Text 11"/>
          <p:cNvSpPr/>
          <p:nvPr/>
        </p:nvSpPr>
        <p:spPr>
          <a:xfrm>
            <a:off x="609600" y="499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467" dirty="0"/>
          </a:p>
        </p:txBody>
      </p:sp>
      <p:sp>
        <p:nvSpPr>
          <p:cNvPr id="15" name="Text 12"/>
          <p:cNvSpPr/>
          <p:nvPr/>
        </p:nvSpPr>
        <p:spPr>
          <a:xfrm>
            <a:off x="1036320" y="499872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error handling for invalid operations</a:t>
            </a:r>
            <a:endParaRPr lang="en-US" sz="1333" dirty="0"/>
          </a:p>
        </p:txBody>
      </p:sp>
      <p:sp>
        <p:nvSpPr>
          <p:cNvPr id="16" name="Text 13"/>
          <p:cNvSpPr/>
          <p:nvPr/>
        </p:nvSpPr>
        <p:spPr>
          <a:xfrm>
            <a:off x="60960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467" dirty="0"/>
          </a:p>
        </p:txBody>
      </p:sp>
      <p:sp>
        <p:nvSpPr>
          <p:cNvPr id="17" name="Text 14"/>
          <p:cNvSpPr/>
          <p:nvPr/>
        </p:nvSpPr>
        <p:spPr>
          <a:xfrm>
            <a:off x="1036320" y="548640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task priorities and due dates</a:t>
            </a:r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60960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 Code:</a:t>
            </a:r>
            <a:endParaRPr lang="en-US" sz="1867" dirty="0"/>
          </a:p>
        </p:txBody>
      </p:sp>
      <p:sp>
        <p:nvSpPr>
          <p:cNvPr id="19" name="Shape 16"/>
          <p:cNvSpPr/>
          <p:nvPr/>
        </p:nvSpPr>
        <p:spPr>
          <a:xfrm>
            <a:off x="6096000" y="2987040"/>
            <a:ext cx="5486400" cy="329184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Text 17"/>
          <p:cNvSpPr/>
          <p:nvPr/>
        </p:nvSpPr>
        <p:spPr>
          <a:xfrm>
            <a:off x="6278880" y="3108960"/>
            <a:ext cx="512064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TaskManagerPlugin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List&lt;TaskItem&gt; _tasks = new();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[KernelFunction("add_task")]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[Description("Adds a new task")]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AddTask(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[Description("Task description")] string description,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[Description("Priority: low/medium/high")] string priority = "medium")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TODO: Implement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[KernelFunction("list_tasks")]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[Description("Lists all tasks")]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ListTasks()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TODO: Implement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Add more functions...</a:t>
            </a:r>
            <a:endParaRPr lang="en-US" sz="800" dirty="0"/>
          </a:p>
          <a:p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AI Agents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testing non-deterministic AI systems (ensuring reliability)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Approaches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609600" y="2316480"/>
            <a:ext cx="5242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Text 5"/>
          <p:cNvSpPr/>
          <p:nvPr/>
        </p:nvSpPr>
        <p:spPr>
          <a:xfrm>
            <a:off x="792480" y="2414016"/>
            <a:ext cx="4876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Testing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92480" y="2682240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individual plugins and functions in isolation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3072384"/>
            <a:ext cx="5242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Text 8"/>
          <p:cNvSpPr/>
          <p:nvPr/>
        </p:nvSpPr>
        <p:spPr>
          <a:xfrm>
            <a:off x="792480" y="3169920"/>
            <a:ext cx="4876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Testing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792480" y="3438144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 interactions with mocked AI services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" y="3828288"/>
            <a:ext cx="5242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792480" y="3925824"/>
            <a:ext cx="4876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Testing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792480" y="4194048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agent responses against expected outcomes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" y="4584192"/>
            <a:ext cx="5242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6" name="Text 14"/>
          <p:cNvSpPr/>
          <p:nvPr/>
        </p:nvSpPr>
        <p:spPr>
          <a:xfrm>
            <a:off x="792480" y="4681728"/>
            <a:ext cx="4876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Testing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792480" y="4949952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changes don't break existing behaviour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600" y="5340096"/>
            <a:ext cx="5242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Text 17"/>
          <p:cNvSpPr/>
          <p:nvPr/>
        </p:nvSpPr>
        <p:spPr>
          <a:xfrm>
            <a:off x="792480" y="5437632"/>
            <a:ext cx="4876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Testing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792480" y="5705856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performance under concurrent requests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96000" y="1828800"/>
            <a:ext cx="5486400" cy="4389120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2" name="Text 20"/>
          <p:cNvSpPr/>
          <p:nvPr/>
        </p:nvSpPr>
        <p:spPr>
          <a:xfrm>
            <a:off x="6278880" y="1950720"/>
            <a:ext cx="5120640" cy="4145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[TestClass]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TaskAgentTests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Kernel _kernel;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Mock&lt;IChatCompletionService&gt; _mockChat;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[TestInitialize]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Setup()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_mockChat = new Mock&lt;IChatCompletionService&gt;();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_kernel = Kernel.CreateBuilder()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.AddService(_mockChat.Object)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.Build();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_kernel.Plugins.AddFromType&lt;TaskManagerPlugin&gt;();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[TestMethod]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 AddTask_ValidInput_ReturnsSuccess()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Arrange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plugin = _kernel.Plugins["TaskManagerPlugin"];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function = plugin["add_task"];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Act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result = await _kernel.InvokeAsync(function,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new() { ["description"] = "Test task" });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Assert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Assert.IsTrue(result.ToString().Contains("added"));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[TestMethod]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 Agent_UnderstandsNaturalLanguage()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Test that "add buy milk" triggers add_task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_mockChat.Setup(x =&gt; x.GetChatMessageContentAsync(...))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.ReturnsAsync(new ChatMessageContent(...));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Verify correct function was called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Considerations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268224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45920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 Management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286512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2896" y="2828544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Azure Key Vault or similar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3328416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2896" y="32918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keys regularly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3791712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2896" y="3755136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to source control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3535680" y="1463040"/>
            <a:ext cx="268224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45920"/>
            <a:ext cx="609600" cy="609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657600" y="237744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Control</a:t>
            </a:r>
            <a:endParaRPr lang="en-US" sz="16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560" y="2865120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998976" y="2828544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spending limits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560" y="3328416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998976" y="32918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token usage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560" y="3791712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998976" y="3755136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repeated queries</a:t>
            </a:r>
            <a:endParaRPr lang="en-US" sz="1200" dirty="0"/>
          </a:p>
        </p:txBody>
      </p:sp>
      <p:sp>
        <p:nvSpPr>
          <p:cNvPr id="22" name="Shape 12"/>
          <p:cNvSpPr/>
          <p:nvPr/>
        </p:nvSpPr>
        <p:spPr>
          <a:xfrm>
            <a:off x="6461760" y="1463040"/>
            <a:ext cx="268224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45920"/>
            <a:ext cx="609600" cy="609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583680" y="237744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6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2865120"/>
            <a:ext cx="219456" cy="219456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925056" y="2828544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patterns</a:t>
            </a:r>
            <a:endParaRPr lang="en-US" sz="12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3328416"/>
            <a:ext cx="219456" cy="219456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925056" y="32918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queuing</a:t>
            </a:r>
            <a:endParaRPr lang="en-US" sz="12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3791712"/>
            <a:ext cx="219456" cy="219456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925056" y="3755136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serverless</a:t>
            </a:r>
            <a:endParaRPr lang="en-US" sz="1200" dirty="0"/>
          </a:p>
        </p:txBody>
      </p:sp>
      <p:sp>
        <p:nvSpPr>
          <p:cNvPr id="31" name="Shape 17"/>
          <p:cNvSpPr/>
          <p:nvPr/>
        </p:nvSpPr>
        <p:spPr>
          <a:xfrm>
            <a:off x="9387840" y="1463040"/>
            <a:ext cx="268224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1645920"/>
            <a:ext cx="609600" cy="60960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9509760" y="237744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6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2865120"/>
            <a:ext cx="219456" cy="219456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851136" y="2828544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interactions</a:t>
            </a:r>
            <a:endParaRPr lang="en-US" sz="120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3328416"/>
            <a:ext cx="219456" cy="219456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9851136" y="32918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success rates</a:t>
            </a:r>
            <a:endParaRPr lang="en-US" sz="120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3791712"/>
            <a:ext cx="219456" cy="219456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9851136" y="3755136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anomalies</a:t>
            </a:r>
            <a:endParaRPr lang="en-US" sz="1200" dirty="0"/>
          </a:p>
        </p:txBody>
      </p:sp>
      <p:sp>
        <p:nvSpPr>
          <p:cNvPr id="40" name="Shape 22"/>
          <p:cNvSpPr/>
          <p:nvPr/>
        </p:nvSpPr>
        <p:spPr>
          <a:xfrm>
            <a:off x="609600" y="4754880"/>
            <a:ext cx="10972800" cy="1645920"/>
          </a:xfrm>
          <a:prstGeom prst="rect">
            <a:avLst/>
          </a:prstGeom>
          <a:solidFill>
            <a:srgbClr val="023047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1" name="Text 23"/>
          <p:cNvSpPr/>
          <p:nvPr/>
        </p:nvSpPr>
        <p:spPr>
          <a:xfrm>
            <a:off x="853440" y="4876800"/>
            <a:ext cx="10485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Architecture: User → API Gateway → Agent Service → AI Provider (OpenAI/Azure)</a:t>
            </a:r>
            <a:endParaRPr lang="en-US" sz="1600" dirty="0"/>
          </a:p>
        </p:txBody>
      </p:sp>
      <p:sp>
        <p:nvSpPr>
          <p:cNvPr id="42" name="Text 24"/>
          <p:cNvSpPr/>
          <p:nvPr/>
        </p:nvSpPr>
        <p:spPr>
          <a:xfrm>
            <a:off x="853440" y="5364480"/>
            <a:ext cx="104851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load balancing, caching layer (Redis), and observability stack (Application Insights) for enterprise deployments. Consider Azure Container Apps or AWS Lambda for serverless agent hosting.</a:t>
            </a:r>
            <a:endParaRPr lang="en-US" sz="146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Shape 3"/>
          <p:cNvSpPr/>
          <p:nvPr/>
        </p:nvSpPr>
        <p:spPr>
          <a:xfrm>
            <a:off x="609600" y="1463040"/>
            <a:ext cx="97536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914400" y="158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Support Agent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914400" y="1950720"/>
            <a:ext cx="670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queries, searches knowledge bases, escalates complex issues to humans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7924800" y="1767840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FAQ search, Ticket creation, Human handoff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535936"/>
            <a:ext cx="109728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Shape 8"/>
          <p:cNvSpPr/>
          <p:nvPr/>
        </p:nvSpPr>
        <p:spPr>
          <a:xfrm>
            <a:off x="609600" y="2535936"/>
            <a:ext cx="97536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/>
          <p:nvPr/>
        </p:nvSpPr>
        <p:spPr>
          <a:xfrm>
            <a:off x="914400" y="26578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Assistant Agent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914400" y="3023616"/>
            <a:ext cx="670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developers write, review, and debug code with repository context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7924800" y="2840736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File read/write, Code execution, Git operations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" y="3608832"/>
            <a:ext cx="109728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Shape 13"/>
          <p:cNvSpPr/>
          <p:nvPr/>
        </p:nvSpPr>
        <p:spPr>
          <a:xfrm>
            <a:off x="609600" y="3608832"/>
            <a:ext cx="97536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6" name="Text 14"/>
          <p:cNvSpPr/>
          <p:nvPr/>
        </p:nvSpPr>
        <p:spPr>
          <a:xfrm>
            <a:off x="914400" y="3730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 Agent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914400" y="4096512"/>
            <a:ext cx="670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databases, generates reports, creates visualisations automatically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7924800" y="3913632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execution, Chart generation, Excel export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600" y="4681728"/>
            <a:ext cx="109728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Shape 18"/>
          <p:cNvSpPr/>
          <p:nvPr/>
        </p:nvSpPr>
        <p:spPr>
          <a:xfrm>
            <a:off x="609600" y="4681728"/>
            <a:ext cx="97536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914400" y="4803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Agent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914400" y="5169408"/>
            <a:ext cx="670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multiple sources, synthesises information, produces summaries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7924800" y="4986528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Web search, Document parsing, Citation tracking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9600" y="5754624"/>
            <a:ext cx="1097280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5" name="Shape 23"/>
          <p:cNvSpPr/>
          <p:nvPr/>
        </p:nvSpPr>
        <p:spPr>
          <a:xfrm>
            <a:off x="609600" y="5754624"/>
            <a:ext cx="97536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6" name="Text 24"/>
          <p:cNvSpPr/>
          <p:nvPr/>
        </p:nvSpPr>
        <p:spPr>
          <a:xfrm>
            <a:off x="914400" y="58765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Automation Agent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914400" y="6242304"/>
            <a:ext cx="670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business processes across multiple systems and APIs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7924800" y="6059424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API calls, Email sending, Calendar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Summary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Shape 2"/>
          <p:cNvSpPr/>
          <p:nvPr/>
        </p:nvSpPr>
        <p:spPr>
          <a:xfrm>
            <a:off x="265357" y="1463040"/>
            <a:ext cx="2682240" cy="341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Shape 3"/>
          <p:cNvSpPr/>
          <p:nvPr/>
        </p:nvSpPr>
        <p:spPr>
          <a:xfrm>
            <a:off x="265357" y="1463040"/>
            <a:ext cx="268224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265357" y="152400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867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7" y="2133600"/>
            <a:ext cx="243840" cy="243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2077" y="207264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simple, add complexity incrementally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7" y="2926080"/>
            <a:ext cx="243840" cy="243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077" y="286512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boundaries for agent capabilities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7" y="3718560"/>
            <a:ext cx="243840" cy="243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2077" y="365760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explicit system prompts for behaviour control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191437" y="1463040"/>
            <a:ext cx="2682240" cy="341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" name="Shape 9"/>
          <p:cNvSpPr/>
          <p:nvPr/>
        </p:nvSpPr>
        <p:spPr>
          <a:xfrm>
            <a:off x="3191437" y="1463040"/>
            <a:ext cx="268224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15" name="Text 10"/>
          <p:cNvSpPr/>
          <p:nvPr/>
        </p:nvSpPr>
        <p:spPr>
          <a:xfrm>
            <a:off x="3191437" y="152400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86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7" y="2133600"/>
            <a:ext cx="243840" cy="243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18157" y="207264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comprehensive function descriptions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7" y="2926080"/>
            <a:ext cx="243840" cy="2438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18157" y="286512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robust error handling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7" y="3718560"/>
            <a:ext cx="243840" cy="2438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18157" y="365760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thorough test suites with edge cases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117517" y="1463040"/>
            <a:ext cx="2682240" cy="341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3" name="Shape 15"/>
          <p:cNvSpPr/>
          <p:nvPr/>
        </p:nvSpPr>
        <p:spPr>
          <a:xfrm>
            <a:off x="6117517" y="1463040"/>
            <a:ext cx="268224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24" name="Text 16"/>
          <p:cNvSpPr/>
          <p:nvPr/>
        </p:nvSpPr>
        <p:spPr>
          <a:xfrm>
            <a:off x="6117517" y="152400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1867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437" y="2133600"/>
            <a:ext cx="243840" cy="2438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544237" y="207264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inputs and outputs</a:t>
            </a:r>
            <a:endParaRPr lang="en-US" sz="12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437" y="2926080"/>
            <a:ext cx="243840" cy="2438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44237" y="286512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human oversight for critical actions</a:t>
            </a:r>
            <a:endParaRPr lang="en-US" sz="12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437" y="3718560"/>
            <a:ext cx="243840" cy="2438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44237" y="365760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everything for audit and debugging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9043597" y="1463040"/>
            <a:ext cx="2682240" cy="341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2" name="Shape 21"/>
          <p:cNvSpPr/>
          <p:nvPr/>
        </p:nvSpPr>
        <p:spPr>
          <a:xfrm>
            <a:off x="9043597" y="1463040"/>
            <a:ext cx="268224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33" name="Text 22"/>
          <p:cNvSpPr/>
          <p:nvPr/>
        </p:nvSpPr>
        <p:spPr>
          <a:xfrm>
            <a:off x="9043597" y="152400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867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517" y="2133600"/>
            <a:ext cx="243840" cy="24384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9470317" y="207264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frequently used data</a:t>
            </a:r>
            <a:endParaRPr lang="en-US" sz="12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517" y="2926080"/>
            <a:ext cx="243840" cy="24384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470317" y="286512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streaming for long responses</a:t>
            </a:r>
            <a:endParaRPr lang="en-US" sz="12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517" y="3718560"/>
            <a:ext cx="243840" cy="24384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470317" y="3657600"/>
            <a:ext cx="213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costs and set spending limits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609600" y="5059680"/>
            <a:ext cx="10972800" cy="731520"/>
          </a:xfrm>
          <a:prstGeom prst="rect">
            <a:avLst/>
          </a:prstGeom>
          <a:solidFill>
            <a:srgbClr val="023047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1" name="Text 27"/>
          <p:cNvSpPr/>
          <p:nvPr/>
        </p:nvSpPr>
        <p:spPr>
          <a:xfrm>
            <a:off x="853440" y="5120640"/>
            <a:ext cx="10485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AI agents are powerful but require careful design. Start with well-defined use cases and expand gradually.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Further Reading and Resources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036320"/>
            <a:ext cx="1463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Official Documentation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609600" y="195072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Semantic Kernel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609600" y="2255520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learn.microsoft.com/semantic-kernel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62128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Function Calling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609600" y="2926080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platform.openai.com/docs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29184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Services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09600" y="3596640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azure.microsoft.com/ai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96240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(Python alternative)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09600" y="4267200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63296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AutoGen Multi-Agent Framework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09600" y="4937760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microsoft.github.io/autogen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39840" y="146304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Reading</a:t>
            </a:r>
            <a:endParaRPr lang="en-US" sz="2133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2011680"/>
            <a:ext cx="243840" cy="243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05600" y="195072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LLM Apps (O'Reilly)</a:t>
            </a:r>
            <a:endParaRPr lang="en-US" sz="1467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2499360"/>
            <a:ext cx="243840" cy="2438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05600" y="243840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Data-Intensive Applications</a:t>
            </a:r>
            <a:endParaRPr lang="en-US" sz="1467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2987040"/>
            <a:ext cx="243840" cy="2438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05600" y="29260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(Robert C. Martin)</a:t>
            </a:r>
            <a:endParaRPr lang="en-US" sz="1467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3474720"/>
            <a:ext cx="243840" cy="2438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05600" y="341376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(Chip Huyen)</a:t>
            </a:r>
            <a:endParaRPr lang="en-US" sz="1467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3962400"/>
            <a:ext cx="243840" cy="2438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05600" y="390144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Learn: AI-102 Path</a:t>
            </a:r>
            <a:endParaRPr lang="en-US" sz="1467" dirty="0"/>
          </a:p>
        </p:txBody>
      </p:sp>
      <p:sp>
        <p:nvSpPr>
          <p:cNvPr id="26" name="Text 19"/>
          <p:cNvSpPr/>
          <p:nvPr/>
        </p:nvSpPr>
        <p:spPr>
          <a:xfrm>
            <a:off x="609600" y="52120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23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Repositories to Explore:</a:t>
            </a:r>
            <a:endParaRPr lang="en-US" sz="1867" dirty="0"/>
          </a:p>
        </p:txBody>
      </p:sp>
      <p:sp>
        <p:nvSpPr>
          <p:cNvPr id="27" name="Text 20"/>
          <p:cNvSpPr/>
          <p:nvPr/>
        </p:nvSpPr>
        <p:spPr>
          <a:xfrm>
            <a:off x="609600" y="56154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github.com/microsoft/semantic-kernel  •  github.com/microsoft/autogen  •  github.com/openai/openai-cookbook</a:t>
            </a:r>
            <a:endParaRPr lang="en-US" sz="14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39" y="542544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1818042"/>
            <a:ext cx="304800" cy="30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2179" y="1793658"/>
            <a:ext cx="792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autonomous systems that perceive, reason, and act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2305722"/>
            <a:ext cx="304800" cy="3048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72179" y="2281338"/>
            <a:ext cx="792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provides a robust framework for building C# agents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2793402"/>
            <a:ext cx="304800" cy="3048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72179" y="2769018"/>
            <a:ext cx="792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Plugins extend agent capabilities with custom tools</a:t>
            </a:r>
            <a:endParaRPr lang="en-US" sz="1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3281082"/>
            <a:ext cx="304800" cy="3048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72179" y="3256698"/>
            <a:ext cx="792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systems enable stateful, context-aware conversations</a:t>
            </a:r>
            <a:endParaRPr lang="en-US" sz="16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3768762"/>
            <a:ext cx="304800" cy="3048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72179" y="3744378"/>
            <a:ext cx="792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Planning allows agents to decompose and execute complex tasks</a:t>
            </a:r>
            <a:endParaRPr lang="en-US" sz="16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4256442"/>
            <a:ext cx="304800" cy="3048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072179" y="4232058"/>
            <a:ext cx="7924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Safety, testing, and monitoring are critical for production systems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3361</Words>
  <Application>Microsoft Office PowerPoint</Application>
  <PresentationFormat>Widescreen</PresentationFormat>
  <Paragraphs>609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CST2550 - 2025 Software Engineering and Management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173</cp:revision>
  <dcterms:created xsi:type="dcterms:W3CDTF">2025-01-02T01:36:07Z</dcterms:created>
  <dcterms:modified xsi:type="dcterms:W3CDTF">2026-01-29T22:24:19Z</dcterms:modified>
</cp:coreProperties>
</file>