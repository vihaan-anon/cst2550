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300" r:id="rId3"/>
    <p:sldId id="302" r:id="rId4"/>
    <p:sldId id="301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70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D672D-DBE8-4B12-854D-E44585C44C58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8C0A3-43DB-4CD2-8C24-2AF18E3D50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788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2C234-AC4D-C9CC-038D-569BC78D5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687B4-5A97-FB1D-F350-738C41B37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ECBF2-560F-30FA-E516-F6034D45A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B6FA9-FF2A-143D-4D5E-47F02164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FE763-201B-CAAB-2287-8784D52B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D8ACCC-5094-92D8-C580-39979927B7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397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970CB-773F-5BD9-B294-B3367CF3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AB1E6-0FE9-7CBB-9653-8AA11B5FE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E7ADF-777E-ED70-B894-5BFFCDF1F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AA102-468D-99F3-432C-7FF4D09D0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850CA-29A7-9D14-CF58-86BCCF15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14962D-15E5-6E85-6A47-E5EEF3DAED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878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205B-78E3-2F23-6ABF-0CE19FD6F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DB0E3-4075-39E1-B77D-5D20D3AB9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98C77-AB8B-A963-A7AE-583338FB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6826A-4BDD-12B6-0F52-C0154F58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1FE20-2E2B-76C9-2F45-0E9DD468D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B01278-13EA-8AAA-272C-9FCB6489C4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3187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4AFA-E7B3-BE67-20D7-091049F2B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C2F08-E56A-04F6-2592-E40C13FA33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A1096-7883-5AB0-2F7F-9318698CA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09268-D370-C09A-E5DF-974A779B5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F168A-D81A-1CB3-3D95-F5C6111DC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00216-208F-FF71-7C2C-2E340EBAB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05CCFD-731C-3F6E-F198-0C5FD341B5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6051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8C7A3-498E-DB5E-4EAB-000AED1E5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0391A-078B-1620-D37C-28FE74805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AF0FA-4D10-05D4-C0E6-607926B35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73CF3A-2BFD-BC0C-86D1-84661F8C2F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60641A-D012-3000-BFE8-B95434781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12F0AB-3542-BEF6-8F1B-C282EAF38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D31962-01BB-CECE-37BE-5CA011D58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4EC866-492E-17D1-D8C6-E4471352D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B27C04-FA99-5D8F-2D3A-800238BE01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046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03B10-FCCE-7F09-0DDE-E4BE15EB9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5E9E38-CE69-883A-4AAD-EE9D2C8D1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10B7DB-46C5-6D80-9441-E64C26CF8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51640-9498-D0B6-107F-50799601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3A71F3-51E3-F25F-4B2C-18F306B2C8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1045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416F58-1C5B-5E1A-10A1-6CD518E62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CE5C74-C6B9-E79B-142E-047C8632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6EA75-9B59-23CC-D253-E87C4903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EBFFA-0061-AAEE-AECD-306E68697D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0686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38A0E-55A6-BD95-F29A-A32063139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EBF9-0281-3DBC-0CA0-1D9908B96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7112A-8CD6-BD77-EADA-1FC41F1ED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AC69C-37AD-3FC9-BFBE-76D3EAE5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79E6C-108C-CC60-669E-39F43515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16298-B593-4215-4605-F9573D143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F3076E-1B17-8011-5098-FF7E36EA8F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3456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8F05-3D4A-26B8-ED38-A13C1EC10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4D0A45-5FC8-BEED-00C3-227B94424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3B9D69-4DB4-303B-D632-B66F59B72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DC2B9-9F1A-CD0E-4033-C3B2E1DB3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FC915-58EA-15A0-6521-B8E44247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71ECA-55CD-1BA9-06EC-66608E07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098DD0-62B4-686B-E5DF-862CD79318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501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68E61-5DD2-7F9F-5270-527A15E7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882DD-994A-B002-95BE-48FD4F986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E1E85-23A2-4E56-EF4A-4714D630C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366D2-10D0-6485-1338-02EEE961F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63ED1-3CFD-4726-C844-306C271D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8C0C5F-F389-A40E-53AD-B88ACB5CA8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0993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730358-9638-B963-E90C-157B59C6FB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F4221B-8C63-1713-45F5-127F10453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18343-E739-1068-3356-C92E1B8E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956E9-F1DE-C8F0-733D-E3F9D331F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92A18-BA3D-497B-8849-CC73CAD42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F495A2-758F-1E69-DF35-6BA46C05D3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0748645" y="5331460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377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306F9-55ED-09E0-26A8-0FFF51581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C74E9-62CB-A0DA-D68A-4C0CAABCC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A8E49-2440-3CEA-A11A-A9797A6D0D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104E2-47F2-B7E0-20EA-4B768F4A7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3F8BC-E920-FEDE-9ED4-F6F5E885F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04D04F-5161-A3E8-A3D6-9B218BCC348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890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.eissa@mdx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ml-net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EA0B-AE48-8664-72F5-BCFB15A49A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CST2550 - 2025</a:t>
            </a:r>
            <a:br>
              <a:rPr lang="en-GB" dirty="0"/>
            </a:br>
            <a:r>
              <a:rPr lang="en-GB" dirty="0"/>
              <a:t>Software Engineering and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75EF1-AEF1-C497-0E1A-BA096886A7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endParaRPr lang="en-GB" sz="18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US" sz="2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Week 11: Implementing AI Models in C# Applications</a:t>
            </a:r>
          </a:p>
          <a:p>
            <a:endParaRPr lang="de-DE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Ahmed Eissa</a:t>
            </a:r>
          </a:p>
          <a:p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a.eissa@mdx.ac.uk</a:t>
            </a:r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GB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89192-F369-9539-6F17-D4851E7B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469B5-9CC3-A1E5-D797-527239D28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B6599-D4BA-2C9D-50AA-542D7EEAE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468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66E1C-594C-7A5F-6A89-27CF95C38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A1AF0-0B58-FE56-083D-4D6F22950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Understand AI/ML fundamentals (Core concepts)</a:t>
            </a:r>
          </a:p>
          <a:p>
            <a:pPr>
              <a:buFont typeface="+mj-lt"/>
              <a:buAutoNum type="arabicPeriod"/>
            </a:pPr>
            <a:r>
              <a:rPr lang="en-US" dirty="0"/>
              <a:t>Learn ML.NET framework (Microsoft's ML platform)</a:t>
            </a:r>
          </a:p>
          <a:p>
            <a:pPr>
              <a:buFont typeface="+mj-lt"/>
              <a:buAutoNum type="arabicPeriod"/>
            </a:pPr>
            <a:r>
              <a:rPr lang="en-US" dirty="0"/>
              <a:t>Implement AI models in C# (Practical implementation)</a:t>
            </a:r>
          </a:p>
          <a:p>
            <a:pPr>
              <a:buFont typeface="+mj-lt"/>
              <a:buAutoNum type="arabicPeriod"/>
            </a:pPr>
            <a:r>
              <a:rPr lang="en-US" dirty="0"/>
              <a:t>Integrate pre-trained models (Using existing AI)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2F5D0-D8AD-9757-362F-EC5C28036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643D5-7BF0-7B58-2B53-4A7CB59E6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B9D0E-20FE-6EB6-81F2-6020B932F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5439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A5860-6E61-A7F2-5135-B0DF5EF68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1. Introduction</a:t>
            </a:r>
            <a:br>
              <a:rPr lang="en-GB" b="1" dirty="0"/>
            </a:br>
            <a:endParaRPr lang="en-GB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7D85F-AAFB-64CA-3A98-B50EC3795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843BC-79E5-B95D-2F97-AEE6FAEB0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07512-48EA-A533-B3C0-89C71B894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DADBC-820D-F0FF-C2BA-D526145A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930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997A0-A1EC-EAE9-2FD7-4F0DC4F32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Artificial Intelligence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96973-023D-251C-BE7E-29A490A90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What is Artificial Intelligence? (Computer systems performing intelligent tasks)</a:t>
            </a:r>
          </a:p>
          <a:p>
            <a:pPr lvl="1"/>
            <a:r>
              <a:rPr lang="en-GB" sz="2000" dirty="0"/>
              <a:t>Machine learning (Learning from data)</a:t>
            </a:r>
          </a:p>
          <a:p>
            <a:pPr lvl="1"/>
            <a:r>
              <a:rPr lang="en-GB" sz="2000" dirty="0"/>
              <a:t>Deep learning (Neural network-based learning)</a:t>
            </a:r>
          </a:p>
          <a:p>
            <a:pPr lvl="1"/>
            <a:r>
              <a:rPr lang="en-GB" sz="2000" dirty="0"/>
              <a:t>Natural language processing (Understanding human language)</a:t>
            </a:r>
          </a:p>
          <a:p>
            <a:pPr lvl="1"/>
            <a:r>
              <a:rPr lang="en-GB" sz="2000" dirty="0"/>
              <a:t>Computer vision (Understanding images)</a:t>
            </a:r>
          </a:p>
          <a:p>
            <a:r>
              <a:rPr lang="en-GB" sz="2400" dirty="0"/>
              <a:t>AI in modern applications:</a:t>
            </a:r>
          </a:p>
          <a:p>
            <a:pPr lvl="1"/>
            <a:r>
              <a:rPr lang="en-GB" sz="2000" dirty="0"/>
              <a:t>Recommendation systems (Personalised suggestions)</a:t>
            </a:r>
          </a:p>
          <a:p>
            <a:pPr lvl="1"/>
            <a:r>
              <a:rPr lang="en-GB" sz="2000" dirty="0"/>
              <a:t>Fraud detection (Security applications)</a:t>
            </a:r>
          </a:p>
          <a:p>
            <a:pPr lvl="1"/>
            <a:r>
              <a:rPr lang="en-GB" sz="2000" dirty="0"/>
              <a:t>Predictive analytics (Future trend forecasting)</a:t>
            </a:r>
          </a:p>
          <a:p>
            <a:pPr lvl="1"/>
            <a:r>
              <a:rPr lang="en-GB" sz="2000" dirty="0"/>
              <a:t>Image recognition (Visual understanding)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B5A53-7301-2212-F375-8489A1FAC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180D3-5105-591E-8EBC-454A599C8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737FD-F7E7-306A-1787-C8127C1F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6185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0A8DA-0CBF-A527-0C41-FE99D8AC3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9CD73-8779-1170-CEF0-865311865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4624E-C599-08FA-2EE6-959A62355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Types of machine learning:</a:t>
            </a:r>
          </a:p>
          <a:p>
            <a:pPr lvl="1"/>
            <a:r>
              <a:rPr lang="en-US" sz="2000" dirty="0"/>
              <a:t>Supervised learning (Learning with labelled data)</a:t>
            </a:r>
          </a:p>
          <a:p>
            <a:pPr lvl="1"/>
            <a:r>
              <a:rPr lang="en-US" sz="2000" dirty="0"/>
              <a:t>Unsupervised learning (Finding patterns without labels)</a:t>
            </a:r>
          </a:p>
          <a:p>
            <a:pPr lvl="1"/>
            <a:r>
              <a:rPr lang="en-US" sz="2000" dirty="0"/>
              <a:t>Reinforcement learning (Learning through rewards)</a:t>
            </a:r>
          </a:p>
          <a:p>
            <a:r>
              <a:rPr lang="en-US" sz="2400" dirty="0"/>
              <a:t>Key concepts:</a:t>
            </a:r>
          </a:p>
          <a:p>
            <a:pPr lvl="1"/>
            <a:r>
              <a:rPr lang="en-US" sz="2000" dirty="0"/>
              <a:t>Training data (Data used to teach the model)</a:t>
            </a:r>
          </a:p>
          <a:p>
            <a:pPr lvl="1"/>
            <a:r>
              <a:rPr lang="en-US" sz="2000" dirty="0"/>
              <a:t>Features (Input variables)</a:t>
            </a:r>
          </a:p>
          <a:p>
            <a:pPr lvl="1"/>
            <a:r>
              <a:rPr lang="en-US" sz="2000" dirty="0"/>
              <a:t>Labels (Output/target variables)</a:t>
            </a:r>
          </a:p>
          <a:p>
            <a:pPr lvl="1"/>
            <a:r>
              <a:rPr lang="en-US" sz="2000" dirty="0"/>
              <a:t>Model (Mathematical representation of patterns)</a:t>
            </a:r>
            <a:endParaRPr lang="en-GB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A149F-2FEF-449F-F3A2-D000A8DFD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4A867-86ED-4FC2-909D-F6D09AF02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96873-EF7E-0361-E9A8-4D7842913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8949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A45DB-FB25-80E4-033C-A7F9FF0D8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B46F-6388-EDCC-8EA7-46E8E973B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ML.NET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9DC36-1FEF-9D40-B4EB-92787DF22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Microsoft's machine learning framework (Cross-platform ML for .NET)</a:t>
            </a:r>
          </a:p>
          <a:p>
            <a:r>
              <a:rPr lang="en-US" sz="2400" dirty="0"/>
              <a:t>Key features:</a:t>
            </a:r>
          </a:p>
          <a:p>
            <a:pPr lvl="1"/>
            <a:r>
              <a:rPr lang="en-US" sz="2000" dirty="0"/>
              <a:t>Cross-platform support (Windows, Linux, macOS)</a:t>
            </a:r>
          </a:p>
          <a:p>
            <a:pPr lvl="1"/>
            <a:r>
              <a:rPr lang="en-US" sz="2000" dirty="0"/>
              <a:t>Integration with existing .NET applications (Seamless integration)</a:t>
            </a:r>
          </a:p>
          <a:p>
            <a:pPr lvl="1"/>
            <a:r>
              <a:rPr lang="en-US" sz="2000" dirty="0"/>
              <a:t>Support for multiple ML tasks (Classification, regression, clustering)</a:t>
            </a:r>
          </a:p>
          <a:p>
            <a:pPr lvl="1"/>
            <a:r>
              <a:rPr lang="en-US" sz="2000" dirty="0"/>
              <a:t>Model training and deployment (Complete ML pipeline)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D8510-7E1C-19B7-24EA-55CD3DC11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0A65F-721E-DE70-2982-19C9A32E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6968F-10D1-C498-7416-C3772D9C1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9160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E8605-F98D-36C2-1127-BA90C0AFE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141C-4707-EA4D-A8A8-3F27880AC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ML.NET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7B60E-0B0B-B053-F615-E7BB99E09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Components: </a:t>
            </a:r>
            <a:r>
              <a:rPr lang="en-GB" sz="2400" dirty="0" err="1"/>
              <a:t>MLContext</a:t>
            </a:r>
            <a:r>
              <a:rPr lang="en-GB" sz="2400" dirty="0"/>
              <a:t> (Entry point for ML operations)</a:t>
            </a:r>
          </a:p>
          <a:p>
            <a:pPr lvl="1"/>
            <a:r>
              <a:rPr lang="en-GB" sz="2000" dirty="0" err="1"/>
              <a:t>DataView</a:t>
            </a:r>
            <a:r>
              <a:rPr lang="en-GB" sz="2000" dirty="0"/>
              <a:t> (Data representation)</a:t>
            </a:r>
          </a:p>
          <a:p>
            <a:pPr lvl="1"/>
            <a:r>
              <a:rPr lang="en-GB" sz="2000" dirty="0"/>
              <a:t>Trainers (Algorithms for model training)</a:t>
            </a:r>
          </a:p>
          <a:p>
            <a:pPr lvl="1"/>
            <a:r>
              <a:rPr lang="en-GB" sz="2000" dirty="0"/>
              <a:t>Transformers (Data preprocessing)</a:t>
            </a:r>
          </a:p>
          <a:p>
            <a:pPr lvl="1"/>
            <a:r>
              <a:rPr lang="en-GB" sz="2000" dirty="0"/>
              <a:t>Model (Trained ML model)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0B5D1-B097-F17E-663A-182EE05BD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CA10B-C1BD-3C42-97A6-49C3AAE49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4B23F-E7BF-8FB3-D72D-C8852A8EA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7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715F33-C047-4A2E-6C6D-60A1FB926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804" y="3636085"/>
            <a:ext cx="8386933" cy="232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236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07874-1FE3-F527-DD85-4D51EE0E4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6EA10-858F-670D-509A-BB3ADE14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Setting Up ML.NET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5FF1C-D2B2-8A02-BC59-EAA1C3ACA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Installation process: Install via NuGet Package Manager</a:t>
            </a:r>
          </a:p>
          <a:p>
            <a:r>
              <a:rPr lang="en-GB" dirty="0"/>
              <a:t>Required packages: </a:t>
            </a:r>
          </a:p>
          <a:p>
            <a:pPr lvl="1"/>
            <a:r>
              <a:rPr lang="en-GB" dirty="0"/>
              <a:t>Microsoft.ML (Core package)</a:t>
            </a:r>
          </a:p>
          <a:p>
            <a:pPr lvl="1"/>
            <a:r>
              <a:rPr lang="en-GB" dirty="0" err="1"/>
              <a:t>Microsoft.ML.Vision</a:t>
            </a:r>
            <a:r>
              <a:rPr lang="en-GB" dirty="0"/>
              <a:t> (Image processing)</a:t>
            </a:r>
          </a:p>
          <a:p>
            <a:pPr lvl="1"/>
            <a:r>
              <a:rPr lang="en-GB" dirty="0" err="1"/>
              <a:t>Microsoft.ML.TensorFlow</a:t>
            </a:r>
            <a:r>
              <a:rPr lang="en-GB" dirty="0"/>
              <a:t> (TensorFlow integration)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128F7-DA93-088C-3329-C757644B1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C0922-6161-2C0D-88E3-54DDCDADB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BEF62-8722-9B66-CAFB-94852DFF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8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712589-5448-434E-C92B-6733A3CC6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748" y="4001294"/>
            <a:ext cx="9015347" cy="217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674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ADE68-9BB3-24D2-BFE0-A11D3A7AA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5E262-103B-E747-75A2-2449A3FF0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3ECC1-53F0-8C24-1246-0AD317292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Importance of data quality (Good data leads to good models)</a:t>
            </a:r>
          </a:p>
          <a:p>
            <a:r>
              <a:rPr lang="en-US" sz="2000" dirty="0"/>
              <a:t>Steps in data preparation:</a:t>
            </a:r>
          </a:p>
          <a:p>
            <a:pPr lvl="1"/>
            <a:r>
              <a:rPr lang="en-US" sz="1600" dirty="0"/>
              <a:t>Data collection (Gathering relevant data)</a:t>
            </a:r>
          </a:p>
          <a:p>
            <a:pPr lvl="1"/>
            <a:r>
              <a:rPr lang="en-US" sz="1600" dirty="0"/>
              <a:t>Data cleaning (Removing errors and inconsistencies)</a:t>
            </a:r>
          </a:p>
          <a:p>
            <a:pPr lvl="1"/>
            <a:r>
              <a:rPr lang="en-US" sz="1600" dirty="0"/>
              <a:t>Feature engineering (Creating meaningful input variables)</a:t>
            </a:r>
          </a:p>
          <a:p>
            <a:pPr lvl="1"/>
            <a:r>
              <a:rPr lang="en-US" sz="1600" dirty="0"/>
              <a:t>Data splitting (Training, validation, test sets)</a:t>
            </a:r>
            <a:endParaRPr lang="en-GB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8952B-E372-F5CC-3A8E-18E59AA67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C5381-61F5-B813-7F39-99F90D0DE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391C0-9D2A-EFB0-6E47-62A54E0C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9</a:t>
            </a:fld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1A6022-66EE-6CA9-CAFF-0E7E344DC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60667"/>
            <a:ext cx="8155193" cy="252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951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67F48-CA55-C289-C701-DA0F04903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C3447-3B01-B66F-1AC3-097835209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Classification Task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82AE5-DDE5-FD52-66C7-65E378BA1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84496" cy="4351338"/>
          </a:xfrm>
        </p:spPr>
        <p:txBody>
          <a:bodyPr>
            <a:normAutofit/>
          </a:bodyPr>
          <a:lstStyle/>
          <a:p>
            <a:r>
              <a:rPr lang="en-US" sz="2000" dirty="0"/>
              <a:t>Problem: Predict customer churn (Will customer leave?)</a:t>
            </a:r>
          </a:p>
          <a:p>
            <a:r>
              <a:rPr lang="en-US" sz="2000" dirty="0"/>
              <a:t>Approach: Binary classification (Yes/No prediction)</a:t>
            </a:r>
            <a:endParaRPr lang="en-GB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AC988-F9A8-1900-951C-A81012A37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AC6A3-F9B9-9A06-4450-5172C45C1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43D44-4378-E377-3E13-94928AE2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10</a:t>
            </a:fld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0CB1F2-F1B2-C3C1-B2B1-38C5A3B36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053" y="1825625"/>
            <a:ext cx="6582694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58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72E81-D141-33C7-DB07-AD0AF9170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DF554-2E37-AF75-5E77-144A22D74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Building a Training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197C0-9F01-517F-5DA8-1AFFA9F5E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Pipeline components (Sequential data transformations) Data transformations (Preparing data for training)</a:t>
            </a:r>
          </a:p>
          <a:p>
            <a:r>
              <a:rPr lang="en-GB" sz="2000" dirty="0"/>
              <a:t>Feature concatenation (Combining features)</a:t>
            </a:r>
          </a:p>
          <a:p>
            <a:r>
              <a:rPr lang="en-GB" sz="2000" dirty="0"/>
              <a:t>Algorithm selection (Choosing appropriate trainer)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79CA8-467C-6680-837E-AC6B69792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A7E10-02EA-3610-A18F-45EC324C6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E4CFB-B285-066D-AB20-F90B2C4CF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11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E83CED-D25B-2E1E-42EC-8F2B55DAA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7505308" cy="274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94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1833E-1C44-93E7-FB1D-7E165997E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804F8-D4D4-C96A-8FED-D41436418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94EA1-BA2A-433A-CABC-8EFD3E286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Training process (Learning patterns from data) </a:t>
            </a:r>
          </a:p>
          <a:p>
            <a:pPr lvl="1"/>
            <a:r>
              <a:rPr lang="en-GB" sz="1600" dirty="0"/>
              <a:t>Feed data through pipeline (Process training data)</a:t>
            </a:r>
          </a:p>
          <a:p>
            <a:pPr lvl="1"/>
            <a:r>
              <a:rPr lang="en-GB" sz="1600" dirty="0"/>
              <a:t>Optimize model parameters (Improve accuracy)</a:t>
            </a:r>
          </a:p>
          <a:p>
            <a:pPr lvl="1"/>
            <a:r>
              <a:rPr lang="en-GB" sz="1600" dirty="0"/>
              <a:t>Validate results (Check model performance)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BFA22-F07F-1E72-A646-68D9C0427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25CE6-49D6-5113-18FD-50115EBFD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89CD8-A4C3-8146-BBEA-38A9B60DC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12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6C422-B76D-3060-A3E4-AA727C3B0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421" y="2993771"/>
            <a:ext cx="7136979" cy="336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961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CAD97-EE41-22DB-C66C-1E67C446D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439A4-72D0-88CA-393A-F2483E7BD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Making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D2B87-F509-E2C5-EC0D-2A91C50A8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Using trained model (Applying model to new data) </a:t>
            </a:r>
          </a:p>
          <a:p>
            <a:pPr lvl="1"/>
            <a:r>
              <a:rPr lang="en-US" sz="1600" dirty="0"/>
              <a:t>Create prediction engine (Tool for making predictions)</a:t>
            </a:r>
          </a:p>
          <a:p>
            <a:pPr lvl="1"/>
            <a:r>
              <a:rPr lang="en-US" sz="1600" dirty="0"/>
              <a:t>Input new data (Provide features)</a:t>
            </a:r>
          </a:p>
          <a:p>
            <a:pPr lvl="1"/>
            <a:r>
              <a:rPr lang="en-US" sz="1600" dirty="0"/>
              <a:t>Get predictions (Receive model output)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77493-B487-3DC9-E832-47D922CEE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5EF03-AF82-8A84-364F-8C46FE9B9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E1EB9-A15E-FE94-90D4-434551B5E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13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9CAF7F-E003-410A-8E60-74CE15091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601" y="2539448"/>
            <a:ext cx="6620799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403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06114-16AD-D5A9-5EB3-052DF123C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7A221-036A-191B-EB8B-A26B5DFB4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Regression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295B9-11A0-092C-B305-D7E25D554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86835" cy="4351338"/>
          </a:xfrm>
        </p:spPr>
        <p:txBody>
          <a:bodyPr>
            <a:normAutofit/>
          </a:bodyPr>
          <a:lstStyle/>
          <a:p>
            <a:r>
              <a:rPr lang="en-US" sz="1600" dirty="0"/>
              <a:t>Problem: Predict house prices (Numerical value prediction)</a:t>
            </a:r>
          </a:p>
          <a:p>
            <a:r>
              <a:rPr lang="en-US" sz="1600" dirty="0"/>
              <a:t>Approach: Regression analysis (Continuous value prediction)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A9E2E-1462-87DF-6BD2-5EBB04765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CDE9E-0ACB-E76F-6045-2317351B5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BB5FE-B1A8-8520-E170-8D85FA1B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14</a:t>
            </a:fld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7B351D-2A47-D0CB-B494-66537251E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153" y="1027906"/>
            <a:ext cx="6368320" cy="529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966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3FCEC-9124-33B5-AB4E-7EE4AE12B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3B5CC-EA48-8661-6613-12A4390AF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Benefits of pre-trained models:</a:t>
            </a:r>
          </a:p>
          <a:p>
            <a:pPr lvl="1"/>
            <a:r>
              <a:rPr lang="en-US" sz="2000" dirty="0"/>
              <a:t>No training required (Use immediately)</a:t>
            </a:r>
          </a:p>
          <a:p>
            <a:pPr lvl="1"/>
            <a:r>
              <a:rPr lang="en-US" sz="2000" dirty="0"/>
              <a:t>High accuracy (Trained on large datasets)</a:t>
            </a:r>
          </a:p>
          <a:p>
            <a:pPr lvl="1"/>
            <a:r>
              <a:rPr lang="en-US" sz="2000" dirty="0"/>
              <a:t>Time and cost efficient (Saves resources)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sz="2000" dirty="0"/>
              <a:t>Image classification (Identifying objects in images)</a:t>
            </a:r>
          </a:p>
          <a:p>
            <a:pPr lvl="1"/>
            <a:r>
              <a:rPr lang="en-US" sz="2000" dirty="0"/>
              <a:t>Object detection (Locating objects in images)</a:t>
            </a:r>
          </a:p>
          <a:p>
            <a:pPr lvl="1"/>
            <a:r>
              <a:rPr lang="en-US" sz="2000" dirty="0"/>
              <a:t>Text analysis (Understanding text content)</a:t>
            </a:r>
            <a:endParaRPr lang="en-GB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BFCFB-373C-E3E9-01CD-F555F347F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ADA2D-1946-A08F-F097-EF7F61F89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0231C-DB0F-C558-02E7-BFEE8129E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15</a:t>
            </a:fld>
            <a:endParaRPr lang="en-GB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2832C0E-E866-833F-F37B-82DB48A63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Working with Pre-trained Models</a:t>
            </a:r>
          </a:p>
        </p:txBody>
      </p:sp>
    </p:spTree>
    <p:extLst>
      <p:ext uri="{BB962C8B-B14F-4D97-AF65-F5344CB8AC3E}">
        <p14:creationId xmlns:p14="http://schemas.microsoft.com/office/powerpoint/2010/main" val="798796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F0D2A-9558-ADC5-1B2D-E0544E55C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EBB41-84F3-E1DD-7598-49D7B9F3D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Integration with TensorFlow (Popular deep learning framework)</a:t>
            </a:r>
          </a:p>
          <a:p>
            <a:r>
              <a:rPr lang="en-GB" sz="2000" dirty="0"/>
              <a:t>Steps:</a:t>
            </a:r>
          </a:p>
          <a:p>
            <a:pPr lvl="1"/>
            <a:r>
              <a:rPr lang="en-GB" sz="1600" dirty="0"/>
              <a:t>Load pre-trained model (Import existing model)</a:t>
            </a:r>
          </a:p>
          <a:p>
            <a:pPr lvl="1"/>
            <a:r>
              <a:rPr lang="en-GB" sz="1600" dirty="0"/>
              <a:t>Prepare input data (Format data correctly)</a:t>
            </a:r>
          </a:p>
          <a:p>
            <a:pPr lvl="1"/>
            <a:r>
              <a:rPr lang="en-GB" sz="1600" dirty="0"/>
              <a:t>Run inference (Get predictions)</a:t>
            </a:r>
          </a:p>
          <a:p>
            <a:pPr lvl="1"/>
            <a:r>
              <a:rPr lang="en-GB" sz="1600" dirty="0"/>
              <a:t>Process results (Interpret output)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EC2CB-52AF-1838-72B0-A8DCB6DBC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5DE42-4141-C1D2-A651-E0FEC860E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952F4-3747-2930-83E2-9C80DCE1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16</a:t>
            </a:fld>
            <a:endParaRPr lang="en-GB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F60FB03-7028-4721-406E-A96CBC5AB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TensorFlow Models in C#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DFC04F-9E6F-006F-CCA8-BE16F8C82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253" y="3429000"/>
            <a:ext cx="6582694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744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D1D17-D87B-820D-524A-5F82A8839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DD9CA-BAC2-E914-01C9-B0876BD92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78569" cy="4351338"/>
          </a:xfrm>
        </p:spPr>
        <p:txBody>
          <a:bodyPr>
            <a:normAutofit/>
          </a:bodyPr>
          <a:lstStyle/>
          <a:p>
            <a:r>
              <a:rPr lang="en-US" sz="1600" dirty="0"/>
              <a:t>Problem: Classify images into categories (Image recognition)</a:t>
            </a:r>
          </a:p>
          <a:p>
            <a:r>
              <a:rPr lang="en-US" sz="1600" dirty="0"/>
              <a:t>Using pre-trained models (Transfer learning approach)</a:t>
            </a:r>
            <a:endParaRPr lang="en-GB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9C9D4-A21D-A3DA-F421-94AA2A191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8564A-BCC6-1B09-D549-2D606BD35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55C2F-F101-024F-A665-10076C551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17</a:t>
            </a:fld>
            <a:endParaRPr lang="en-GB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F711734-5ADC-52CE-DD06-E8C37D4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Image Classification 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E5F88F-CD5A-996C-BCE7-ACFA7BAAF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490" y="1825625"/>
            <a:ext cx="6592220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058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BACAB-289B-EB6D-DF44-E5FE7B71D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128D2-9AFA-A8CE-7EE6-A4711F870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Saving trained models (Persist for future use)</a:t>
            </a:r>
          </a:p>
          <a:p>
            <a:pPr lvl="1"/>
            <a:r>
              <a:rPr lang="en-US" sz="1600" dirty="0" err="1"/>
              <a:t>Serialisation</a:t>
            </a:r>
            <a:r>
              <a:rPr lang="en-US" sz="1600" dirty="0"/>
              <a:t> (Convert to file format)</a:t>
            </a:r>
          </a:p>
          <a:p>
            <a:pPr lvl="1"/>
            <a:r>
              <a:rPr lang="en-US" sz="1600" dirty="0"/>
              <a:t>Version control (Track model versions)</a:t>
            </a:r>
          </a:p>
          <a:p>
            <a:pPr lvl="1"/>
            <a:r>
              <a:rPr lang="en-US" sz="1600" dirty="0"/>
              <a:t>Storage considerations (File size and location)</a:t>
            </a:r>
            <a:endParaRPr lang="en-GB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C3F2A-A29B-3B1B-2444-D3BCC4914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2C7D0-B254-196B-E21E-32BCA282F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9DA7A-E0AB-EB4E-8010-0EF3B6754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18</a:t>
            </a:fld>
            <a:endParaRPr lang="en-GB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58A93C0-00EC-ABD1-5D9B-00C02C9BD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Deployment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787CB0-584A-57F1-CB62-F00209D39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579" y="3234393"/>
            <a:ext cx="6563641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5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C3993-3E90-5788-9514-2BC163F3E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35057-90B0-A478-D54B-25839D9E0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Model development guidelines:</a:t>
            </a:r>
          </a:p>
          <a:p>
            <a:pPr lvl="1"/>
            <a:r>
              <a:rPr lang="en-GB" sz="1600" dirty="0"/>
              <a:t>Start with simple models (Baseline performance)</a:t>
            </a:r>
          </a:p>
          <a:p>
            <a:pPr lvl="1"/>
            <a:r>
              <a:rPr lang="en-GB" sz="1600" dirty="0"/>
              <a:t>Use appropriate evaluation metrics (Measure correctly)</a:t>
            </a:r>
          </a:p>
          <a:p>
            <a:pPr lvl="1"/>
            <a:r>
              <a:rPr lang="en-GB" sz="1600" dirty="0"/>
              <a:t>Cross-validate results (Ensure reliability)</a:t>
            </a:r>
          </a:p>
          <a:p>
            <a:pPr lvl="1"/>
            <a:r>
              <a:rPr lang="en-GB" sz="1600" dirty="0"/>
              <a:t>Monitor model performance (Track over time)</a:t>
            </a:r>
          </a:p>
          <a:p>
            <a:r>
              <a:rPr lang="en-GB" sz="2000" dirty="0"/>
              <a:t>Production considerations:</a:t>
            </a:r>
          </a:p>
          <a:p>
            <a:pPr lvl="1"/>
            <a:r>
              <a:rPr lang="en-GB" sz="1600" dirty="0"/>
              <a:t>Model versioning (Track changes)</a:t>
            </a:r>
          </a:p>
          <a:p>
            <a:pPr lvl="1"/>
            <a:r>
              <a:rPr lang="en-GB" sz="1600" dirty="0"/>
              <a:t>Performance optimisation (Speed improvements)</a:t>
            </a:r>
          </a:p>
          <a:p>
            <a:pPr lvl="1"/>
            <a:r>
              <a:rPr lang="en-GB" sz="1600" dirty="0"/>
              <a:t>Error handling (Graceful failures)</a:t>
            </a:r>
          </a:p>
          <a:p>
            <a:pPr lvl="1"/>
            <a:r>
              <a:rPr lang="en-GB" sz="1600" dirty="0"/>
              <a:t>Security considerations (Protect data and models)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39DAA-D7B3-2F52-6810-B6B23A3CB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42CA7-5E57-59B5-996F-33735897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2CA6D-94D5-316D-FF4D-71B202639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19</a:t>
            </a:fld>
            <a:endParaRPr lang="en-GB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10D4458-6B4E-D2D0-7DA0-8FF030C8A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Best Practices</a:t>
            </a:r>
          </a:p>
        </p:txBody>
      </p:sp>
    </p:spTree>
    <p:extLst>
      <p:ext uri="{BB962C8B-B14F-4D97-AF65-F5344CB8AC3E}">
        <p14:creationId xmlns:p14="http://schemas.microsoft.com/office/powerpoint/2010/main" val="3625598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066CE-DD02-B8CA-63BC-D21AF1531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9EBE1-0EA8-8516-7BC1-B5944F1A2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71527" cy="4351338"/>
          </a:xfrm>
        </p:spPr>
        <p:txBody>
          <a:bodyPr>
            <a:normAutofit/>
          </a:bodyPr>
          <a:lstStyle/>
          <a:p>
            <a:r>
              <a:rPr lang="en-US" sz="2000" dirty="0"/>
              <a:t>Create a sentiment analysis system that:</a:t>
            </a:r>
          </a:p>
          <a:p>
            <a:pPr lvl="1"/>
            <a:r>
              <a:rPr lang="en-US" sz="1600" dirty="0"/>
              <a:t>Loads text data (Customer reviews)</a:t>
            </a:r>
          </a:p>
          <a:p>
            <a:pPr lvl="1"/>
            <a:r>
              <a:rPr lang="en-US" sz="1600" dirty="0"/>
              <a:t>Trains a classification model (Positive/negative sentiment)</a:t>
            </a:r>
          </a:p>
          <a:p>
            <a:pPr lvl="1"/>
            <a:r>
              <a:rPr lang="en-US" sz="1600" dirty="0"/>
              <a:t>Evaluates model performance (Check accuracy)</a:t>
            </a:r>
          </a:p>
          <a:p>
            <a:pPr lvl="1"/>
            <a:r>
              <a:rPr lang="en-US" sz="1600" dirty="0"/>
              <a:t>Makes predictions on new text (Classify new reviews)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9CF85-76AC-74D6-10F8-695B0E0FF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E4C0A-5EE5-F4DC-4A42-CC454D232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2340A-E49F-5364-F292-59F761D9F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20</a:t>
            </a:fld>
            <a:endParaRPr lang="en-GB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AEC2695-76B7-654E-7EDB-FD1001FE7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Practical Exercise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CFC3F0-A250-9C13-60E4-3C8842E0F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727" y="1870075"/>
            <a:ext cx="6601746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864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9C6ED-03CF-ABE9-C323-F2E8AC37A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2E7A6-A737-A8BC-6F1C-0094A688F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Key takeaways: </a:t>
            </a:r>
          </a:p>
          <a:p>
            <a:pPr lvl="1"/>
            <a:r>
              <a:rPr lang="en-GB" dirty="0"/>
              <a:t>ML.NET enables AI in C# applications (Native .NET integration)</a:t>
            </a:r>
          </a:p>
          <a:p>
            <a:pPr lvl="1"/>
            <a:r>
              <a:rPr lang="en-GB" dirty="0"/>
              <a:t>Multiple ML tasks supported (Classification, regression, clustering)</a:t>
            </a:r>
          </a:p>
          <a:p>
            <a:pPr lvl="1"/>
            <a:r>
              <a:rPr lang="en-GB" dirty="0"/>
              <a:t>Pre-trained models available (Quick implementation)</a:t>
            </a:r>
          </a:p>
          <a:p>
            <a:pPr lvl="1"/>
            <a:r>
              <a:rPr lang="en-GB" dirty="0"/>
              <a:t>Production-ready deployment (Enterprise applications)</a:t>
            </a:r>
          </a:p>
          <a:p>
            <a:r>
              <a:rPr lang="en-GB" dirty="0"/>
              <a:t>Resources: </a:t>
            </a:r>
          </a:p>
          <a:p>
            <a:pPr lvl="1"/>
            <a:r>
              <a:rPr lang="en-GB" dirty="0"/>
              <a:t>ML.NET Documentation (</a:t>
            </a:r>
            <a:r>
              <a:rPr lang="en-GB" dirty="0">
                <a:hlinkClick r:id="rId2"/>
              </a:rPr>
              <a:t>https://docs.microsoft.com/ml-net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ML.NET Samples (GitHub repository)</a:t>
            </a:r>
          </a:p>
          <a:p>
            <a:pPr lvl="1"/>
            <a:r>
              <a:rPr lang="en-GB" dirty="0"/>
              <a:t>Azure Machine Learning (Cloud-based ML)</a:t>
            </a:r>
          </a:p>
          <a:p>
            <a:pPr lvl="1"/>
            <a:r>
              <a:rPr lang="en-GB" dirty="0"/>
              <a:t>TensorFlow.NET (Deep learning in .NET)</a:t>
            </a:r>
          </a:p>
          <a:p>
            <a:r>
              <a:rPr lang="en-GB" dirty="0"/>
              <a:t>Next steps: </a:t>
            </a:r>
          </a:p>
          <a:p>
            <a:pPr lvl="1"/>
            <a:r>
              <a:rPr lang="en-GB" dirty="0"/>
              <a:t>Explore different ML algorithms (Broaden knowledge)</a:t>
            </a:r>
          </a:p>
          <a:p>
            <a:pPr lvl="1"/>
            <a:r>
              <a:rPr lang="en-GB" dirty="0"/>
              <a:t>Experiment with real datasets (Practical experience)</a:t>
            </a:r>
          </a:p>
          <a:p>
            <a:pPr lvl="1"/>
            <a:r>
              <a:rPr lang="en-GB" dirty="0"/>
              <a:t>Build end-to-end ML applications (Complete projects)</a:t>
            </a:r>
          </a:p>
          <a:p>
            <a:pPr lvl="1"/>
            <a:r>
              <a:rPr lang="en-GB" dirty="0"/>
              <a:t>Consider cloud-based ML services (Scalable solutions)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4A50A-7CC8-8F19-1174-502A93659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6EF03-52AA-CF39-3075-F2812F5FA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3159C-E46A-1E94-B29F-8E7AC27F8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21</a:t>
            </a:fld>
            <a:endParaRPr lang="en-GB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2DD6C2F-AE79-3BB9-8D37-F49545017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 and Resources</a:t>
            </a:r>
          </a:p>
        </p:txBody>
      </p:sp>
    </p:spTree>
    <p:extLst>
      <p:ext uri="{BB962C8B-B14F-4D97-AF65-F5344CB8AC3E}">
        <p14:creationId xmlns:p14="http://schemas.microsoft.com/office/powerpoint/2010/main" val="5946620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E3ECA-4E37-DB3C-6BCE-D286B0A9D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14389-C52D-FCE2-8753-910B51CCB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Implementing AI Agents in C# Applications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33445-76E9-622D-8F00-FC1D0866C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CA3FE-C4CF-26E1-7B0B-280FF6118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237C2-205C-8186-5D4D-8019888E3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22</a:t>
            </a:fld>
            <a:endParaRPr lang="en-GB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61A1EED-2B56-94E3-AA71-AE78BD9E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Week (Final Week)</a:t>
            </a:r>
          </a:p>
        </p:txBody>
      </p:sp>
    </p:spTree>
    <p:extLst>
      <p:ext uri="{BB962C8B-B14F-4D97-AF65-F5344CB8AC3E}">
        <p14:creationId xmlns:p14="http://schemas.microsoft.com/office/powerpoint/2010/main" val="1514474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1138</Words>
  <Application>Microsoft Office PowerPoint</Application>
  <PresentationFormat>Widescreen</PresentationFormat>
  <Paragraphs>204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CST2550 - 2025 Software Engineering and Management</vt:lpstr>
      <vt:lpstr>Learning Objectives</vt:lpstr>
      <vt:lpstr>1. Introduction </vt:lpstr>
      <vt:lpstr>Artificial Intelligence Overview</vt:lpstr>
      <vt:lpstr>Machine Learning Fundamentals</vt:lpstr>
      <vt:lpstr>ML.NET Framework</vt:lpstr>
      <vt:lpstr>ML.NET Architecture</vt:lpstr>
      <vt:lpstr>Setting Up ML.NET</vt:lpstr>
      <vt:lpstr>Data Preparation</vt:lpstr>
      <vt:lpstr>Classification Task Example</vt:lpstr>
      <vt:lpstr>Building a Training Pipeline</vt:lpstr>
      <vt:lpstr>Training the Model</vt:lpstr>
      <vt:lpstr>Making Predictions</vt:lpstr>
      <vt:lpstr>Regression Example</vt:lpstr>
      <vt:lpstr>Working with Pre-trained Models</vt:lpstr>
      <vt:lpstr>Using TensorFlow Models in C#</vt:lpstr>
      <vt:lpstr>Image Classification Example</vt:lpstr>
      <vt:lpstr>Model Deployment</vt:lpstr>
      <vt:lpstr>Best Practices</vt:lpstr>
      <vt:lpstr>Practical Exercise</vt:lpstr>
      <vt:lpstr>Summary and Resources</vt:lpstr>
      <vt:lpstr>Next Week (Final Week)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Eissa</dc:creator>
  <cp:lastModifiedBy>Ahmed Eissa</cp:lastModifiedBy>
  <cp:revision>176</cp:revision>
  <dcterms:created xsi:type="dcterms:W3CDTF">2025-01-02T01:36:07Z</dcterms:created>
  <dcterms:modified xsi:type="dcterms:W3CDTF">2026-01-29T22:04:33Z</dcterms:modified>
</cp:coreProperties>
</file>