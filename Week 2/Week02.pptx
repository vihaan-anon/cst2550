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6" r:id="rId2"/>
    <p:sldId id="300" r:id="rId3"/>
    <p:sldId id="302" r:id="rId4"/>
    <p:sldId id="301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20" r:id="rId13"/>
    <p:sldId id="321" r:id="rId14"/>
    <p:sldId id="322" r:id="rId15"/>
    <p:sldId id="323" r:id="rId16"/>
    <p:sldId id="324" r:id="rId17"/>
    <p:sldId id="325" r:id="rId18"/>
    <p:sldId id="326" r:id="rId19"/>
    <p:sldId id="327" r:id="rId20"/>
    <p:sldId id="328" r:id="rId21"/>
    <p:sldId id="329" r:id="rId22"/>
    <p:sldId id="330" r:id="rId23"/>
    <p:sldId id="331" r:id="rId24"/>
    <p:sldId id="332" r:id="rId25"/>
    <p:sldId id="333" r:id="rId26"/>
    <p:sldId id="334" r:id="rId27"/>
    <p:sldId id="335" r:id="rId28"/>
    <p:sldId id="337" r:id="rId29"/>
    <p:sldId id="338" r:id="rId30"/>
    <p:sldId id="339" r:id="rId31"/>
    <p:sldId id="340" r:id="rId32"/>
    <p:sldId id="341" r:id="rId33"/>
    <p:sldId id="342" r:id="rId34"/>
    <p:sldId id="343" r:id="rId35"/>
    <p:sldId id="344" r:id="rId36"/>
    <p:sldId id="345" r:id="rId37"/>
    <p:sldId id="346" r:id="rId38"/>
    <p:sldId id="310" r:id="rId39"/>
    <p:sldId id="311" r:id="rId40"/>
    <p:sldId id="312" r:id="rId41"/>
    <p:sldId id="313" r:id="rId42"/>
    <p:sldId id="314" r:id="rId43"/>
    <p:sldId id="315" r:id="rId44"/>
    <p:sldId id="316" r:id="rId45"/>
    <p:sldId id="317" r:id="rId46"/>
    <p:sldId id="318" r:id="rId47"/>
    <p:sldId id="336" r:id="rId48"/>
    <p:sldId id="347" r:id="rId49"/>
    <p:sldId id="319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70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DD672D-DBE8-4B12-854D-E44585C44C58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28C0A3-43DB-4CD2-8C24-2AF18E3D50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6788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Practical Tip</a:t>
            </a:r>
            <a:r>
              <a:rPr lang="en-US" dirty="0"/>
              <a:t>: Use branching strategies like Git Flow to manage feature development and releases.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28C0A3-43DB-4CD2-8C24-2AF18E3D50E7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4486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2C234-AC4D-C9CC-038D-569BC78D5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A687B4-5A97-FB1D-F350-738C41B37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ECBF2-560F-30FA-E516-F6034D45A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B6FA9-FF2A-143D-4D5E-47F021649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FE763-201B-CAAB-2287-8784D52B5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D8ACCC-5094-92D8-C580-39979927B7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3397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970CB-773F-5BD9-B294-B3367CF32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AB1E6-0FE9-7CBB-9653-8AA11B5FE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E7ADF-777E-ED70-B894-5BFFCDF1F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AA102-468D-99F3-432C-7FF4D09D0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850CA-29A7-9D14-CF58-86BCCF152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14962D-15E5-6E85-6A47-E5EEF3DAED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3878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205B-78E3-2F23-6ABF-0CE19FD6F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DB0E3-4075-39E1-B77D-5D20D3AB9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98C77-AB8B-A963-A7AE-583338FBF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6826A-4BDD-12B6-0F52-C0154F58E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1FE20-2E2B-76C9-2F45-0E9DD468D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B01278-13EA-8AAA-272C-9FCB6489C4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3187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24AFA-E7B3-BE67-20D7-091049F2B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C2F08-E56A-04F6-2592-E40C13FA33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A1096-7883-5AB0-2F7F-9318698CA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09268-D370-C09A-E5DF-974A779B5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F168A-D81A-1CB3-3D95-F5C6111DC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D00216-208F-FF71-7C2C-2E340EBAB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05CCFD-731C-3F6E-F198-0C5FD341B5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6051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8C7A3-498E-DB5E-4EAB-000AED1E5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0391A-078B-1620-D37C-28FE74805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8AF0FA-4D10-05D4-C0E6-607926B35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73CF3A-2BFD-BC0C-86D1-84661F8C2F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60641A-D012-3000-BFE8-B95434781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12F0AB-3542-BEF6-8F1B-C282EAF38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D31962-01BB-CECE-37BE-5CA011D58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4EC866-492E-17D1-D8C6-E4471352D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B27C04-FA99-5D8F-2D3A-800238BE01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0461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03B10-FCCE-7F09-0DDE-E4BE15EB9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5E9E38-CE69-883A-4AAD-EE9D2C8D1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10B7DB-46C5-6D80-9441-E64C26CF8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51640-9498-D0B6-107F-50799601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3A71F3-51E3-F25F-4B2C-18F306B2C8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1045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416F58-1C5B-5E1A-10A1-6CD518E62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CE5C74-C6B9-E79B-142E-047C8632F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6EA75-9B59-23CC-D253-E87C49033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4EBFFA-0061-AAEE-AECD-306E68697D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0686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38A0E-55A6-BD95-F29A-A32063139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AEBF9-0281-3DBC-0CA0-1D9908B96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07112A-8CD6-BD77-EADA-1FC41F1ED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AC69C-37AD-3FC9-BFBE-76D3EAE56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79E6C-108C-CC60-669E-39F435159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16298-B593-4215-4605-F9573D143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F3076E-1B17-8011-5098-FF7E36EA8F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3456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28F05-3D4A-26B8-ED38-A13C1EC10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4D0A45-5FC8-BEED-00C3-227B944245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3B9D69-4DB4-303B-D632-B66F59B72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1DC2B9-9F1A-CD0E-4033-C3B2E1DB3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FC915-58EA-15A0-6521-B8E442477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71ECA-55CD-1BA9-06EC-66608E071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098DD0-62B4-686B-E5DF-862CD79318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5013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68E61-5DD2-7F9F-5270-527A15E75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6882DD-994A-B002-95BE-48FD4F986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E1E85-23A2-4E56-EF4A-4714D630C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366D2-10D0-6485-1338-02EEE961F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63ED1-3CFD-4726-C844-306C271D2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8C0C5F-F389-A40E-53AD-B88ACB5CA8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0993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730358-9638-B963-E90C-157B59C6FB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F4221B-8C63-1713-45F5-127F10453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18343-E739-1068-3356-C92E1B8E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956E9-F1DE-C8F0-733D-E3F9D331F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92A18-BA3D-497B-8849-CC73CAD42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F495A2-758F-1E69-DF35-6BA46C05D3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0748645" y="5331460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3775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E306F9-55ED-09E0-26A8-0FFF51581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C74E9-62CB-A0DA-D68A-4C0CAABCC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A8E49-2440-3CEA-A11A-A9797A6D0D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104E2-47F2-B7E0-20EA-4B768F4A75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3F8BC-E920-FEDE-9ED4-F6F5E885F4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04D04F-5161-A3E8-A3D6-9B218BCC3481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890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.eissa@mdx.ac.u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bit.ai/templates/software-requirements-document-template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328541762_Investigating_the_effectiveness_of_peer_code_review_in_distributed_software_development_based_on_objective_and_subjective_data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ddit.com/r/git/" TargetMode="External"/><Relationship Id="rId3" Type="http://schemas.openxmlformats.org/officeDocument/2006/relationships/hyperlink" Target="https://learn.microsoft.com/en-us/azure/devops/repos/" TargetMode="External"/><Relationship Id="rId7" Type="http://schemas.openxmlformats.org/officeDocument/2006/relationships/hyperlink" Target="https://github.com/orgs/community/discussions" TargetMode="External"/><Relationship Id="rId2" Type="http://schemas.openxmlformats.org/officeDocument/2006/relationships/hyperlink" Target="https://git-scm.com/doc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reecodecamp.org/news/git-and-github-crash-course/" TargetMode="External"/><Relationship Id="rId5" Type="http://schemas.openxmlformats.org/officeDocument/2006/relationships/hyperlink" Target="https://learngitbranching.js.org/" TargetMode="External"/><Relationship Id="rId4" Type="http://schemas.openxmlformats.org/officeDocument/2006/relationships/hyperlink" Target="https://www.atlassian.com/git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devops/" TargetMode="External"/><Relationship Id="rId2" Type="http://schemas.openxmlformats.org/officeDocument/2006/relationships/hyperlink" Target="https://agilemanifesto.org/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FEA0B-AE48-8664-72F5-BCFB15A49A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CST2550 - 2025</a:t>
            </a:r>
            <a:br>
              <a:rPr lang="en-GB" dirty="0"/>
            </a:br>
            <a:r>
              <a:rPr lang="en-GB" dirty="0"/>
              <a:t>Software Engineering and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675EF1-AEF1-C497-0E1A-BA096886A7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endParaRPr lang="en-GB" sz="1800" b="1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en-US" sz="2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Week 2: Version Control System</a:t>
            </a:r>
            <a:r>
              <a:rPr lang="en-US" sz="2600" b="1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s, Agile and SDLC</a:t>
            </a:r>
            <a:endParaRPr lang="en-US" sz="2600" b="1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de-DE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de-DE" sz="2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Ahmed Eissa</a:t>
            </a:r>
          </a:p>
          <a:p>
            <a:r>
              <a:rPr lang="de-DE" sz="2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2"/>
              </a:rPr>
              <a:t>a.eissa@mdx.ac.uk</a:t>
            </a:r>
            <a:r>
              <a:rPr lang="de-DE" sz="2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GB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89192-F369-9539-6F17-D4851E7B1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E469B5-9CC3-A1E5-D797-527239D28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B6599-D4BA-2C9D-50AA-542D7EEAE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468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66E1C-594C-7A5F-6A89-27CF95C38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A1AF0-0B58-FE56-083D-4D6F22950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Master Git fundamentals.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Understand branching strategies.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Learn Azure DevOps integration.</a:t>
            </a:r>
          </a:p>
          <a:p>
            <a:r>
              <a:rPr lang="en-US" dirty="0"/>
              <a:t>Understand Agile principles and their importance in modern software development.</a:t>
            </a:r>
          </a:p>
          <a:p>
            <a:r>
              <a:rPr lang="en-US" dirty="0"/>
              <a:t>Gain insights into Scrum practices and their components.</a:t>
            </a:r>
          </a:p>
          <a:p>
            <a:r>
              <a:rPr lang="en-US" dirty="0"/>
              <a:t>Learn to utilise Microsoft Azure DevOps for project management and development tasks.</a:t>
            </a:r>
          </a:p>
          <a:p>
            <a:r>
              <a:rPr lang="en-US" dirty="0"/>
              <a:t>Understand the phases and methodologies of the SDLC.</a:t>
            </a:r>
          </a:p>
          <a:p>
            <a:r>
              <a:rPr lang="en-US" dirty="0"/>
              <a:t>Learn techniques for gathering and documenting requirements.</a:t>
            </a:r>
          </a:p>
          <a:p>
            <a:r>
              <a:rPr lang="en-US" dirty="0"/>
              <a:t>Apply system design principles to real-world projects.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2F5D0-D8AD-9757-362F-EC5C28036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643D5-7BF0-7B58-2B53-4A7CB59E6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B9D0E-20FE-6EB6-81F2-6020B932F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5439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BFCF9-374F-286C-8F40-81DB951AB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1. Git Fundamentals</a:t>
            </a:r>
            <a:br>
              <a:rPr lang="en-GB" b="1" dirty="0"/>
            </a:b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1953F-2E7B-1EAA-2EA9-84D59D7F9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AF917-C0FE-7419-24BD-859189129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86229-FF86-98A1-8149-E90E54692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7589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ADC84-C473-FFA9-D104-8AE09A483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Basic Concepts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35C1E-8A4E-B9CE-5B33-7D3AE504A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Repository Initialisation</a:t>
            </a:r>
          </a:p>
          <a:p>
            <a:pPr lvl="1"/>
            <a:r>
              <a:rPr lang="en-GB" dirty="0"/>
              <a:t>A repository (repo) is a central place to store, track, and manage code.</a:t>
            </a:r>
          </a:p>
          <a:p>
            <a:pPr lvl="1"/>
            <a:r>
              <a:rPr lang="en-GB" dirty="0"/>
              <a:t>Commands to initialise a Git repository:</a:t>
            </a:r>
          </a:p>
          <a:p>
            <a:pPr lvl="2"/>
            <a:r>
              <a:rPr lang="en-GB" dirty="0"/>
              <a:t>git </a:t>
            </a:r>
            <a:r>
              <a:rPr lang="en-GB" dirty="0" err="1"/>
              <a:t>init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Clone an existing repository:</a:t>
            </a:r>
          </a:p>
          <a:p>
            <a:pPr lvl="2"/>
            <a:r>
              <a:rPr lang="en-GB" dirty="0"/>
              <a:t>git clone &lt;repository-</a:t>
            </a:r>
            <a:r>
              <a:rPr lang="en-GB" dirty="0" err="1"/>
              <a:t>url</a:t>
            </a:r>
            <a:r>
              <a:rPr lang="en-GB" dirty="0"/>
              <a:t>&gt;</a:t>
            </a:r>
          </a:p>
          <a:p>
            <a:r>
              <a:rPr lang="en-GB" dirty="0"/>
              <a:t>Configuring a Local Repository</a:t>
            </a:r>
          </a:p>
          <a:p>
            <a:pPr lvl="1"/>
            <a:r>
              <a:rPr lang="en-GB" dirty="0"/>
              <a:t>Set up user information for commits:</a:t>
            </a:r>
          </a:p>
          <a:p>
            <a:pPr lvl="2"/>
            <a:r>
              <a:rPr lang="en-GB" dirty="0"/>
              <a:t>git config user.name "your-name“</a:t>
            </a:r>
          </a:p>
          <a:p>
            <a:pPr lvl="2"/>
            <a:r>
              <a:rPr lang="en-GB" dirty="0"/>
              <a:t>git config </a:t>
            </a:r>
            <a:r>
              <a:rPr lang="en-GB" dirty="0" err="1"/>
              <a:t>user.email</a:t>
            </a:r>
            <a:r>
              <a:rPr lang="en-GB" dirty="0"/>
              <a:t> "your-email-address“</a:t>
            </a:r>
          </a:p>
          <a:p>
            <a:pPr lvl="1"/>
            <a:r>
              <a:rPr lang="en-GB" dirty="0"/>
              <a:t>Set a default editor (e.g., VS Code):</a:t>
            </a:r>
          </a:p>
          <a:p>
            <a:pPr lvl="2"/>
            <a:r>
              <a:rPr lang="en-GB" dirty="0"/>
              <a:t>git config </a:t>
            </a:r>
            <a:r>
              <a:rPr lang="en-GB" dirty="0" err="1"/>
              <a:t>core.editor</a:t>
            </a:r>
            <a:r>
              <a:rPr lang="en-GB" dirty="0"/>
              <a:t> code</a:t>
            </a:r>
          </a:p>
          <a:p>
            <a:pPr lvl="1"/>
            <a:r>
              <a:rPr lang="en-GB" dirty="0"/>
              <a:t>View the current configuration:</a:t>
            </a:r>
          </a:p>
          <a:p>
            <a:pPr lvl="2"/>
            <a:r>
              <a:rPr lang="en-GB" dirty="0"/>
              <a:t>git </a:t>
            </a:r>
            <a:r>
              <a:rPr lang="en-GB"/>
              <a:t>config --list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86E5C-CFC3-F188-0CEE-9D29D8994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7201B-060F-6E2B-94DA-ADBD1D145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4571B-5D0F-087C-17EF-FE71C9E65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1580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77983-D3C2-6A2C-4B4B-5E8058EEF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Basic Concepts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77D90-9C1D-0B76-9EE1-F46C351B5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Staging and Committing</a:t>
            </a:r>
          </a:p>
          <a:p>
            <a:pPr lvl="1"/>
            <a:r>
              <a:rPr lang="en-GB" dirty="0"/>
              <a:t>Staging: Prepares files to be committed by adding them to the staging area.</a:t>
            </a:r>
          </a:p>
          <a:p>
            <a:pPr lvl="2"/>
            <a:r>
              <a:rPr lang="en-GB" dirty="0"/>
              <a:t>git add &lt;file-name&gt;</a:t>
            </a:r>
          </a:p>
          <a:p>
            <a:r>
              <a:rPr lang="en-GB" dirty="0"/>
              <a:t>Add all files:</a:t>
            </a:r>
          </a:p>
          <a:p>
            <a:pPr lvl="1"/>
            <a:r>
              <a:rPr lang="en-GB" dirty="0"/>
              <a:t>git add .</a:t>
            </a:r>
          </a:p>
          <a:p>
            <a:r>
              <a:rPr lang="en-GB" dirty="0"/>
              <a:t>Committing: Records the changes in the repository.</a:t>
            </a:r>
          </a:p>
          <a:p>
            <a:pPr lvl="1"/>
            <a:r>
              <a:rPr lang="en-GB" dirty="0"/>
              <a:t>git commit -m "Commit message"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80ECB-FC36-B13D-D8BA-B345F20FE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09C52-3DB1-8277-9E86-BDA187435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CFB40-BEE9-13EE-8004-560C6B817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525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84757-6F2E-81CD-A80B-2C6E3C29A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Basic Concepts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D076E-E688-1594-53CB-E13497EC6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Working with Remotes</a:t>
            </a:r>
          </a:p>
          <a:p>
            <a:pPr lvl="1"/>
            <a:r>
              <a:rPr lang="en-GB" dirty="0"/>
              <a:t>Remote Repositories: Hosted on platforms like GitHub, GitLab, or Azure Repos.</a:t>
            </a:r>
          </a:p>
          <a:p>
            <a:pPr lvl="1"/>
            <a:r>
              <a:rPr lang="en-GB" dirty="0"/>
              <a:t>Link local to remote repository:</a:t>
            </a:r>
          </a:p>
          <a:p>
            <a:pPr lvl="2"/>
            <a:r>
              <a:rPr lang="en-GB" dirty="0"/>
              <a:t>git remote add origin &lt;repository-</a:t>
            </a:r>
            <a:r>
              <a:rPr lang="en-GB" dirty="0" err="1"/>
              <a:t>url</a:t>
            </a:r>
            <a:r>
              <a:rPr lang="en-GB" dirty="0"/>
              <a:t>&gt;</a:t>
            </a:r>
          </a:p>
          <a:p>
            <a:pPr lvl="1"/>
            <a:r>
              <a:rPr lang="en-GB" dirty="0"/>
              <a:t>Push changes to remote:</a:t>
            </a:r>
          </a:p>
          <a:p>
            <a:pPr lvl="2"/>
            <a:r>
              <a:rPr lang="en-GB" dirty="0"/>
              <a:t>git push -u origin main</a:t>
            </a:r>
          </a:p>
          <a:p>
            <a:pPr lvl="1"/>
            <a:r>
              <a:rPr lang="en-GB" dirty="0"/>
              <a:t>Fetch updates:</a:t>
            </a:r>
          </a:p>
          <a:p>
            <a:pPr lvl="2"/>
            <a:r>
              <a:rPr lang="en-GB" dirty="0"/>
              <a:t>git fetch</a:t>
            </a:r>
          </a:p>
          <a:p>
            <a:pPr lvl="1"/>
            <a:r>
              <a:rPr lang="en-GB" dirty="0"/>
              <a:t>Pull changes:</a:t>
            </a:r>
          </a:p>
          <a:p>
            <a:pPr lvl="2"/>
            <a:r>
              <a:rPr lang="en-GB" dirty="0"/>
              <a:t>git pull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F64DA-A3EA-AB3C-70CA-CB0453C2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A53FA-95F1-04B6-41A9-5BE1D0997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12414-E027-4D11-D13B-67C354195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6204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EA170-20EA-5D79-DB29-2725FC600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Branching and Merging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D2194-C468-56B0-2647-E1ADF4526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Branch Management</a:t>
            </a:r>
          </a:p>
          <a:p>
            <a:pPr lvl="1"/>
            <a:r>
              <a:rPr lang="en-US" dirty="0"/>
              <a:t>Branches allow developers to work on different features or fixes independently.</a:t>
            </a:r>
          </a:p>
          <a:p>
            <a:pPr lvl="2"/>
            <a:r>
              <a:rPr lang="en-US" dirty="0"/>
              <a:t>git branch &lt;branch-name&gt;</a:t>
            </a:r>
          </a:p>
          <a:p>
            <a:pPr lvl="1"/>
            <a:r>
              <a:rPr lang="en-US" dirty="0"/>
              <a:t>Switch to a branch:</a:t>
            </a:r>
          </a:p>
          <a:p>
            <a:pPr lvl="2"/>
            <a:r>
              <a:rPr lang="en-US" dirty="0"/>
              <a:t>git checkout &lt;branch-name&gt;</a:t>
            </a:r>
          </a:p>
          <a:p>
            <a:pPr lvl="1"/>
            <a:r>
              <a:rPr lang="en-US" dirty="0"/>
              <a:t>Create and switch in one step:</a:t>
            </a:r>
          </a:p>
          <a:p>
            <a:pPr lvl="2"/>
            <a:r>
              <a:rPr lang="en-GB" dirty="0"/>
              <a:t>git checkout -b &lt;branch-name&gt;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FB86B-EBEE-D6BE-48AC-0A52B02C8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48570-23EA-AE5F-ABAF-596ED69ED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9E6F3-AFB5-F547-5821-DDC918191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8934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21F71-15A7-FDAF-2FB1-F12F62344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Branching and Merging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0510C-F61C-EBB8-1943-0F9A9A31F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Merge Strategies</a:t>
            </a:r>
          </a:p>
          <a:p>
            <a:pPr lvl="1"/>
            <a:r>
              <a:rPr lang="en-US" dirty="0"/>
              <a:t>Fast-Forward Merge: Used when no divergence exists.</a:t>
            </a:r>
          </a:p>
          <a:p>
            <a:pPr lvl="2"/>
            <a:r>
              <a:rPr lang="en-US" dirty="0"/>
              <a:t>git merge &lt;branch-name&gt;</a:t>
            </a:r>
          </a:p>
          <a:p>
            <a:pPr lvl="1"/>
            <a:r>
              <a:rPr lang="en-US" dirty="0"/>
              <a:t>Three-Way Merge: Resolves diverging changes by creating a new merge commit.</a:t>
            </a:r>
          </a:p>
          <a:p>
            <a:r>
              <a:rPr lang="en-US" dirty="0"/>
              <a:t>Conflict Resolution</a:t>
            </a:r>
          </a:p>
          <a:p>
            <a:pPr lvl="1"/>
            <a:r>
              <a:rPr lang="en-US" dirty="0"/>
              <a:t>Git highlights conflicting sections in files.</a:t>
            </a:r>
          </a:p>
          <a:p>
            <a:pPr lvl="1"/>
            <a:r>
              <a:rPr lang="en-US" dirty="0"/>
              <a:t>Edit the file to resolve the conflict, then add and commit.</a:t>
            </a:r>
          </a:p>
          <a:p>
            <a:pPr lvl="2"/>
            <a:r>
              <a:rPr lang="en-US" dirty="0"/>
              <a:t>git add &lt;file-name&gt;</a:t>
            </a:r>
          </a:p>
          <a:p>
            <a:pPr lvl="2"/>
            <a:r>
              <a:rPr lang="en-US" dirty="0"/>
              <a:t>git commit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90749-594A-85B3-36F4-105B23D22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37557-52FA-4866-E872-2588B80C4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045AB-71CB-79FF-2831-5AADF45C9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0395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78973-16C1-0E85-0838-3ED90CC34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0CCE1-4EE9-7944-0F32-4CA53188B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2. Azure Repos Integration</a:t>
            </a:r>
            <a:br>
              <a:rPr lang="en-GB" b="1" dirty="0"/>
            </a:br>
            <a:endParaRPr lang="en-GB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7685F-DD64-D8A3-17BC-E398FDE42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94204-60F3-C294-3ABE-8A67D8D8C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9A717-A0F7-626D-DD9F-59909D204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1297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3AF23-9F75-A6E1-CD34-E5FF32E5F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Azure DevOps Workflow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36612-772E-CAD0-9C8B-595DE43E4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Repository Setup</a:t>
            </a:r>
          </a:p>
          <a:p>
            <a:pPr lvl="1"/>
            <a:r>
              <a:rPr lang="en-US" dirty="0"/>
              <a:t>Navigate to Azure DevOps &gt; Repos &gt; Files &gt; </a:t>
            </a:r>
            <a:r>
              <a:rPr lang="en-US" dirty="0" err="1"/>
              <a:t>Initialise</a:t>
            </a:r>
            <a:r>
              <a:rPr lang="en-US" dirty="0"/>
              <a:t> repository.</a:t>
            </a:r>
          </a:p>
          <a:p>
            <a:pPr lvl="1"/>
            <a:r>
              <a:rPr lang="en-US" dirty="0"/>
              <a:t>Clone the repository locally:</a:t>
            </a:r>
          </a:p>
          <a:p>
            <a:pPr lvl="2"/>
            <a:r>
              <a:rPr lang="en-US" dirty="0"/>
              <a:t>git clone &lt;repository-</a:t>
            </a:r>
            <a:r>
              <a:rPr lang="en-US" dirty="0" err="1"/>
              <a:t>url</a:t>
            </a:r>
            <a:r>
              <a:rPr lang="en-US" dirty="0"/>
              <a:t>&gt;</a:t>
            </a:r>
          </a:p>
          <a:p>
            <a:r>
              <a:rPr lang="en-US" dirty="0"/>
              <a:t>Pull Requests</a:t>
            </a:r>
          </a:p>
          <a:p>
            <a:pPr lvl="1"/>
            <a:r>
              <a:rPr lang="en-US" dirty="0"/>
              <a:t>Pull Requests (PRs) are used to merge code into the main branch.</a:t>
            </a:r>
          </a:p>
          <a:p>
            <a:pPr lvl="1"/>
            <a:r>
              <a:rPr lang="en-US" dirty="0"/>
              <a:t>Workflow: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Push changes to a feature branch.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Create a PR in Azure DevOps.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Add reviewers and comments.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Complete the PR and merge changes.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1ED55-118D-E9FB-BC84-A9A156668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908C4-D765-53CE-62B9-57CBC3753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731EF-39D3-C04C-5422-A0631A921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4546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91AF2-4D12-38E4-B142-F32814E8C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A8988-14BD-2AD0-7FE4-85BD0EB4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Azure DevOps Workflow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CDCA2-B46A-F459-E60E-65C72EF2A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Code Review Process</a:t>
            </a:r>
          </a:p>
          <a:p>
            <a:pPr lvl="1"/>
            <a:r>
              <a:rPr lang="en-US" dirty="0"/>
              <a:t>Reviewers can: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Comment on the code.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Suggest changes.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Approve the PR.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Use "Resolve Comments" to address feedback.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88155-65AE-0002-07D6-D85DB4496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4C6AB-91EF-D0A3-A940-FE9586558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80D05-3DC3-8D90-5534-FD2E4A96A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8105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9FD34-C1A2-EE38-1129-8FA4CDCBE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Agile Fundamentals - What is Agile?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8E888-0CBF-1D8D-356D-61CB889E1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Agile is a mindset focused on delivering value incrementally through collaboration and adaptability.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</a:t>
            </a:r>
            <a:r>
              <a:rPr lang="en-US" dirty="0" err="1"/>
              <a:t>prioritises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Individuals and interactions</a:t>
            </a:r>
            <a:r>
              <a:rPr lang="en-US" dirty="0"/>
              <a:t> over processes and tools.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Working software</a:t>
            </a:r>
            <a:r>
              <a:rPr lang="en-US" dirty="0"/>
              <a:t> over comprehensive documentation.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Customer collaboration</a:t>
            </a:r>
            <a:r>
              <a:rPr lang="en-US" dirty="0"/>
              <a:t> over contract negotiation.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Responding to change</a:t>
            </a:r>
            <a:r>
              <a:rPr lang="en-US" dirty="0"/>
              <a:t> over following a fixed plan.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77A1D-BC21-CBCD-A452-A0B2F02D4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3934C-3518-5464-D35B-12457125F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41CB0-BDA2-6FC4-06F7-BF9EE6A70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2473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96B7D-A0FC-0D05-2792-D3093F0C5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Why Agile?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0587F-0558-41A7-AE36-50C300025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b="1" dirty="0"/>
              <a:t>Challenges in Traditional Models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Rigid processes, delayed feedback, slow delivery.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Benefits of Agile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Faster value delivery.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Greater flexibility in adapting to changes.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Continuous feedback and improvement.</a:t>
            </a:r>
          </a:p>
          <a:p>
            <a:r>
              <a:rPr lang="en-US" b="1" dirty="0"/>
              <a:t>Example</a:t>
            </a:r>
            <a:r>
              <a:rPr lang="en-US" dirty="0"/>
              <a:t>: A team using Agile can adapt to changes in customer requirements without significant delays.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A45C0-B775-A876-AB98-945D86BBC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7A6AF-2421-B679-E3BF-9EAE27FF4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561E5-B34A-0B33-B6BD-37734E356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7278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65FEF-C48C-41EF-ED64-C10FEA768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Key Agile Principles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D7251-B3FD-0334-37C5-E493BE0C3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 Deliver working software frequently.</a:t>
            </a:r>
          </a:p>
          <a:p>
            <a:pPr>
              <a:buFont typeface="+mj-lt"/>
              <a:buAutoNum type="arabicPeriod"/>
            </a:pPr>
            <a:r>
              <a:rPr lang="en-US" dirty="0"/>
              <a:t> Embrace changing requirements, even late in development.</a:t>
            </a:r>
          </a:p>
          <a:p>
            <a:pPr>
              <a:buFont typeface="+mj-lt"/>
              <a:buAutoNum type="arabicPeriod"/>
            </a:pPr>
            <a:r>
              <a:rPr lang="en-US" dirty="0"/>
              <a:t> Foster daily collaboration between business and developers.</a:t>
            </a:r>
          </a:p>
          <a:p>
            <a:pPr>
              <a:buFont typeface="+mj-lt"/>
              <a:buAutoNum type="arabicPeriod"/>
            </a:pPr>
            <a:r>
              <a:rPr lang="en-US" dirty="0"/>
              <a:t> Build projects around motivated individuals and trust them.</a:t>
            </a:r>
          </a:p>
          <a:p>
            <a:pPr>
              <a:buFont typeface="+mj-lt"/>
              <a:buAutoNum type="arabicPeriod"/>
            </a:pPr>
            <a:r>
              <a:rPr lang="en-US" dirty="0"/>
              <a:t> Reflect regularly to improve processes and outcomes.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62110-854D-4A2B-A480-5CE0A8557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82C75-6530-53D9-8D99-FCE731A7B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2C0DF-0467-9A67-AD33-59E7D8EDD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0584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AF8FA-7863-304D-D989-41302A27C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 b="1" dirty="0"/>
              <a:t>Agile vs Traditional Models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3945C-50D2-D898-0D42-0940AF4EC5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Waterfall Model</a:t>
            </a:r>
            <a:r>
              <a:rPr lang="en-US" dirty="0"/>
              <a:t>: Linear and sequential development.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/>
              <a:t>Limited flexibility for changes.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Agile Model</a:t>
            </a:r>
            <a:r>
              <a:rPr lang="en-US" dirty="0"/>
              <a:t>: Incremental and iterative approach.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/>
              <a:t>Allows continuous improvement and adaptation.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1026" name="Picture 2" descr="Agile vs Waterfall - A Detailed Comparison Guide">
            <a:extLst>
              <a:ext uri="{FF2B5EF4-FFF2-40B4-BE49-F238E27FC236}">
                <a16:creationId xmlns:a16="http://schemas.microsoft.com/office/drawing/2014/main" id="{54D333AC-3C10-7022-0F5B-FEF157507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2634647"/>
            <a:ext cx="5181600" cy="2733294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310B6-E253-A4B8-03EE-75041AB96E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B914D-034F-F4CE-D028-99C7D0093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A2E20-86CD-5F9D-4578-AA4AE5BBF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226A240-2C59-4E55-AFC4-FBF35E0F01C5}" type="slidenum">
              <a:rPr lang="en-GB" smtClean="0"/>
              <a:pPr>
                <a:spcAft>
                  <a:spcPts val="600"/>
                </a:spcAft>
              </a:pPr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5278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E74FD-9807-4157-E192-ACFF4157E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Scrum Framework Overview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ECF7B-0AB3-C587-DDFB-D0F2AB838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Scrum is a popular Agile methodology with defined roles, events, and artifacts to guide teams.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Roles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Product Owner</a:t>
            </a:r>
            <a:r>
              <a:rPr lang="en-US" dirty="0"/>
              <a:t>: Represents stakeholders, </a:t>
            </a:r>
            <a:r>
              <a:rPr lang="en-US" dirty="0" err="1"/>
              <a:t>prioritises</a:t>
            </a:r>
            <a:r>
              <a:rPr lang="en-US" dirty="0"/>
              <a:t> the backlog.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Scrum Master</a:t>
            </a:r>
            <a:r>
              <a:rPr lang="en-US" dirty="0"/>
              <a:t>: Ensures adherence to Scrum practices, removes impediments.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Development Team</a:t>
            </a:r>
            <a:r>
              <a:rPr lang="en-US" dirty="0"/>
              <a:t>: Delivers incremental value.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Events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Sprint Planning, Daily Standups, Sprint Review, and Sprint Retrospective.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BBD61-E2D5-600E-7A04-B56AAAEE0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0B25D-5762-9321-9A00-9B84B02D1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D620E-3E5F-3D27-AFA6-862A012C9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93834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514BC-2CC6-1B7B-6E96-649CAD468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Scrum Artifacts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25EDF-4916-4BC4-DBB7-CB5DB9F02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b="1" dirty="0"/>
              <a:t>Product Backlog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 </a:t>
            </a:r>
            <a:r>
              <a:rPr lang="en-US" dirty="0" err="1"/>
              <a:t>prioritised</a:t>
            </a:r>
            <a:r>
              <a:rPr lang="en-US" dirty="0"/>
              <a:t> list of tasks or features for the product.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Sprint Backlog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Selected tasks for the current sprint.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Increment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 sum of all completed product backlog items during a sprint.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5409B-0BB0-326E-FF49-DD4B33B6E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23F2A-55EC-0BE2-DD68-A0FF71BB1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2F96B-CA73-63E2-727F-169870C77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43151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D6E2C-8A99-3672-2CA7-EE6391354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Sprint Workflow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6E19D-C83E-6956-E03C-5230CB40B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b="1" dirty="0"/>
              <a:t> Sprint Planning</a:t>
            </a:r>
            <a:r>
              <a:rPr lang="en-US" dirty="0"/>
              <a:t>: Define sprint goals and select backlog items.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Daily Standups</a:t>
            </a:r>
            <a:r>
              <a:rPr lang="en-US" dirty="0"/>
              <a:t>: Short meetings to align team progress.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Sprint Execution</a:t>
            </a:r>
            <a:r>
              <a:rPr lang="en-US" dirty="0"/>
              <a:t>: Development of chosen tasks.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Sprint Review</a:t>
            </a:r>
            <a:r>
              <a:rPr lang="en-US" dirty="0"/>
              <a:t>: Demonstrate completed work to stakeholders.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Sprint Retrospective</a:t>
            </a:r>
            <a:r>
              <a:rPr lang="en-US" dirty="0"/>
              <a:t>: Reflect and improve.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Example</a:t>
            </a:r>
            <a:r>
              <a:rPr lang="en-US" dirty="0"/>
              <a:t>: Daily standups ensure quick identification and resolution of blockers.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A1868-9AB2-929D-D06F-342502D15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AF5D2-BCC9-B47D-ED32-57C4A352D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167FB-D136-1554-149D-7F407B967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15137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62E6E-B41B-8E25-98BA-AC6CB8EA0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 b="1" dirty="0"/>
              <a:t>Agile Metrics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64191-86E3-9E42-C905-5E1E0699EC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2400" b="1"/>
              <a:t> Velocity</a:t>
            </a:r>
            <a:r>
              <a:rPr lang="en-US" sz="2400"/>
              <a:t>: Measures team productivity by completed story points.</a:t>
            </a:r>
          </a:p>
          <a:p>
            <a:pPr>
              <a:buFont typeface="+mj-lt"/>
              <a:buAutoNum type="arabicPeriod"/>
            </a:pPr>
            <a:r>
              <a:rPr lang="en-US" sz="2400" b="1"/>
              <a:t> Burn-down Chart</a:t>
            </a:r>
            <a:r>
              <a:rPr lang="en-US" sz="2400"/>
              <a:t>: Tracks work completed vs remaining during a sprint.</a:t>
            </a:r>
          </a:p>
          <a:p>
            <a:pPr>
              <a:buFont typeface="+mj-lt"/>
              <a:buAutoNum type="arabicPeriod"/>
            </a:pPr>
            <a:r>
              <a:rPr lang="en-US" sz="2400" b="1"/>
              <a:t> Cycle Time</a:t>
            </a:r>
            <a:r>
              <a:rPr lang="en-US" sz="2400"/>
              <a:t>: Measures how long a task takes from start to finish.</a:t>
            </a:r>
          </a:p>
          <a:p>
            <a:pPr marL="0" indent="0">
              <a:buNone/>
            </a:pPr>
            <a:endParaRPr lang="en-US" sz="2400" b="1"/>
          </a:p>
          <a:p>
            <a:pPr marL="0" indent="0">
              <a:buNone/>
            </a:pPr>
            <a:r>
              <a:rPr lang="en-US" sz="2400" b="1"/>
              <a:t>Practical Use</a:t>
            </a:r>
            <a:r>
              <a:rPr lang="en-US" sz="2400"/>
              <a:t>: Use velocity trends to plan future sprints more accurately.</a:t>
            </a:r>
          </a:p>
          <a:p>
            <a:endParaRPr lang="en-GB" sz="2400"/>
          </a:p>
        </p:txBody>
      </p:sp>
      <p:pic>
        <p:nvPicPr>
          <p:cNvPr id="2052" name="Picture 4" descr="DevOps without measuring the right metrics will be a failure | by Abdul  Jaleel Kavungal | Medium">
            <a:extLst>
              <a:ext uri="{FF2B5EF4-FFF2-40B4-BE49-F238E27FC236}">
                <a16:creationId xmlns:a16="http://schemas.microsoft.com/office/drawing/2014/main" id="{8E475570-4766-95E6-EF32-D4363FD45A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2543969"/>
            <a:ext cx="5181600" cy="2914649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31A7E-D996-19C3-4EF4-1871ED6AA5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1C2BC-A63A-548C-8732-7C99E647C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30D16-AA4C-817E-843B-CCDA9B3A3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226A240-2C59-4E55-AFC4-FBF35E0F01C5}" type="slidenum">
              <a:rPr lang="en-GB" smtClean="0"/>
              <a:pPr>
                <a:spcAft>
                  <a:spcPts val="600"/>
                </a:spcAft>
              </a:pPr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54607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A37E7-7A22-768F-A97B-5974AACDD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Azure DevOps - Introduction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102B9-B0F9-6EEF-DC17-53089D0E5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Azure DevOps is a cloud-based platform for managing software development projects.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Key features: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Boards</a:t>
            </a:r>
            <a:r>
              <a:rPr lang="en-US" dirty="0"/>
              <a:t>: Track work with Kanban boards and backlogs.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Repos</a:t>
            </a:r>
            <a:r>
              <a:rPr lang="en-US" dirty="0"/>
              <a:t>: Manage Git repositories.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Pipelines</a:t>
            </a:r>
            <a:r>
              <a:rPr lang="en-US" dirty="0"/>
              <a:t>: Automate builds and deployments.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29744-DB7C-E027-66D6-796D58E85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B3A39-F324-1DFD-6461-1A8152AC8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3FC60-DA0A-7515-F586-938B98040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3186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87ADF-4D90-DAD9-116C-B798EF850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Azure Boards for Agile Teams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752D7-A3BC-3342-097E-1291D90B7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b="1" dirty="0"/>
              <a:t>Kanban Boards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 err="1"/>
              <a:t>Visualise</a:t>
            </a:r>
            <a:r>
              <a:rPr lang="en-US" dirty="0"/>
              <a:t> tasks and workflows.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 err="1"/>
              <a:t>Customisable</a:t>
            </a:r>
            <a:r>
              <a:rPr lang="en-US" dirty="0"/>
              <a:t> columns and work item types.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Backlog Management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 err="1"/>
              <a:t>Prioritise</a:t>
            </a:r>
            <a:r>
              <a:rPr lang="en-US" dirty="0"/>
              <a:t> tasks and features.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Break down work into user stories.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Example</a:t>
            </a:r>
            <a:r>
              <a:rPr lang="en-US" dirty="0"/>
              <a:t>: A team tracks a sprint backlog with Azure Boards to monitor task completion.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6776D-10A6-7DED-8AC2-3196490D6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12EF8-F3EC-3382-F907-BD5C182C5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81F2D-AFFE-BBFA-77DA-EBE493CCE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86999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C0DD-271F-99D3-F20C-4F3AA3D22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Using Azure Repos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C5D16-AE56-7673-D8E6-5BD9FE6E0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Host and manage your Git repositories.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Features: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Code collaboration with pull requests.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Code reviews to maintain quality.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Branch policies to enforce standards.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C4F0C-E866-F469-43BD-578D46C4D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688B5-3160-D4FF-E200-B5E5E6F60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51DEE-673E-33F7-3DB1-33D453C1F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6482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96342-3458-3051-D169-458D62E22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Continuous Integration with Azure Pipelines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B30A3-63D4-F496-325E-0E3A76AA8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b="1" dirty="0"/>
              <a:t>Set Up Pipelines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Automate building and testing code.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Key Concepts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Build Triggers: Automatically build code upon changes.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YAML Configuration: Define pipeline steps programmatically.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Benefits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Early detection of defects.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Consistent quality.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88731-4A51-9A86-A9E9-5A4EDE07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ADA26-7D8E-8EA1-4827-AD2BB3A37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7E294-CF58-B589-363C-D937C5221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36538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50166-CDE0-7EFD-FB67-B25E1C35D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Practical Example - Scrum in Azure </a:t>
            </a:r>
            <a:br>
              <a:rPr lang="en-US" b="1" dirty="0"/>
            </a:br>
            <a:r>
              <a:rPr lang="en-US" b="1" dirty="0"/>
              <a:t>DevOps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85548-3D4E-045D-A9CA-B9012CED1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b="1" dirty="0"/>
              <a:t>Scenario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Product Owner creates backlog items in Azure Boards.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Scrum Master facilitates sprint planning with the team.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Development Team tracks progress using Kanban boards.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Tools Used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Azure Boards for tracking.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Azure Repos for code management.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76338D-3C50-724B-6E1F-0581A7F4C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05A2B-3B6E-3BF0-4351-CCED563F5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9765D-670F-FA65-2221-EFE1ACDD7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51916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D21BA-2405-755C-CCF4-20FBBF706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Challenges in Agile Implementation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D085E-AAC7-FCE1-AD4E-03DBA5F19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Resistance to change from traditional methods.</a:t>
            </a:r>
          </a:p>
          <a:p>
            <a:pPr>
              <a:buFont typeface="+mj-lt"/>
              <a:buAutoNum type="arabicPeriod"/>
            </a:pPr>
            <a:r>
              <a:rPr lang="en-US" dirty="0"/>
              <a:t>Difficulty in maintaining continuous collaboration.</a:t>
            </a:r>
          </a:p>
          <a:p>
            <a:pPr>
              <a:buFont typeface="+mj-lt"/>
              <a:buAutoNum type="arabicPeriod"/>
            </a:pPr>
            <a:r>
              <a:rPr lang="en-US" dirty="0"/>
              <a:t>Adapting Agile practices to distributed teams.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Tips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Conduct Agile training sessions.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tools like Azure DevOps to improve transparency and communication.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4CAFF-5112-BC83-091A-A979F927C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7EC09-8339-E054-9999-D7D520659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6A533-D13E-8F2B-487A-B3579E338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80878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AE11C-4550-9566-E6D5-D2C602FDA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Real-World Case Study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62D0A-4101-E613-4ED7-9A42BDC70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Case Study: Spotify’s Agile Transformation</a:t>
            </a:r>
            <a:endParaRPr lang="en-US" dirty="0"/>
          </a:p>
          <a:p>
            <a:pPr lvl="1">
              <a:buFont typeface="+mj-lt"/>
              <a:buAutoNum type="arabicPeriod"/>
            </a:pPr>
            <a:r>
              <a:rPr lang="en-US" dirty="0"/>
              <a:t> Adopted Agile to foster innovation and rapid delivery.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 Introduced Squad and Tribe models for team autonomy.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 Results: Faster releases, improved collaboration, and customer satisfaction.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5B20B-0E74-2601-B64C-AF34EA1F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A9E41-F22D-ADBD-85C4-FCF396011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AE807-7FCF-0892-A694-A0B17B92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61101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89009-EAD3-6012-E251-096EF82CD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 b="1" dirty="0"/>
              <a:t>Agile and DevOps Synergy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2F8F3-B80A-179E-BDAE-15A517AC35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Agile focuses on iterative development and collaboration.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DevOps </a:t>
            </a:r>
            <a:r>
              <a:rPr lang="en-US" dirty="0" err="1"/>
              <a:t>emphasises</a:t>
            </a:r>
            <a:r>
              <a:rPr lang="en-US" dirty="0"/>
              <a:t> automation, integration, and delivery.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Together, they enable faster, more reliable software delivery.</a:t>
            </a:r>
          </a:p>
          <a:p>
            <a:endParaRPr lang="en-GB" dirty="0"/>
          </a:p>
        </p:txBody>
      </p:sp>
      <p:pic>
        <p:nvPicPr>
          <p:cNvPr id="3074" name="Picture 2" descr="Agile DevOps">
            <a:extLst>
              <a:ext uri="{FF2B5EF4-FFF2-40B4-BE49-F238E27FC236}">
                <a16:creationId xmlns:a16="http://schemas.microsoft.com/office/drawing/2014/main" id="{585359C8-7FFE-96F0-144F-54C5836D0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87331" y="1825625"/>
            <a:ext cx="4351338" cy="4351338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B9D53-6F93-CD51-5AC8-CCEE6A921B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9097A-ABF4-B6F3-C9D2-579042718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240B2-8568-A6C4-BBEE-061EBCCC0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226A240-2C59-4E55-AFC4-FBF35E0F01C5}" type="slidenum">
              <a:rPr lang="en-GB" smtClean="0"/>
              <a:pPr>
                <a:spcAft>
                  <a:spcPts val="600"/>
                </a:spcAft>
              </a:pPr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64258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43944-3E4D-CD83-7A32-0D03DC695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What is the SDLC?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6ADFB-0C70-75B0-94D7-5AEC42CA75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sz="2400"/>
              <a:t>Definition:</a:t>
            </a:r>
          </a:p>
          <a:p>
            <a:pPr lvl="1"/>
            <a:r>
              <a:rPr lang="en-US" dirty="0"/>
              <a:t>A structured process for developing software.</a:t>
            </a:r>
          </a:p>
          <a:p>
            <a:pPr lvl="1"/>
            <a:r>
              <a:rPr lang="en-US" dirty="0"/>
              <a:t>Ensures high-quality software through systematic planning, building, and testing.</a:t>
            </a:r>
          </a:p>
          <a:p>
            <a:r>
              <a:rPr lang="en-US" sz="2400"/>
              <a:t>Why It Matters?</a:t>
            </a:r>
          </a:p>
          <a:p>
            <a:pPr lvl="1"/>
            <a:r>
              <a:rPr lang="en-US" dirty="0"/>
              <a:t>Reduces project risks.</a:t>
            </a:r>
          </a:p>
          <a:p>
            <a:pPr lvl="1"/>
            <a:r>
              <a:rPr lang="en-US" dirty="0"/>
              <a:t>Improves software quality.</a:t>
            </a:r>
          </a:p>
          <a:p>
            <a:pPr lvl="1"/>
            <a:r>
              <a:rPr lang="en-US" dirty="0"/>
              <a:t>Streamlines communication among teams.</a:t>
            </a:r>
            <a:endParaRPr lang="en-GB" dirty="0"/>
          </a:p>
        </p:txBody>
      </p:sp>
      <p:pic>
        <p:nvPicPr>
          <p:cNvPr id="2051" name="Picture 3" descr="Software Development Life Cycle Models and Methodologies ...">
            <a:extLst>
              <a:ext uri="{FF2B5EF4-FFF2-40B4-BE49-F238E27FC236}">
                <a16:creationId xmlns:a16="http://schemas.microsoft.com/office/drawing/2014/main" id="{12D3499F-9ABA-DB13-AE3E-2205F31FF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40" r="25574"/>
          <a:stretch/>
        </p:blipFill>
        <p:spPr bwMode="auto">
          <a:xfrm>
            <a:off x="6172200" y="1825625"/>
            <a:ext cx="5181600" cy="4351338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D8B2E-4FD6-8296-A935-AAD850E01B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C8477-F695-4DA7-4FED-11965DDE2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611B1-37E8-2119-3516-D21CD7DFF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226A240-2C59-4E55-AFC4-FBF35E0F01C5}" type="slidenum">
              <a:rPr lang="en-GB" smtClean="0"/>
              <a:pPr>
                <a:spcAft>
                  <a:spcPts val="600"/>
                </a:spcAft>
              </a:pPr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27849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0049F-1CD6-774D-66FF-411ADD98B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Phases of the SDLC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0F98B-7510-FEC4-C51C-D4665FD210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dirty="0"/>
              <a:t>Requirements Analysis.</a:t>
            </a:r>
          </a:p>
          <a:p>
            <a:r>
              <a:rPr lang="en-US" dirty="0"/>
              <a:t>Design and Architecture.</a:t>
            </a:r>
          </a:p>
          <a:p>
            <a:r>
              <a:rPr lang="en-US" dirty="0"/>
              <a:t>Implementation.</a:t>
            </a:r>
          </a:p>
          <a:p>
            <a:r>
              <a:rPr lang="en-US" dirty="0"/>
              <a:t>Testing.</a:t>
            </a:r>
          </a:p>
          <a:p>
            <a:r>
              <a:rPr lang="en-US" dirty="0"/>
              <a:t>Deployment and Maintenance.</a:t>
            </a:r>
            <a:endParaRPr lang="en-GB" dirty="0"/>
          </a:p>
        </p:txBody>
      </p:sp>
      <p:pic>
        <p:nvPicPr>
          <p:cNvPr id="3075" name="Picture 3" descr="SDLC Phases a..k.a. Software Development Life Cycle Process">
            <a:extLst>
              <a:ext uri="{FF2B5EF4-FFF2-40B4-BE49-F238E27FC236}">
                <a16:creationId xmlns:a16="http://schemas.microsoft.com/office/drawing/2014/main" id="{5E252353-2389-2E30-9BF5-A83FEB7E9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17265" y="1825625"/>
            <a:ext cx="4691469" cy="4351338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8AC43-7E25-93A5-365F-EF4580D52D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2B54F-5670-4F11-3B08-C3C5B13C9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5EC67-8BA2-C990-9EF6-4E495BC00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226A240-2C59-4E55-AFC4-FBF35E0F01C5}" type="slidenum">
              <a:rPr lang="en-GB" smtClean="0"/>
              <a:pPr>
                <a:spcAft>
                  <a:spcPts val="600"/>
                </a:spcAft>
              </a:pPr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10036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F6DBC-8774-006E-0517-DFDBF0492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 b="1" dirty="0"/>
              <a:t>Requirements Analysis: Stakeholder Identification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EA1B5-83EC-A1B4-61C9-3C75B94AE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sz="2600"/>
              <a:t>Who Are Stakeholders?</a:t>
            </a:r>
          </a:p>
          <a:p>
            <a:pPr lvl="1"/>
            <a:r>
              <a:rPr lang="en-US" sz="2600"/>
              <a:t>Individuals or groups impacted by the project.</a:t>
            </a:r>
          </a:p>
          <a:p>
            <a:pPr lvl="1"/>
            <a:r>
              <a:rPr lang="en-US" sz="2600"/>
              <a:t>Examples: End-users, project sponsors, regulators.</a:t>
            </a:r>
          </a:p>
          <a:p>
            <a:r>
              <a:rPr lang="en-US" sz="2600"/>
              <a:t>Methods:</a:t>
            </a:r>
          </a:p>
          <a:p>
            <a:pPr lvl="1"/>
            <a:r>
              <a:rPr lang="en-US" sz="2600"/>
              <a:t>Interviews.</a:t>
            </a:r>
          </a:p>
          <a:p>
            <a:pPr lvl="1"/>
            <a:r>
              <a:rPr lang="en-US" sz="2600"/>
              <a:t>Surveys.</a:t>
            </a:r>
          </a:p>
          <a:p>
            <a:pPr lvl="1"/>
            <a:r>
              <a:rPr lang="en-US" sz="2600"/>
              <a:t>Stakeholder mapping.</a:t>
            </a:r>
            <a:endParaRPr lang="en-GB" sz="2600"/>
          </a:p>
        </p:txBody>
      </p:sp>
      <p:pic>
        <p:nvPicPr>
          <p:cNvPr id="4099" name="Picture 3" descr="Stakeholder - Learn About the Different Types of Stakeholders">
            <a:extLst>
              <a:ext uri="{FF2B5EF4-FFF2-40B4-BE49-F238E27FC236}">
                <a16:creationId xmlns:a16="http://schemas.microsoft.com/office/drawing/2014/main" id="{457516D3-A44A-230F-E006-7D8CC54AF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17843" y="1825625"/>
            <a:ext cx="4690313" cy="4351338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30593-6EC8-4CD0-AA88-5FF9A791AC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102F8-8B9F-E58A-8ABA-D3FA9F914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AC828-43C1-B7D2-9143-429EBD8C5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226A240-2C59-4E55-AFC4-FBF35E0F01C5}" type="slidenum">
              <a:rPr lang="en-GB" smtClean="0"/>
              <a:pPr>
                <a:spcAft>
                  <a:spcPts val="600"/>
                </a:spcAft>
              </a:pPr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28388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BC2B0-987E-596E-BAD1-49E9FD3B0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/>
          <a:p>
            <a:r>
              <a:rPr lang="en-GB" dirty="0"/>
              <a:t>Requirements Gathering Techniques</a:t>
            </a:r>
          </a:p>
        </p:txBody>
      </p:sp>
      <p:pic>
        <p:nvPicPr>
          <p:cNvPr id="7" name="Picture 6" descr="A comparison of a comparison between a blue and green box&#10;&#10;Description automatically generated">
            <a:extLst>
              <a:ext uri="{FF2B5EF4-FFF2-40B4-BE49-F238E27FC236}">
                <a16:creationId xmlns:a16="http://schemas.microsoft.com/office/drawing/2014/main" id="{6F90B759-475A-1023-8D88-A0E36CB9F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188" y="1973770"/>
            <a:ext cx="6172200" cy="2900934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D4A44-546E-4BB5-EDC7-126D7F5BEA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/>
          <a:p>
            <a:r>
              <a:rPr lang="en-US" dirty="0"/>
              <a:t>Approaches:</a:t>
            </a:r>
          </a:p>
          <a:p>
            <a:pPr lvl="1"/>
            <a:r>
              <a:rPr lang="en-US" sz="1600" dirty="0"/>
              <a:t>Use cases and user stories.</a:t>
            </a:r>
          </a:p>
          <a:p>
            <a:pPr lvl="1"/>
            <a:r>
              <a:rPr lang="en-US" sz="1600" dirty="0"/>
              <a:t>Workshops and brainstorming sessions.</a:t>
            </a:r>
          </a:p>
          <a:p>
            <a:pPr lvl="1"/>
            <a:r>
              <a:rPr lang="en-US" sz="1600" dirty="0"/>
              <a:t>Observation and prototyping.</a:t>
            </a:r>
          </a:p>
          <a:p>
            <a:r>
              <a:rPr lang="en-US" dirty="0"/>
              <a:t>Output:</a:t>
            </a:r>
          </a:p>
          <a:p>
            <a:pPr lvl="1"/>
            <a:r>
              <a:rPr lang="en-US" sz="1600" dirty="0"/>
              <a:t>Functional requirements: "What should the system do?“</a:t>
            </a:r>
          </a:p>
          <a:p>
            <a:pPr lvl="1"/>
            <a:r>
              <a:rPr lang="en-US" sz="1600" dirty="0"/>
              <a:t>Non-functional requirements: "How should the system perform?"</a:t>
            </a:r>
            <a:endParaRPr lang="en-GB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54CB2-1685-37CA-8958-60EDE73FD0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50347-4991-B1E6-99AC-700369341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5CF8C-089E-0623-82FC-5A4536A19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226A240-2C59-4E55-AFC4-FBF35E0F01C5}" type="slidenum">
              <a:rPr lang="en-GB" smtClean="0"/>
              <a:pPr>
                <a:spcAft>
                  <a:spcPts val="600"/>
                </a:spcAft>
              </a:pPr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58231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5B841-07D0-E8A1-DD86-84DD76B83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Requirements 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F4BC2-B1AE-F4E6-066A-C8AFA32B2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Key Documents:</a:t>
            </a:r>
          </a:p>
          <a:p>
            <a:pPr lvl="1"/>
            <a:r>
              <a:rPr lang="en-US" dirty="0"/>
              <a:t>Functional Requirement Specification (FRS).</a:t>
            </a:r>
          </a:p>
          <a:p>
            <a:pPr lvl="1"/>
            <a:r>
              <a:rPr lang="en-US" dirty="0"/>
              <a:t>Non-Functional Requirement Specification </a:t>
            </a:r>
            <a:br>
              <a:rPr lang="en-US" dirty="0"/>
            </a:br>
            <a:r>
              <a:rPr lang="en-US" dirty="0"/>
              <a:t>(NFR).</a:t>
            </a:r>
          </a:p>
          <a:p>
            <a:pPr lvl="1"/>
            <a:r>
              <a:rPr lang="en-US" dirty="0"/>
              <a:t>User stories or use case diagrams.</a:t>
            </a:r>
          </a:p>
          <a:p>
            <a:r>
              <a:rPr lang="en-US" dirty="0"/>
              <a:t>Benefits:</a:t>
            </a:r>
          </a:p>
          <a:p>
            <a:pPr lvl="1"/>
            <a:r>
              <a:rPr lang="en-US" dirty="0"/>
              <a:t>Clear communication of requirements.</a:t>
            </a:r>
          </a:p>
          <a:p>
            <a:pPr lvl="1"/>
            <a:r>
              <a:rPr lang="en-US" dirty="0"/>
              <a:t>Easier validation and verification.</a:t>
            </a:r>
            <a:endParaRPr lang="en-GB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600" i="1" dirty="0"/>
              <a:t>See the example </a:t>
            </a:r>
            <a:r>
              <a:rPr lang="en-US" sz="1600" i="1" dirty="0">
                <a:hlinkClick r:id="rId2"/>
              </a:rPr>
              <a:t>here</a:t>
            </a:r>
            <a:r>
              <a:rPr lang="en-US" sz="1600" i="1" dirty="0"/>
              <a:t>.</a:t>
            </a:r>
            <a:endParaRPr lang="en-GB" sz="16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880F8-88D8-B539-09CC-5CDD826C6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D8A4C-DABF-8EB0-AA00-E79BF7F34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CBAEB-2DCC-BE28-E2AE-84F189911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32</a:t>
            </a:fld>
            <a:endParaRPr lang="en-GB" dirty="0"/>
          </a:p>
        </p:txBody>
      </p:sp>
      <p:pic>
        <p:nvPicPr>
          <p:cNvPr id="5123" name="Picture 3" descr="Software Requirements Document Template | Bit.ai">
            <a:extLst>
              <a:ext uri="{FF2B5EF4-FFF2-40B4-BE49-F238E27FC236}">
                <a16:creationId xmlns:a16="http://schemas.microsoft.com/office/drawing/2014/main" id="{291BA89A-6C56-4515-3B8F-3A7262239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957" y="1027906"/>
            <a:ext cx="3976485" cy="546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51813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590CA-498A-BBC3-0EB8-D280C2093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 and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F96A2-BF35-C82A-6134-4FD0C3EF1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System Design Principles:</a:t>
            </a:r>
          </a:p>
          <a:p>
            <a:pPr lvl="1"/>
            <a:r>
              <a:rPr lang="en-GB" dirty="0"/>
              <a:t>Modularity: Divide systems into manageable components.</a:t>
            </a:r>
          </a:p>
          <a:p>
            <a:pPr lvl="1"/>
            <a:r>
              <a:rPr lang="en-GB" dirty="0"/>
              <a:t>Scalability: Plan for growth.</a:t>
            </a:r>
          </a:p>
          <a:p>
            <a:pPr lvl="1"/>
            <a:r>
              <a:rPr lang="en-GB" dirty="0"/>
              <a:t>Maintainability: Ensure easy updates and bug fixes.</a:t>
            </a:r>
          </a:p>
          <a:p>
            <a:r>
              <a:rPr lang="en-GB" dirty="0"/>
              <a:t>Output:</a:t>
            </a:r>
          </a:p>
          <a:p>
            <a:pPr lvl="1"/>
            <a:r>
              <a:rPr lang="en-GB" dirty="0"/>
              <a:t>System architecture diagrams.</a:t>
            </a:r>
          </a:p>
          <a:p>
            <a:pPr lvl="1"/>
            <a:r>
              <a:rPr lang="en-GB" dirty="0"/>
              <a:t>Component specifications.</a:t>
            </a:r>
          </a:p>
          <a:p>
            <a:pPr lvl="1"/>
            <a:r>
              <a:rPr lang="en-GB" dirty="0"/>
              <a:t>Interface definitions.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85C85-A8D7-9502-42EA-7508042A2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C4534-5A21-944A-27DA-D83773879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93A99-519B-E49E-D3E9-323F45ECE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33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14333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6F9AE-5179-3A0D-B37A-45F8D1259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Component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53678-E1DC-B8C6-7590-3BD211027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Component Design?</a:t>
            </a:r>
          </a:p>
          <a:p>
            <a:pPr lvl="1"/>
            <a:r>
              <a:rPr lang="en-US" dirty="0"/>
              <a:t>Breaking the system into independent modules.</a:t>
            </a:r>
          </a:p>
          <a:p>
            <a:pPr lvl="1"/>
            <a:r>
              <a:rPr lang="en-US" dirty="0"/>
              <a:t>Defining roles and interactions between modules.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Payment module.</a:t>
            </a:r>
          </a:p>
          <a:p>
            <a:pPr lvl="1"/>
            <a:r>
              <a:rPr lang="en-US" dirty="0"/>
              <a:t>Authentication module.</a:t>
            </a:r>
          </a:p>
          <a:p>
            <a:pPr lvl="1"/>
            <a:r>
              <a:rPr lang="en-US" dirty="0"/>
              <a:t>User management module.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437A8-F1AA-18E5-4970-5D9EEF297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669CF-B0F5-F744-B1E4-519EF4E5D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08660-F185-88ED-BF0A-6BDA90ABD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34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08822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A31A4-D502-9C85-D9F4-59941D5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B33E0-2D5C-9288-72E8-B36E43116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Best Practices:</a:t>
            </a:r>
          </a:p>
          <a:p>
            <a:pPr lvl="1"/>
            <a:r>
              <a:rPr lang="en-GB" dirty="0"/>
              <a:t>Follow coding standards for readability and maintainability.</a:t>
            </a:r>
          </a:p>
          <a:p>
            <a:pPr lvl="1"/>
            <a:r>
              <a:rPr lang="en-GB" dirty="0"/>
              <a:t>Use version control systems like Git.</a:t>
            </a:r>
          </a:p>
          <a:p>
            <a:pPr lvl="1"/>
            <a:r>
              <a:rPr lang="en-GB" dirty="0"/>
              <a:t>Conduct regular code reviews.</a:t>
            </a:r>
          </a:p>
          <a:p>
            <a:r>
              <a:rPr lang="en-GB" dirty="0"/>
              <a:t>Coding Standards:</a:t>
            </a:r>
          </a:p>
          <a:p>
            <a:pPr lvl="1"/>
            <a:r>
              <a:rPr lang="en-GB" dirty="0"/>
              <a:t>Example: Consistent indentation, meaningful variable names.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3F076-2D2C-3277-3C7A-1FAC3773A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7DA6A-E690-27C5-BF50-0D6E67FDD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C5C43-EA1C-C20F-CA72-EA7680BA3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35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78328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D822D-F125-1828-4105-B7F233A5A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/>
          <a:p>
            <a:r>
              <a:rPr lang="en-GB" dirty="0"/>
              <a:t>Code Reviews</a:t>
            </a:r>
          </a:p>
        </p:txBody>
      </p:sp>
      <p:pic>
        <p:nvPicPr>
          <p:cNvPr id="8195" name="Picture 3" descr="Overview of the Code Review Process | Download Scientific Diagram">
            <a:extLst>
              <a:ext uri="{FF2B5EF4-FFF2-40B4-BE49-F238E27FC236}">
                <a16:creationId xmlns:a16="http://schemas.microsoft.com/office/drawing/2014/main" id="{20D34DD7-446E-2F35-ECFA-E76B56CE6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83188" y="2222474"/>
            <a:ext cx="6172200" cy="2403527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D973A-723A-43EA-5B7F-EDB4273CE6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/>
          <a:p>
            <a:r>
              <a:rPr lang="en-US" dirty="0"/>
              <a:t>Why Code Reviews?</a:t>
            </a:r>
          </a:p>
          <a:p>
            <a:pPr lvl="1"/>
            <a:r>
              <a:rPr lang="en-US" sz="1600" dirty="0"/>
              <a:t>Catch bugs early.</a:t>
            </a:r>
          </a:p>
          <a:p>
            <a:pPr lvl="1"/>
            <a:r>
              <a:rPr lang="en-US" sz="1600" dirty="0"/>
              <a:t>Share knowledge among team members.</a:t>
            </a:r>
          </a:p>
          <a:p>
            <a:pPr lvl="1"/>
            <a:r>
              <a:rPr lang="en-US" sz="1600" dirty="0"/>
              <a:t>Improve overall code quality.</a:t>
            </a:r>
          </a:p>
          <a:p>
            <a:r>
              <a:rPr lang="en-US" dirty="0"/>
              <a:t>Process:</a:t>
            </a:r>
          </a:p>
          <a:p>
            <a:pPr lvl="1"/>
            <a:r>
              <a:rPr lang="en-US" sz="1600" dirty="0"/>
              <a:t>Create a pull request.</a:t>
            </a:r>
          </a:p>
          <a:p>
            <a:pPr lvl="1"/>
            <a:r>
              <a:rPr lang="en-US" sz="1600" dirty="0"/>
              <a:t>Assign reviewers.</a:t>
            </a:r>
          </a:p>
          <a:p>
            <a:pPr lvl="1"/>
            <a:r>
              <a:rPr lang="en-US" sz="1600" dirty="0"/>
              <a:t>Address feedback and merge changes.</a:t>
            </a:r>
            <a:endParaRPr lang="en-GB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AB868-EEA3-BAAD-6D42-1E1E5A112D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A90B8-EC8A-1B6D-3985-7E4E80C55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8E45F-6E3B-27AC-A076-C382285F0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226A240-2C59-4E55-AFC4-FBF35E0F01C5}" type="slidenum">
              <a:rPr lang="en-GB" smtClean="0"/>
              <a:pPr>
                <a:spcAft>
                  <a:spcPts val="600"/>
                </a:spcAft>
              </a:pPr>
              <a:t>36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DEE1E0-E0F1-AF39-EB15-68BD4E670790}"/>
              </a:ext>
            </a:extLst>
          </p:cNvPr>
          <p:cNvSpPr txBox="1"/>
          <p:nvPr/>
        </p:nvSpPr>
        <p:spPr>
          <a:xfrm>
            <a:off x="5771197" y="4626001"/>
            <a:ext cx="26584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i="1" dirty="0"/>
              <a:t>Image source and paper is from </a:t>
            </a:r>
            <a:r>
              <a:rPr lang="en-GB" sz="1200" i="1" dirty="0">
                <a:hlinkClick r:id="rId3"/>
              </a:rPr>
              <a:t>here</a:t>
            </a:r>
            <a:endParaRPr lang="en-GB" sz="1200" i="1" dirty="0"/>
          </a:p>
        </p:txBody>
      </p:sp>
    </p:spTree>
    <p:extLst>
      <p:ext uri="{BB962C8B-B14F-4D97-AF65-F5344CB8AC3E}">
        <p14:creationId xmlns:p14="http://schemas.microsoft.com/office/powerpoint/2010/main" val="11713177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EEF5A-0991-7113-2B68-114ED3B5D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Testing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3DEF9-2806-F197-C4C7-3CE5679AC7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sz="2200"/>
              <a:t>Types of Testing:</a:t>
            </a:r>
          </a:p>
          <a:p>
            <a:pPr lvl="1"/>
            <a:r>
              <a:rPr lang="en-US" sz="2200"/>
              <a:t>Unit Testing: Test individual components.</a:t>
            </a:r>
          </a:p>
          <a:p>
            <a:pPr lvl="1"/>
            <a:r>
              <a:rPr lang="en-US" sz="2200"/>
              <a:t>Integration Testing: Test interactions between components.</a:t>
            </a:r>
          </a:p>
          <a:p>
            <a:pPr lvl="1"/>
            <a:r>
              <a:rPr lang="en-US" sz="2200"/>
              <a:t>System Testing: Verify the entire system works as expected.</a:t>
            </a:r>
          </a:p>
          <a:p>
            <a:r>
              <a:rPr lang="en-US" sz="2200"/>
              <a:t>Why Testing?</a:t>
            </a:r>
          </a:p>
          <a:p>
            <a:pPr lvl="1"/>
            <a:r>
              <a:rPr lang="en-US" sz="2200"/>
              <a:t>Prevents bugs from reaching production.</a:t>
            </a:r>
          </a:p>
          <a:p>
            <a:pPr lvl="1"/>
            <a:r>
              <a:rPr lang="en-US" sz="2200"/>
              <a:t>Improves reliability and performance.</a:t>
            </a:r>
            <a:endParaRPr lang="en-GB" sz="2200"/>
          </a:p>
        </p:txBody>
      </p:sp>
      <p:pic>
        <p:nvPicPr>
          <p:cNvPr id="9218" name="Picture 2" descr="The Testing Pyramid: The Key to Efficient Software Testing">
            <a:extLst>
              <a:ext uri="{FF2B5EF4-FFF2-40B4-BE49-F238E27FC236}">
                <a16:creationId xmlns:a16="http://schemas.microsoft.com/office/drawing/2014/main" id="{6A222B8A-D279-017C-473E-4591370F3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2543969"/>
            <a:ext cx="5181600" cy="291465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8CAE4-A8C8-5467-8F2F-C798954F1C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254CE-8390-FA81-EF3B-AB690A532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793B3-4BC1-7F0C-766D-0D9D6BFB4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226A240-2C59-4E55-AFC4-FBF35E0F01C5}" type="slidenum">
              <a:rPr lang="en-GB" smtClean="0"/>
              <a:pPr>
                <a:spcAft>
                  <a:spcPts val="600"/>
                </a:spcAft>
              </a:pPr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66813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125E5-28C5-0467-818A-5410EA860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11E1B-280A-9C6B-8B13-588F4E2D5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Practical Examples for Git and Azure Repos</a:t>
            </a:r>
            <a:endParaRPr lang="en-GB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5F734-66D2-1606-115B-11053F85A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9E752-C1E6-6ABB-B381-E6E55CE52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DFD5C-5756-2420-1952-02BEAD98C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43764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F9E45-E42A-BDE1-3C98-0FEF17B54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1: Git Operations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FF40E88-9B15-5B92-3D86-0A2A4F1925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4204" y="1825625"/>
            <a:ext cx="6323591" cy="435133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19C81-07F5-EBB2-6778-47B8FBC8A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4E177-F204-1B1E-221F-A8D5EBCBF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C3F2C-C082-F6CE-2994-D3C0AE838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39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71534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5E1FB-46A0-1817-5DC9-5B8895450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2: Azure Repos Pull Request Workflow</a:t>
            </a:r>
            <a:endParaRPr lang="en-GB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A42B4E6-8B05-BFE4-3392-2B8BDAD02F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258715"/>
            <a:ext cx="10515600" cy="1485157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993C0-ECB2-E029-502E-C5139F448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7ABFB-9965-4DD9-8112-30B21F082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FF49B-4A16-25AB-9050-7F417A679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40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83353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712C-0877-04D5-217C-82C1ABF9E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3: Git Workflow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0BC1174-4919-E5BC-B1E8-E84175DD63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9257" y="2348476"/>
            <a:ext cx="7773485" cy="3305636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A6153-C68B-F7E1-093F-F9CCB9F7C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D0C31-A1C7-75F0-41F1-BECC1754E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A5CED-8110-F896-FF43-DE6DF385C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41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71886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FEF0A-A9B4-F0D1-ED51-A91225408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Example 4: Azure DevOps Workflow</a:t>
            </a:r>
          </a:p>
        </p:txBody>
      </p:sp>
      <p:pic>
        <p:nvPicPr>
          <p:cNvPr id="8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9F8B318A-AF7A-89EB-79BA-D8C08BF56F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16474"/>
            <a:ext cx="10515600" cy="3969639"/>
          </a:xfr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4B8CE-E29F-243C-182A-00CA36F0D0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1BCE5-44FF-6016-A211-9F96062F1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74946-78FF-6E1D-5C9A-DBF3C5EE8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226A240-2C59-4E55-AFC4-FBF35E0F01C5}" type="slidenum">
              <a:rPr lang="en-GB" smtClean="0"/>
              <a:pPr>
                <a:spcAft>
                  <a:spcPts val="600"/>
                </a:spcAft>
              </a:pPr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56807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A5966-33C8-DF80-DB26-80EF7724F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D8B58-79E7-47C2-384C-B385D1A32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Operations</a:t>
            </a:r>
          </a:p>
          <a:p>
            <a:pPr lvl="1"/>
            <a:r>
              <a:rPr lang="en-US" dirty="0"/>
              <a:t>Create a repository with multiple branches</a:t>
            </a:r>
          </a:p>
          <a:p>
            <a:pPr lvl="1"/>
            <a:r>
              <a:rPr lang="en-US" dirty="0"/>
              <a:t>Practice merge conflict resolution</a:t>
            </a:r>
          </a:p>
          <a:p>
            <a:pPr lvl="1"/>
            <a:r>
              <a:rPr lang="en-US" dirty="0"/>
              <a:t>Implement feature branch workflow</a:t>
            </a:r>
          </a:p>
          <a:p>
            <a:r>
              <a:rPr lang="en-US" dirty="0"/>
              <a:t>Azure Repos Integration</a:t>
            </a:r>
          </a:p>
          <a:p>
            <a:pPr lvl="1"/>
            <a:r>
              <a:rPr lang="en-US" dirty="0"/>
              <a:t>Set up a project in Azure DevOps</a:t>
            </a:r>
          </a:p>
          <a:p>
            <a:pPr lvl="1"/>
            <a:r>
              <a:rPr lang="en-US" dirty="0"/>
              <a:t>Create and manage pull requests</a:t>
            </a:r>
          </a:p>
          <a:p>
            <a:pPr lvl="1"/>
            <a:r>
              <a:rPr lang="en-US" dirty="0"/>
              <a:t>Implement branch policies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F1D20-F9D8-0DD0-9C53-A58F122D4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2299A-81E1-0ACE-5CA2-5B174AF63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BA24B-B14E-0E36-4756-49F2B3E63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43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55110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3943F-889D-DB75-A351-00CCFAFC7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Summary and Q&amp;A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31AA5-1101-FFE7-CB50-15768D671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Git Basics</a:t>
            </a:r>
            <a:r>
              <a:rPr lang="en-US" dirty="0"/>
              <a:t>: Repository management, staging, committing, branching, and merging.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Azure Repos Integration</a:t>
            </a:r>
            <a:r>
              <a:rPr lang="en-US" dirty="0"/>
              <a:t>: Repository setup, pull requests, and code reviews.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Practical Demonstrations</a:t>
            </a:r>
            <a:r>
              <a:rPr lang="en-US" dirty="0"/>
              <a:t>: Git workflow and Azure DevOps features.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4FE47-51D5-E1D2-21DB-9C9C344D5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A13A3-09C8-7720-4C03-16079C86D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B13D8-B42B-160E-A356-F6A5740C4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44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6314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61B5C-001B-13F0-634B-6A2348A71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Discussion Questions</a:t>
            </a:r>
            <a:r>
              <a:rPr lang="en-GB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021A0-3BDA-5F9F-8D2F-E2A30C188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What are the benefits of branching in Git?</a:t>
            </a:r>
          </a:p>
          <a:p>
            <a:pPr>
              <a:buFont typeface="+mj-lt"/>
              <a:buAutoNum type="arabicPeriod"/>
            </a:pPr>
            <a:r>
              <a:rPr lang="en-US" dirty="0"/>
              <a:t>How do pull requests enhance collaboration in a team?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51AE3-7B9B-64E0-5CD4-FE9CDDF7C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91DDA-4186-D71E-1F3C-71810A2A0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A69CA-9F96-142D-0365-4F3399EE5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45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90708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66184-027A-3AF7-DB17-697C6F980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Further Reading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7AA4A-35CE-52F2-16F8-53D3D1ED3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Font typeface="+mj-lt"/>
              <a:buAutoNum type="arabicPeriod"/>
            </a:pPr>
            <a:r>
              <a:rPr lang="en-GB" b="1" dirty="0"/>
              <a:t>Books</a:t>
            </a:r>
            <a:r>
              <a:rPr lang="en-GB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"Pro Git" by Scott Chacon and Ben Straub (Available online for free)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"Git for Teams" by Emma Jane </a:t>
            </a:r>
            <a:r>
              <a:rPr lang="en-GB" dirty="0" err="1"/>
              <a:t>Hogbin</a:t>
            </a:r>
            <a:r>
              <a:rPr lang="en-GB" dirty="0"/>
              <a:t> Westby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Online Resources</a:t>
            </a:r>
            <a:r>
              <a:rPr lang="en-GB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>
                <a:hlinkClick r:id="rId2"/>
              </a:rPr>
              <a:t>Git Documentation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>
                <a:hlinkClick r:id="rId3"/>
              </a:rPr>
              <a:t>Microsoft Learn: Azure Repos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>
                <a:hlinkClick r:id="rId4"/>
              </a:rPr>
              <a:t>Atlassian Git Tutorials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b="1" dirty="0"/>
              <a:t>Tutorials</a:t>
            </a:r>
            <a:r>
              <a:rPr lang="en-GB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>
                <a:hlinkClick r:id="rId5"/>
              </a:rPr>
              <a:t>Learn Git Branching (Interactive)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>
                <a:hlinkClick r:id="rId6"/>
              </a:rPr>
              <a:t>Git and GitHub Crash Course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b="1" dirty="0"/>
              <a:t>Community Forums</a:t>
            </a:r>
            <a:r>
              <a:rPr lang="en-GB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>
                <a:hlinkClick r:id="rId7"/>
              </a:rPr>
              <a:t>GitHub Community Discussions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>
                <a:hlinkClick r:id="rId8"/>
              </a:rPr>
              <a:t>Reddit: r/git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b="1" dirty="0"/>
              <a:t>Tools and References</a:t>
            </a:r>
            <a:r>
              <a:rPr lang="en-GB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 err="1"/>
              <a:t>GitKraken</a:t>
            </a:r>
            <a:r>
              <a:rPr lang="en-GB" dirty="0"/>
              <a:t>, </a:t>
            </a:r>
            <a:r>
              <a:rPr lang="en-GB" dirty="0" err="1"/>
              <a:t>Sourcetree</a:t>
            </a:r>
            <a:r>
              <a:rPr lang="en-GB" dirty="0"/>
              <a:t> (GUI tools for Git)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Azure DevOps CLI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D42D9-48EE-CDA7-F9D9-4D5966FC5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C4557-57DC-9FDD-5646-1007CE739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AE783-DF0A-0132-039C-625E17CFA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46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49009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9A67C-DCD3-649B-C439-CA023EB09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Further Reading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F09C5-C119-50E3-1D57-3348A1E46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GB" b="1" dirty="0"/>
              <a:t>Books</a:t>
            </a:r>
            <a:r>
              <a:rPr lang="en-GB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i="1" dirty="0"/>
              <a:t>Scrum: The Art of Doing Twice the Work in Half the Time</a:t>
            </a:r>
            <a:r>
              <a:rPr lang="en-GB" dirty="0"/>
              <a:t> by Jeff Sutherland.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i="1" dirty="0"/>
              <a:t>Agile Estimating and Planning</a:t>
            </a:r>
            <a:r>
              <a:rPr lang="en-GB" dirty="0"/>
              <a:t> by Mike Cohn.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Online Resources</a:t>
            </a:r>
            <a:r>
              <a:rPr lang="en-GB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>
                <a:hlinkClick r:id="rId2"/>
              </a:rPr>
              <a:t>Agile Manifesto</a:t>
            </a:r>
            <a:r>
              <a:rPr lang="en-GB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>
                <a:hlinkClick r:id="rId3"/>
              </a:rPr>
              <a:t>Microsoft Learn: Azure DevOps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Tools</a:t>
            </a:r>
            <a:r>
              <a:rPr lang="en-GB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Azure DevOps Demo Generator.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Jira for Agile Project Management.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AB76B-EFE9-5740-0437-6A26CF516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58868-E201-3203-BDCD-66727B978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93642-4513-2E11-2FA8-C64C868A3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47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96453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F5992-9C0C-64DC-91CB-A489445A4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Further Reading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119F2-1809-360F-0FEE-DAFFDF9A9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2E77B-6CF6-DDFF-D4F7-95B285E97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A55AE-71AA-1636-39EB-30A3C7CAE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48</a:t>
            </a:fld>
            <a:endParaRPr lang="en-GB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412B229-B656-91D5-DB72-10C6BD2FD4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10774103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Books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Software Engineering: A Practitioner’s Approach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Roger Pressman.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Design Patterns: Elements of Reusable Object-Oriented Software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Erich Gamma et 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Online Resources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GeeksforGeeks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Software Development Life Cycle.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IBM: Introduction to SDLC.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Tools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Lucidchart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For architecture diagrams.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Azure DevOps: For managing the SDLC process.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6249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EFB34-EBAD-DEB1-68B0-F9F8267B5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Next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D0894-5F81-880A-D621-8E72255CA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Week 3: Data Structures - Arrays and Lists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1EAF7-40AF-2D37-4507-01E91C220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AC65E-15DC-A40D-43B1-A6A92D45E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2FAB2-CE0D-DC68-2542-A1EB463E4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49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5252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2455</Words>
  <Application>Microsoft Office PowerPoint</Application>
  <PresentationFormat>Widescreen</PresentationFormat>
  <Paragraphs>492</Paragraphs>
  <Slides>49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3" baseType="lpstr">
      <vt:lpstr>Aptos</vt:lpstr>
      <vt:lpstr>Aptos Display</vt:lpstr>
      <vt:lpstr>Arial</vt:lpstr>
      <vt:lpstr>Office Theme</vt:lpstr>
      <vt:lpstr>CST2550 - 2025 Software Engineering and Management</vt:lpstr>
      <vt:lpstr>Learning Objectives</vt:lpstr>
      <vt:lpstr>1. Git Fundamentals </vt:lpstr>
      <vt:lpstr>Basic Concepts</vt:lpstr>
      <vt:lpstr>Basic Concepts</vt:lpstr>
      <vt:lpstr>Basic Concepts</vt:lpstr>
      <vt:lpstr>Branching and Merging</vt:lpstr>
      <vt:lpstr>Branching and Merging</vt:lpstr>
      <vt:lpstr>2. Azure Repos Integration </vt:lpstr>
      <vt:lpstr>Azure DevOps Workflow</vt:lpstr>
      <vt:lpstr>Azure DevOps Workflow</vt:lpstr>
      <vt:lpstr>Agile Fundamentals - What is Agile?</vt:lpstr>
      <vt:lpstr>Why Agile?</vt:lpstr>
      <vt:lpstr>Key Agile Principles</vt:lpstr>
      <vt:lpstr>Agile vs Traditional Models</vt:lpstr>
      <vt:lpstr>Scrum Framework Overview</vt:lpstr>
      <vt:lpstr>Scrum Artifacts</vt:lpstr>
      <vt:lpstr>Sprint Workflow</vt:lpstr>
      <vt:lpstr>Agile Metrics</vt:lpstr>
      <vt:lpstr>Azure DevOps - Introduction</vt:lpstr>
      <vt:lpstr>Azure Boards for Agile Teams</vt:lpstr>
      <vt:lpstr>Using Azure Repos</vt:lpstr>
      <vt:lpstr>Continuous Integration with Azure Pipelines</vt:lpstr>
      <vt:lpstr>Practical Example - Scrum in Azure  DevOps</vt:lpstr>
      <vt:lpstr>Challenges in Agile Implementation</vt:lpstr>
      <vt:lpstr>Real-World Case Study</vt:lpstr>
      <vt:lpstr>Agile and DevOps Synergy</vt:lpstr>
      <vt:lpstr>What is the SDLC?</vt:lpstr>
      <vt:lpstr>Phases of the SDLC</vt:lpstr>
      <vt:lpstr>Requirements Analysis: Stakeholder Identification</vt:lpstr>
      <vt:lpstr>Requirements Gathering Techniques</vt:lpstr>
      <vt:lpstr>Requirements Documentation</vt:lpstr>
      <vt:lpstr>Design and Architecture</vt:lpstr>
      <vt:lpstr>Component Design</vt:lpstr>
      <vt:lpstr>Implementation</vt:lpstr>
      <vt:lpstr>Code Reviews</vt:lpstr>
      <vt:lpstr>Testing Strategies</vt:lpstr>
      <vt:lpstr>Practical Examples for Git and Azure Repos</vt:lpstr>
      <vt:lpstr>Example 1: Git Operations</vt:lpstr>
      <vt:lpstr>Example 2: Azure Repos Pull Request Workflow</vt:lpstr>
      <vt:lpstr>Example 3: Git Workflow</vt:lpstr>
      <vt:lpstr>Example 4: Azure DevOps Workflow</vt:lpstr>
      <vt:lpstr>Practice Exercises</vt:lpstr>
      <vt:lpstr>Summary and Q&amp;A</vt:lpstr>
      <vt:lpstr>Discussion Questions:</vt:lpstr>
      <vt:lpstr>Further Reading</vt:lpstr>
      <vt:lpstr>Further Reading</vt:lpstr>
      <vt:lpstr>Further Reading</vt:lpstr>
      <vt:lpstr>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Eissa</dc:creator>
  <cp:lastModifiedBy>Ahmed Eissa</cp:lastModifiedBy>
  <cp:revision>101</cp:revision>
  <dcterms:created xsi:type="dcterms:W3CDTF">2025-01-02T01:36:07Z</dcterms:created>
  <dcterms:modified xsi:type="dcterms:W3CDTF">2026-01-29T20:55:57Z</dcterms:modified>
</cp:coreProperties>
</file>